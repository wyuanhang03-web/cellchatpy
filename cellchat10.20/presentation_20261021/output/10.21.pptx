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8" r:id="rId5"/>
    <p:sldId id="264" r:id="rId6"/>
    <p:sldId id="265" r:id="rId7"/>
    <p:sldId id="266" r:id="rId8"/>
    <p:sldId id="268" r:id="rId9"/>
    <p:sldId id="273" r:id="rId10"/>
    <p:sldId id="294" r:id="rId11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7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运行时间（秒，越低越好）</a:t>
            </a:r>
            <a:endParaRPr sz="17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GitHub Python</c:f>
              <c:strCache>
                <c:ptCount val="1"/>
                <c:pt idx="0">
                  <c:v>GitHub Python</c:v>
                </c:pt>
              </c:strCache>
            </c:strRef>
          </c:tx>
          <c:spPr>
            <a:solidFill>
              <a:srgbClr val="9BA3AC"/>
            </a:solidFill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{"推断内核","基准进程"}</c:f>
              <c:strCache>
                <c:ptCount val="2"/>
                <c:pt idx="0">
                  <c:v>推断内核</c:v>
                </c:pt>
                <c:pt idx="1">
                  <c:v>基准进程</c:v>
                </c:pt>
              </c:strCache>
            </c:strRef>
          </c:cat>
          <c:val>
            <c:numRef>
              <c:f>{678.767612800002,710.25}</c:f>
              <c:numCache>
                <c:formatCode>General</c:formatCode>
                <c:ptCount val="2"/>
                <c:pt idx="0">
                  <c:v>678.767612800002</c:v>
                </c:pt>
                <c:pt idx="1">
                  <c:v>710.25</c:v>
                </c:pt>
              </c:numCache>
            </c:numRef>
          </c:val>
        </c:ser>
        <c:ser>
          <c:idx val="1"/>
          <c:order val="1"/>
          <c:tx>
            <c:strRef>
              <c:f>streaming</c:f>
              <c:strCache>
                <c:ptCount val="1"/>
                <c:pt idx="0">
                  <c:v>streaming</c:v>
                </c:pt>
              </c:strCache>
            </c:strRef>
          </c:tx>
          <c:spPr>
            <a:solidFill>
              <a:srgbClr val="244B69"/>
            </a:solidFill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{"推断内核","基准进程"}</c:f>
              <c:strCache>
                <c:ptCount val="2"/>
                <c:pt idx="0">
                  <c:v>推断内核</c:v>
                </c:pt>
                <c:pt idx="1">
                  <c:v>基准进程</c:v>
                </c:pt>
              </c:strCache>
            </c:strRef>
          </c:cat>
          <c:val>
            <c:numRef>
              <c:f>{8.26002349995542,32.3130000000237}</c:f>
              <c:numCache>
                <c:formatCode>General</c:formatCode>
                <c:ptCount val="2"/>
                <c:pt idx="0">
                  <c:v>8.26002349995542</c:v>
                </c:pt>
                <c:pt idx="1">
                  <c:v>32.3130000000237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C9D4DD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50" b="0" i="0" u="none" strike="noStrike" kern="1200" baseline="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800"/>
          <c:min val="0"/>
        </c:scaling>
        <c:delete val="0"/>
        <c:axPos val="l"/>
        <c:majorGridlines>
          <c:spPr>
            <a:ln w="9525">
              <a:solidFill>
                <a:srgbClr val="C9D4DD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0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50" b="0" i="0" u="none" strike="noStrike" kern="1200" baseline="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50112"/>
        <c:crosses val="autoZero"/>
        <c:crossBetween val="between"/>
        <c:majorUnit val="100"/>
      </c:valAx>
      <c:spPr>
        <a:solidFill>
          <a:srgbClr val="FFFFFF"/>
        </a:solidFill>
        <a:ln w="0">
          <a:solidFill>
            <a:srgbClr val="FFFFFF"/>
          </a:solidFill>
          <a:prstDash val="solid"/>
        </a:ln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250" b="0" i="0" u="none" strike="noStrike" kern="1200" baseline="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b84177a6-82be-418a-b436-116edd65e44d}"/>
      </c:ext>
    </c:extLst>
  </c:chart>
  <c:spPr>
    <a:solidFill>
      <a:srgbClr val="FFFFFF"/>
    </a:solidFill>
    <a:ln w="0">
      <a:solidFill>
        <a:srgbClr val="FFFFFF"/>
      </a:solidFill>
      <a:prstDash val="solid"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这一部分介绍 PopStateVAE 的方法和真实数据实验。核心问题是 bulk 表达同时混合了细胞组成与细胞状态，模型尝试把两部分拆开，再用于患者表型预测和通信线索定位。</a:t>
            </a:r>
          </a:p>
          <a:p>
            <a:r>
              <a:t>汇报时先强调当前结论边界。模型已经表现出比例以外的预测信息，但尚未证明真实细胞状态可以被准确恢复。</a:t>
            </a:r>
          </a:p>
          <a:p/>
          <a:p>
            <a:r>
              <a:t>数据与资料来源</a:t>
            </a:r>
          </a:p>
          <a:p>
            <a:r>
              <a:t>E:\class\PopStateVAE\README.md</a:t>
            </a:r>
          </a:p>
          <a:p>
            <a:r>
              <a:t>E:\class\PopStateVAE\experiments\covid_comparison_20261020\README.md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按更新版方案介绍 A 到 E。颜色沿用原图：绿为数据，蓝为学习模块，紫为共享解码器和 PopCILA 下游，红为训练目标，黄为表型监督。</a:t>
            </a:r>
          </a:p>
          <a:p>
            <a:r>
              <a:t>A 提供编码器及生成表达的解码器。B 共享冻结解码器，得到 RNA 贡献和类型状态。C 学习表型方向。D 接收 B 的类型表达与训练患者标签。E 结合 A/C 的状态定位和 D 的候选，在真实参考细胞中复核。</a:t>
            </a:r>
          </a:p>
          <a:p>
            <a:r>
              <a:t>全链条是研究方案。后面的实验只支持其部分环节，不能宣称通信机制已经验证。</a:t>
            </a:r>
          </a:p>
          <a:p/>
          <a:p>
            <a:r>
              <a:t>数据与资料来源</a:t>
            </a:r>
          </a:p>
          <a:p>
            <a:r>
              <a:t>用户提供的 A–E 更新版流程图</a:t>
            </a:r>
          </a:p>
          <a:p>
            <a:r>
              <a:t>E:\class\PopStateVAE\MODEL.md</a:t>
            </a:r>
          </a:p>
          <a:p>
            <a:r>
              <a:t>E:\class\PopStateVAE\STATE_MAPPING.md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 固定 A/B，使用 B 的潜在均值，不使用 state_logvar。特征为 K−1 个 RNA 贡献、α×存在掩码×潜在均值，以及可选临床变量。</a:t>
            </a:r>
          </a:p>
          <a:p>
            <a:r>
              <a:t>训练集内部标准化并拟合 L2 正则化线性模型。二分类使用 logistic，连续结局使用 ridge，生存结局使用 Cox。表型梯度不回传 A/B。</a:t>
            </a:r>
          </a:p>
          <a:p>
            <a:r>
              <a:t>转回原始单位的状态权重 w 与 μ 内积得到 h，再乘 α 和存在掩码得到对线性预测器的状态贡献 t。h 不是概率、因果效应或预设生物学状态名称。</a:t>
            </a:r>
          </a:p>
          <a:p/>
          <a:p>
            <a:r>
              <a:t>数据与资料来源</a:t>
            </a:r>
          </a:p>
          <a:p>
            <a:r>
              <a:t>用户提供的 A–E 更新版流程图</a:t>
            </a:r>
          </a:p>
          <a:p>
            <a:r>
              <a:t>E:\class\PopStateVAE\MODEL.md</a:t>
            </a:r>
          </a:p>
          <a:p>
            <a:r>
              <a:t>E:\class\PopStateVAE\STATE_MAPPING.md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LR 数据库规定候选配体受体。对发送类型 s 和接收类型 r，用 B 推断的类型平均表达构造患者级定向特征。当前实现使用 10^4 乘以几何均值，缩放来自 CP10k 尺度。</a:t>
            </a:r>
          </a:p>
          <a:p>
            <a:r>
              <a:t>D 在训练患者中检验与真实临床结局的关联，调整 K−1 个 RNA 贡献及临床变量，不直接使用 C 的学习分数代替结局。候选端点是细胞类型，尚不是亚状态。</a:t>
            </a:r>
          </a:p>
          <a:p>
            <a:r>
              <a:t>低贡献、低变异、组成共线、样本不足和分离等均可能导致不可检验。LR 转录评分不能证明蛋白结合、物理接触或因果通信。</a:t>
            </a:r>
          </a:p>
          <a:p/>
          <a:p>
            <a:r>
              <a:t>数据与资料来源</a:t>
            </a:r>
          </a:p>
          <a:p>
            <a:r>
              <a:t>用户提供的 A–E 更新版流程图</a:t>
            </a:r>
          </a:p>
          <a:p>
            <a:r>
              <a:t>E:\class\PopStateVAE\MODEL.md</a:t>
            </a:r>
          </a:p>
          <a:p>
            <a:r>
              <a:t>E:\class\PopStateVAE\STATE_MAPPING.md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 在真实参考细胞表达中进行定位与候选复核，保留 PopCILA 的下游思路。参考表达不能用 D 所依赖的估计表达替代。</a:t>
            </a:r>
          </a:p>
          <a:p>
            <a:r>
              <a:t>E1 将 A 编码器给出的参考细胞潜在均值与 C 的原始单位状态权重做内积。按类型在训练供者拟合阈值，固定后定位 high/low/middle/unresolved。</a:t>
            </a:r>
          </a:p>
          <a:p>
            <a:r>
              <a:t>E2 在覆盖发送高低和接收高低四个端点的同批供者内，用实测表达计算 LR 对照，供者等权。TF 依据带符号 regulon，并去除受体自相关靶。</a:t>
            </a:r>
          </a:p>
          <a:p>
            <a:r>
              <a:t>图中的置换/FDR 是拟议推断方向。当前 E2 的固定选择置换未校正状态筛选偏差，整体 inferential=false，TF 支持标志固定为 False。</a:t>
            </a:r>
          </a:p>
          <a:p/>
          <a:p>
            <a:r>
              <a:t>数据与资料来源</a:t>
            </a:r>
          </a:p>
          <a:p>
            <a:r>
              <a:t>用户提供的 A–E 更新版流程图</a:t>
            </a:r>
          </a:p>
          <a:p>
            <a:r>
              <a:t>E:\class\PopStateVAE\MODEL.md</a:t>
            </a:r>
          </a:p>
          <a:p>
            <a:r>
              <a:t>E:\class\PopStateVAE\STATE_MAPPING.md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单细胞参考按供者划分，避免同一供者同时进入训练和独立测试。患者预测采用五折 OOF，每位患者只接受未使用其标签拟合的模型预测。</a:t>
            </a:r>
          </a:p>
          <a:p>
            <a:r>
              <a:t>五个种子用于观察 A/B 初始化稳定性。置信区间对固定预测进行患者级分层 bootstrap，没有覆盖重新训练或重新抽取参考供者的不确定性。</a:t>
            </a:r>
          </a:p>
          <a:p/>
          <a:p>
            <a:r>
              <a:t>数据与资料来源</a:t>
            </a:r>
          </a:p>
          <a:p>
            <a:r>
              <a:t>E:\class\PopStateVAE\experiments\covid_comparison_20261020\README.md</a:t>
            </a:r>
          </a:p>
          <a:p>
            <a:r>
              <a:t>E:\class\PopStateVAE\experiments\covid_comparison_20261020\protocol.json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今天汇报在已有 </a:t>
            </a:r>
            <a:r>
              <a:t>CellChatPy </a:t>
            </a:r>
            <a:r>
              <a:t>翻译工作基础上，探索保持计算定义的加速方法。此前教程已经提供 </a:t>
            </a:r>
            <a:r>
              <a:t>Python </a:t>
            </a:r>
            <a:r>
              <a:t>与 </a:t>
            </a:r>
            <a:r>
              <a:t>R </a:t>
            </a:r>
            <a:r>
              <a:t>原版的一致性证据，本次工作进一步聚焦 </a:t>
            </a:r>
            <a:r>
              <a:t>Python </a:t>
            </a:r>
            <a:r>
              <a:t>发布版内部的计算重组。汇报按研究目标、方法、验证、性能结果和论文推进展开。正文约</a:t>
            </a:r>
            <a:r>
              <a:t>25</a:t>
            </a:r>
            <a:r>
              <a:t>至</a:t>
            </a:r>
            <a:r>
              <a:t>30</a:t>
            </a:r>
            <a:r>
              <a:t>分钟，附录用于回答细节问题。</a:t>
            </a:r>
            <a:br/>
            <a:br/>
            <a:r>
              <a:t>数据与资料来源</a:t>
            </a:r>
            <a:br/>
            <a:r>
              <a:t>E:\Jin\cellchat.python_new\cellchat10.20\README.md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真实</a:t>
            </a:r>
            <a:r>
              <a:t>PBMC</a:t>
            </a:r>
            <a:r>
              <a:t>、</a:t>
            </a:r>
            <a:r>
              <a:t>3072</a:t>
            </a:r>
            <a:r>
              <a:t>对候选</a:t>
            </a:r>
            <a:r>
              <a:t>LR</a:t>
            </a:r>
            <a:r>
              <a:t>和</a:t>
            </a:r>
            <a:r>
              <a:t>100</a:t>
            </a:r>
            <a:r>
              <a:t>次置换，内核</a:t>
            </a:r>
            <a:r>
              <a:t>678.77</a:t>
            </a:r>
            <a:r>
              <a:t>秒降至</a:t>
            </a:r>
            <a:r>
              <a:t>8.26</a:t>
            </a:r>
            <a:r>
              <a:t>秒，为</a:t>
            </a:r>
            <a:r>
              <a:t>82.18</a:t>
            </a:r>
            <a:r>
              <a:t>倍。包含导入、保存等成本的基准进程</a:t>
            </a:r>
            <a:r>
              <a:t>710.25</a:t>
            </a:r>
            <a:r>
              <a:t>秒降至</a:t>
            </a:r>
            <a:r>
              <a:t>32.31</a:t>
            </a:r>
            <a:r>
              <a:t>秒，为</a:t>
            </a:r>
            <a:r>
              <a:t>21.98</a:t>
            </a:r>
            <a:r>
              <a:t>倍。汇报应说内核</a:t>
            </a:r>
            <a:r>
              <a:t>82</a:t>
            </a:r>
            <a:r>
              <a:t>倍，不能说完整流程</a:t>
            </a:r>
            <a:r>
              <a:t>82</a:t>
            </a:r>
            <a:r>
              <a:t>倍。该配置仅一组成对运行，没有置信区间。所有概率与</a:t>
            </a:r>
            <a:r>
              <a:t>P</a:t>
            </a:r>
            <a:r>
              <a:t>值逐元素精确一致。</a:t>
            </a:r>
            <a:br/>
            <a:br/>
            <a:r>
              <a:t>数据与资料来源</a:t>
            </a:r>
            <a:br/>
            <a:r>
              <a:t>E:\Jin\cellchat.python_new\cellchat10.20\results\benchmarks\REPORT.md</a:t>
            </a:r>
            <a:br/>
            <a:r>
              <a:t>E:\Jin\cellchat.python_new\cellchat10.20\results\benchmarks\pbmc68579_b100\summary.json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159BBA9-DF48-44B0-8D86-3D80ECA1EC8F}" type="datetimeFigureOut">
              <a:rPr/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0F63EF7-3BE5-49C6-AB0F-83A7AB6CBEE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159BBA9-DF48-44B0-8D86-3D80ECA1EC8F}" type="datetimeFigureOut">
              <a:rPr/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0F63EF7-3BE5-49C6-AB0F-83A7AB6CBEE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159BBA9-DF48-44B0-8D86-3D80ECA1EC8F}" type="datetimeFigureOut">
              <a:rPr/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0F63EF7-3BE5-49C6-AB0F-83A7AB6CBEE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159BBA9-DF48-44B0-8D86-3D80ECA1EC8F}" type="datetimeFigureOut">
              <a:rPr/>
            </a:fld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0F63EF7-3BE5-49C6-AB0F-83A7AB6CBEE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159BBA9-DF48-44B0-8D86-3D80ECA1EC8F}" type="datetimeFigureOut">
              <a:rPr/>
            </a:fld>
            <a:endParaRPr/>
          </a:p>
        </p:txBody>
      </p:sp>
      <p:sp>
        <p:nvSpPr>
          <p:cNvPr id="8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0F63EF7-3BE5-49C6-AB0F-83A7AB6CBEE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159BBA9-DF48-44B0-8D86-3D80ECA1EC8F}" type="datetimeFigureOut">
              <a:rPr/>
            </a:fld>
            <a:endParaRPr/>
          </a:p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0F63EF7-3BE5-49C6-AB0F-83A7AB6CBEE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159BBA9-DF48-44B0-8D86-3D80ECA1EC8F}" type="datetimeFigureOut">
              <a:rPr/>
            </a:fld>
            <a:endParaRPr/>
          </a:p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0F63EF7-3BE5-49C6-AB0F-83A7AB6CBEE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159BBA9-DF48-44B0-8D86-3D80ECA1EC8F}" type="datetimeFigureOut">
              <a:rPr/>
            </a:fld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0F63EF7-3BE5-49C6-AB0F-83A7AB6CBEE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159BBA9-DF48-44B0-8D86-3D80ECA1EC8F}" type="datetimeFigureOut">
              <a:rPr/>
            </a:fld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0F63EF7-3BE5-49C6-AB0F-83A7AB6CBEE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159BBA9-DF48-44B0-8D86-3D80ECA1EC8F}" type="datetimeFigureOut">
              <a:rPr/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0F63EF7-3BE5-49C6-AB0F-83A7AB6CBEE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/>
      <p:sp>
        <p:nvSpPr>
          <p:cNvPr id="2" name="竖排标题 1"/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159BBA9-DF48-44B0-8D86-3D80ECA1EC8F}" type="datetimeFigureOut">
              <a:rPr/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0F63EF7-3BE5-49C6-AB0F-83A7AB6CBEEF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59BBA9-DF48-44B0-8D86-3D80ECA1EC8F}" type="datetimeFigureOut">
              <a:rPr/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F63EF7-3BE5-49C6-AB0F-83A7AB6CBEEF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0.png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0" Type="http://schemas.openxmlformats.org/officeDocument/2006/relationships/notesSlide" Target="../notesSlides/notesSlide5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Cover label"/>
          <p:cNvSpPr>
            <a:spLocks noGrp="1"/>
          </p:cNvSpPr>
          <p:nvPr/>
        </p:nvSpPr>
        <p:spPr>
          <a:xfrm>
            <a:off x="609600" y="933450"/>
            <a:ext cx="10972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>
              <a:defRPr sz="1500" b="1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500" b="1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500" b="1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500" b="1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500" b="1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500" b="1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500" b="1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500" b="1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500" b="1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500" b="1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500" b="1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PopStateVAE</a:t>
            </a:r>
            <a:endParaRPr sz="1500" b="1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Cover title"/>
          <p:cNvSpPr>
            <a:spLocks noGrp="1"/>
          </p:cNvSpPr>
          <p:nvPr/>
        </p:nvSpPr>
        <p:spPr>
          <a:xfrm>
            <a:off x="609600" y="1562100"/>
            <a:ext cx="109728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>
              <a:defRPr sz="40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40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40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40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40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40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40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40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40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40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40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0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群体细胞状态建模</a:t>
            </a:r>
            <a:endParaRPr sz="4000" b="1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Cover subtitle"/>
          <p:cNvSpPr>
            <a:spLocks noGrp="1"/>
          </p:cNvSpPr>
          <p:nvPr/>
        </p:nvSpPr>
        <p:spPr>
          <a:xfrm>
            <a:off x="609600" y="2457450"/>
            <a:ext cx="10972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方法与 COVID-19 真实数据验证</a:t>
            </a:r>
            <a:endParaRPr sz="3200" b="1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Cover description"/>
          <p:cNvSpPr>
            <a:spLocks noGrp="1"/>
          </p:cNvSpPr>
          <p:nvPr/>
        </p:nvSpPr>
        <p:spPr>
          <a:xfrm>
            <a:off x="609600" y="369570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>
              <a:defRPr sz="23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3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3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3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3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3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3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3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3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3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3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从单细胞参考到 bulk 患者表型与通讯证据</a:t>
            </a:r>
            <a:endParaRPr sz="2300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Cover date"/>
          <p:cNvSpPr>
            <a:spLocks noGrp="1"/>
          </p:cNvSpPr>
          <p:nvPr/>
        </p:nvSpPr>
        <p:spPr>
          <a:xfrm>
            <a:off x="609600" y="4762500"/>
            <a:ext cx="10972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>
              <a:def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2026年10月21日</a:t>
            </a:r>
            <a:endParaRPr sz="1900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Page"/>
          <p:cNvSpPr>
            <a:spLocks noGrp="1"/>
          </p:cNvSpPr>
          <p:nvPr/>
        </p:nvSpPr>
        <p:spPr>
          <a:xfrm>
            <a:off x="11633168" y="6489668"/>
            <a:ext cx="355568" cy="2031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0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Title"/>
          <p:cNvSpPr>
            <a:spLocks noGrp="1"/>
          </p:cNvSpPr>
          <p:nvPr/>
        </p:nvSpPr>
        <p:spPr>
          <a:xfrm>
            <a:off x="609600" y="381000"/>
            <a:ext cx="10972800" cy="7365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方法总览：单细胞生成约束与表型相关通讯</a:t>
            </a:r>
            <a:endParaRPr sz="3200" b="1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Page"/>
          <p:cNvSpPr>
            <a:spLocks noGrp="1"/>
          </p:cNvSpPr>
          <p:nvPr/>
        </p:nvSpPr>
        <p:spPr>
          <a:xfrm>
            <a:off x="11633168" y="6489668"/>
            <a:ext cx="355568" cy="2031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0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A"/>
          <p:cNvSpPr>
            <a:spLocks noGrp="1"/>
          </p:cNvSpPr>
          <p:nvPr/>
        </p:nvSpPr>
        <p:spPr>
          <a:xfrm>
            <a:off x="609600" y="1905000"/>
            <a:ext cx="3048000" cy="1047750"/>
          </a:xfrm>
          <a:prstGeom prst="roundRect">
            <a:avLst>
              <a:gd name="adj" fmla="val 7273"/>
            </a:avLst>
          </a:prstGeom>
          <a:solidFill>
            <a:srgbClr val="E7EEFC"/>
          </a:solidFill>
          <a:ln w="14288">
            <a:solidFill>
              <a:srgbClr val="8CA3CC"/>
            </a:solidFill>
            <a:prstDash val="solid"/>
          </a:ln>
        </p:spPr>
        <p:txBody>
          <a:bodyPr lIns="114300" tIns="76200" rIns="114300" bIns="76200" anchor="ctr">
            <a:normAutofit/>
          </a:bodyPr>
          <a:lstStyle>
            <a:defPPr algn="ctr">
              <a:defRPr sz="187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7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7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7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7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7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7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7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7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7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87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 条件 VAE</a:t>
            </a:r>
            <a:endParaRPr sz="1875" b="0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87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类型 + 表达</a:t>
            </a:r>
            <a:endParaRPr sz="1875" b="0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B"/>
          <p:cNvSpPr>
            <a:spLocks noGrp="1"/>
          </p:cNvSpPr>
          <p:nvPr/>
        </p:nvSpPr>
        <p:spPr>
          <a:xfrm>
            <a:off x="4419600" y="1905000"/>
            <a:ext cx="3352800" cy="1047750"/>
          </a:xfrm>
          <a:prstGeom prst="roundRect">
            <a:avLst>
              <a:gd name="adj" fmla="val 7273"/>
            </a:avLst>
          </a:prstGeom>
          <a:solidFill>
            <a:srgbClr val="EEE8FA"/>
          </a:solidFill>
          <a:ln w="14288">
            <a:solidFill>
              <a:srgbClr val="A594C3"/>
            </a:solidFill>
            <a:prstDash val="solid"/>
          </a:ln>
        </p:spPr>
        <p:txBody>
          <a:bodyPr lIns="114300" tIns="76200" rIns="114300" bIns="76200" anchor="ctr">
            <a:normAutofit/>
          </a:bodyPr>
          <a:lstStyle>
            <a:defPPr algn="ctr">
              <a:defRPr sz="1800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00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00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00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00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00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00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00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00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00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800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  bulk 分解</a:t>
            </a:r>
            <a:endParaRPr sz="1800" b="0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800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共享 D</a:t>
            </a:r>
            <a:r>
              <a:rPr lang="en-US" sz="1800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ecoder</a:t>
            </a:r>
            <a:r>
              <a:rPr sz="1800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，推断贡献与状态</a:t>
            </a:r>
            <a:endParaRPr sz="1800" b="0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C"/>
          <p:cNvSpPr>
            <a:spLocks noGrp="1"/>
          </p:cNvSpPr>
          <p:nvPr/>
        </p:nvSpPr>
        <p:spPr>
          <a:xfrm>
            <a:off x="8534400" y="1905000"/>
            <a:ext cx="3048000" cy="1047750"/>
          </a:xfrm>
          <a:prstGeom prst="roundRect">
            <a:avLst>
              <a:gd name="adj" fmla="val 7273"/>
            </a:avLst>
          </a:prstGeom>
          <a:solidFill>
            <a:srgbClr val="FFF1DC"/>
          </a:solidFill>
          <a:ln w="14288">
            <a:solidFill>
              <a:srgbClr val="CBA76A"/>
            </a:solidFill>
            <a:prstDash val="solid"/>
          </a:ln>
        </p:spPr>
        <p:txBody>
          <a:bodyPr lIns="114300" tIns="76200" rIns="114300" bIns="76200" anchor="ctr">
            <a:normAutofit/>
          </a:bodyPr>
          <a:lstStyle>
            <a:defPPr algn="ctr">
              <a:defRPr sz="187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7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7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7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7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7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7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7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7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7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87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  表型关联</a:t>
            </a:r>
            <a:endParaRPr sz="1875" b="0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87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组成 + 类型内状态</a:t>
            </a:r>
            <a:endParaRPr sz="1875" b="0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AB"/>
          <p:cNvSpPr>
            <a:spLocks noGrp="1"/>
          </p:cNvSpPr>
          <p:nvPr/>
        </p:nvSpPr>
        <p:spPr>
          <a:xfrm>
            <a:off x="3810000" y="2305050"/>
            <a:ext cx="457200" cy="209550"/>
          </a:xfrm>
          <a:prstGeom prst="rightArrow">
            <a:avLst/>
          </a:prstGeom>
          <a:solidFill>
            <a:srgbClr val="5B82A6"/>
          </a:solidFill>
          <a:ln w="0">
            <a:solidFill>
              <a:srgbClr val="5B82A6"/>
            </a:solidFill>
            <a:prstDash val="solid"/>
          </a:ln>
        </p:spPr>
      </p:sp>
      <p:sp>
        <p:nvSpPr>
          <p:cNvPr id="9" name="BC"/>
          <p:cNvSpPr>
            <a:spLocks noGrp="1"/>
          </p:cNvSpPr>
          <p:nvPr/>
        </p:nvSpPr>
        <p:spPr>
          <a:xfrm>
            <a:off x="7924800" y="2305050"/>
            <a:ext cx="457200" cy="209550"/>
          </a:xfrm>
          <a:prstGeom prst="rightArrow">
            <a:avLst/>
          </a:prstGeom>
          <a:solidFill>
            <a:srgbClr val="5B82A6"/>
          </a:solidFill>
          <a:ln w="0">
            <a:solidFill>
              <a:srgbClr val="5B82A6"/>
            </a:solidFill>
            <a:prstDash val="solid"/>
          </a:ln>
        </p:spPr>
      </p:sp>
      <p:sp>
        <p:nvSpPr>
          <p:cNvPr id="10" name="Data"/>
          <p:cNvSpPr>
            <a:spLocks noGrp="1"/>
          </p:cNvSpPr>
          <p:nvPr/>
        </p:nvSpPr>
        <p:spPr>
          <a:xfrm>
            <a:off x="609600" y="4000500"/>
            <a:ext cx="3048000" cy="1047750"/>
          </a:xfrm>
          <a:prstGeom prst="roundRect">
            <a:avLst>
              <a:gd name="adj" fmla="val 7273"/>
            </a:avLst>
          </a:prstGeom>
          <a:solidFill>
            <a:srgbClr val="E5F4EC"/>
          </a:solidFill>
          <a:ln w="14288">
            <a:solidFill>
              <a:srgbClr val="83AD98"/>
            </a:solidFill>
            <a:prstDash val="solid"/>
          </a:ln>
        </p:spPr>
        <p:txBody>
          <a:bodyPr lIns="114300" tIns="76200" rIns="114300" bIns="76200" anchor="ctr">
            <a:normAutofit/>
          </a:bodyPr>
          <a:lstStyle>
            <a:defPPr algn="ctr">
              <a:defRPr sz="187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7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7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7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7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7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7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7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7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7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87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真实参考单细胞</a:t>
            </a:r>
            <a:endParaRPr sz="1875" b="0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87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类型与实测表达</a:t>
            </a:r>
            <a:endParaRPr sz="1875" b="0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D"/>
          <p:cNvSpPr>
            <a:spLocks noGrp="1"/>
          </p:cNvSpPr>
          <p:nvPr/>
        </p:nvSpPr>
        <p:spPr>
          <a:xfrm>
            <a:off x="4419600" y="4000500"/>
            <a:ext cx="3352800" cy="1047750"/>
          </a:xfrm>
          <a:prstGeom prst="roundRect">
            <a:avLst>
              <a:gd name="adj" fmla="val 7273"/>
            </a:avLst>
          </a:prstGeom>
          <a:solidFill>
            <a:srgbClr val="FFF1DC"/>
          </a:solidFill>
          <a:ln w="14288">
            <a:solidFill>
              <a:srgbClr val="CBA76A"/>
            </a:solidFill>
            <a:prstDash val="solid"/>
          </a:ln>
        </p:spPr>
        <p:txBody>
          <a:bodyPr lIns="114300" tIns="76200" rIns="114300" bIns="76200" anchor="ctr">
            <a:normAutofit/>
          </a:bodyPr>
          <a:lstStyle>
            <a:defPPr algn="ctr">
              <a:defRPr sz="1800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00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00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00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00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00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00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00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00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00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800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  定向 LR 候选</a:t>
            </a:r>
            <a:endParaRPr sz="1800" b="0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800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调整组成与临床变量</a:t>
            </a:r>
            <a:endParaRPr sz="1800" b="0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"/>
          <p:cNvSpPr>
            <a:spLocks noGrp="1"/>
          </p:cNvSpPr>
          <p:nvPr/>
        </p:nvSpPr>
        <p:spPr>
          <a:xfrm>
            <a:off x="8534400" y="4000500"/>
            <a:ext cx="3048000" cy="1047750"/>
          </a:xfrm>
          <a:prstGeom prst="roundRect">
            <a:avLst>
              <a:gd name="adj" fmla="val 7273"/>
            </a:avLst>
          </a:prstGeom>
          <a:solidFill>
            <a:srgbClr val="EEE8FA"/>
          </a:solidFill>
          <a:ln w="14288">
            <a:solidFill>
              <a:srgbClr val="A594C3"/>
            </a:solidFill>
            <a:prstDash val="solid"/>
          </a:ln>
        </p:spPr>
        <p:txBody>
          <a:bodyPr lIns="114300" tIns="76200" rIns="114300" bIns="76200" anchor="ctr">
            <a:normAutofit/>
          </a:bodyPr>
          <a:lstStyle>
            <a:defPPr algn="ctr">
              <a:defRPr sz="1800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00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00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00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00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00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00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00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00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00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800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  参考细胞复核</a:t>
            </a:r>
            <a:endParaRPr sz="1800" b="0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800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状态定位 + LR–TF 证据</a:t>
            </a:r>
            <a:endParaRPr sz="1800" b="0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BD"/>
          <p:cNvSpPr>
            <a:spLocks noGrp="1"/>
          </p:cNvSpPr>
          <p:nvPr/>
        </p:nvSpPr>
        <p:spPr>
          <a:xfrm rot="5400000">
            <a:off x="5857875" y="3305175"/>
            <a:ext cx="457200" cy="209550"/>
          </a:xfrm>
          <a:prstGeom prst="rightArrow">
            <a:avLst/>
          </a:prstGeom>
          <a:solidFill>
            <a:srgbClr val="5B82A6"/>
          </a:solidFill>
          <a:ln w="0">
            <a:solidFill>
              <a:srgbClr val="5B82A6"/>
            </a:solidFill>
            <a:prstDash val="solid"/>
          </a:ln>
        </p:spPr>
      </p:sp>
      <p:sp>
        <p:nvSpPr>
          <p:cNvPr id="14" name="DE"/>
          <p:cNvSpPr>
            <a:spLocks noGrp="1"/>
          </p:cNvSpPr>
          <p:nvPr/>
        </p:nvSpPr>
        <p:spPr>
          <a:xfrm>
            <a:off x="7924800" y="4400550"/>
            <a:ext cx="457200" cy="209550"/>
          </a:xfrm>
          <a:prstGeom prst="rightArrow">
            <a:avLst/>
          </a:prstGeom>
          <a:solidFill>
            <a:srgbClr val="5B82A6"/>
          </a:solidFill>
          <a:ln w="0">
            <a:solidFill>
              <a:srgbClr val="5B82A6"/>
            </a:solidFill>
            <a:prstDash val="solid"/>
          </a:ln>
        </p:spPr>
      </p:sp>
      <p:sp>
        <p:nvSpPr>
          <p:cNvPr id="18" name="Outputs"/>
          <p:cNvSpPr>
            <a:spLocks noGrp="1"/>
          </p:cNvSpPr>
          <p:nvPr/>
        </p:nvSpPr>
        <p:spPr>
          <a:xfrm>
            <a:off x="609600" y="5972175"/>
            <a:ext cx="109728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725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725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725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725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725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725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725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725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725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725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725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输出：患者预测、类型状态关联、候选发送者–LR–接收者网络与调控链</a:t>
            </a:r>
            <a:endParaRPr sz="1725" b="1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rcRect t="1538" r="1217" b="7821"/>
          <a:stretch>
            <a:fillRect/>
          </a:stretch>
        </p:blipFill>
        <p:spPr>
          <a:xfrm>
            <a:off x="768985" y="1057275"/>
            <a:ext cx="6539230" cy="619125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410" y="3029585"/>
            <a:ext cx="7969250" cy="7073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" name="Title"/>
          <p:cNvSpPr>
            <a:spLocks noGrp="1"/>
          </p:cNvSpPr>
          <p:nvPr/>
        </p:nvSpPr>
        <p:spPr>
          <a:xfrm>
            <a:off x="521970" y="238760"/>
            <a:ext cx="10972800" cy="7365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  表型模型：区分组成与类型内状态贡献</a:t>
            </a:r>
            <a:endParaRPr sz="3200" b="1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3130" y="1639570"/>
            <a:ext cx="5991860" cy="98679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375" y="3148330"/>
            <a:ext cx="3228975" cy="1038225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515" y="4593590"/>
            <a:ext cx="3924300" cy="97155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5595" y="1799590"/>
            <a:ext cx="2656840" cy="826770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6695" y="2703830"/>
            <a:ext cx="2277745" cy="602615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5570" y="3542030"/>
            <a:ext cx="4043045" cy="541655"/>
          </a:xfrm>
          <a:prstGeom prst="rect">
            <a:avLst/>
          </a:prstGeom>
        </p:spPr>
      </p:pic>
      <p:sp>
        <p:nvSpPr>
          <p:cNvPr id="24" name="文本框 23"/>
          <p:cNvSpPr txBox="1"/>
          <p:nvPr/>
        </p:nvSpPr>
        <p:spPr>
          <a:xfrm>
            <a:off x="1640840" y="1056322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r>
              <a:rPr lang="zh-CN" altLang="en-US" sz="1600"/>
              <a:t>利用 </a:t>
            </a:r>
            <a:r>
              <a:rPr lang="en-US" altLang="zh-CN" sz="1600"/>
              <a:t>B </a:t>
            </a:r>
            <a:r>
              <a:rPr lang="zh-CN" altLang="en-US" sz="1600"/>
              <a:t>分解出的细胞组成和类型内部状态，预测患者表型。</a:t>
            </a:r>
            <a:endParaRPr lang="zh-CN" altLang="en-US"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" name="Title"/>
          <p:cNvSpPr>
            <a:spLocks noGrp="1"/>
          </p:cNvSpPr>
          <p:nvPr/>
        </p:nvSpPr>
        <p:spPr>
          <a:xfrm>
            <a:off x="609600" y="381000"/>
            <a:ext cx="10972800" cy="7365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  表型相关 LR：检验超出组成的表达信息</a:t>
            </a:r>
            <a:endParaRPr sz="3200" b="1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Page"/>
          <p:cNvSpPr>
            <a:spLocks noGrp="1"/>
          </p:cNvSpPr>
          <p:nvPr/>
        </p:nvSpPr>
        <p:spPr>
          <a:xfrm>
            <a:off x="11633168" y="6489668"/>
            <a:ext cx="355568" cy="2031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10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Flow 0"/>
          <p:cNvSpPr>
            <a:spLocks noGrp="1"/>
          </p:cNvSpPr>
          <p:nvPr/>
        </p:nvSpPr>
        <p:spPr>
          <a:xfrm>
            <a:off x="609600" y="1762125"/>
            <a:ext cx="2400300" cy="1190625"/>
          </a:xfrm>
          <a:prstGeom prst="roundRect">
            <a:avLst>
              <a:gd name="adj" fmla="val 6400"/>
            </a:avLst>
          </a:prstGeom>
          <a:solidFill>
            <a:srgbClr val="E5F4EC"/>
          </a:solidFill>
          <a:ln w="14288">
            <a:solidFill>
              <a:srgbClr val="83AD98"/>
            </a:solidFill>
            <a:prstDash val="solid"/>
          </a:ln>
        </p:spPr>
        <p:txBody>
          <a:bodyPr lIns="114300" tIns="76200" rIns="114300" bIns="76200" anchor="ctr">
            <a:normAutofit/>
          </a:bodyPr>
          <a:lstStyle>
            <a:def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候选 LR 数据库</a:t>
            </a:r>
            <a:endParaRPr sz="1725" b="0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规定 L 与 R 配对</a:t>
            </a:r>
            <a:endParaRPr sz="1725" b="0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Arrow 0"/>
          <p:cNvSpPr>
            <a:spLocks noGrp="1"/>
          </p:cNvSpPr>
          <p:nvPr/>
        </p:nvSpPr>
        <p:spPr>
          <a:xfrm>
            <a:off x="3095625" y="2257425"/>
            <a:ext cx="285750" cy="171450"/>
          </a:xfrm>
          <a:prstGeom prst="rightArrow">
            <a:avLst/>
          </a:prstGeom>
          <a:solidFill>
            <a:srgbClr val="5B82A6"/>
          </a:solidFill>
          <a:ln w="0">
            <a:solidFill>
              <a:srgbClr val="5B82A6"/>
            </a:solidFill>
            <a:prstDash val="solid"/>
          </a:ln>
        </p:spPr>
      </p:sp>
      <p:sp>
        <p:nvSpPr>
          <p:cNvPr id="7" name="Flow 1"/>
          <p:cNvSpPr>
            <a:spLocks noGrp="1"/>
          </p:cNvSpPr>
          <p:nvPr/>
        </p:nvSpPr>
        <p:spPr>
          <a:xfrm>
            <a:off x="3467100" y="1762125"/>
            <a:ext cx="2400300" cy="1190625"/>
          </a:xfrm>
          <a:prstGeom prst="roundRect">
            <a:avLst>
              <a:gd name="adj" fmla="val 6400"/>
            </a:avLst>
          </a:prstGeom>
          <a:solidFill>
            <a:srgbClr val="E7EEFC"/>
          </a:solidFill>
          <a:ln w="14288">
            <a:solidFill>
              <a:srgbClr val="8CA3CC"/>
            </a:solidFill>
            <a:prstDash val="solid"/>
          </a:ln>
        </p:spPr>
        <p:txBody>
          <a:bodyPr lIns="114300" tIns="76200" rIns="114300" bIns="76200" anchor="ctr">
            <a:normAutofit/>
          </a:bodyPr>
          <a:lstStyle>
            <a:def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类型表达 ρ̂</a:t>
            </a:r>
            <a:endParaRPr sz="1725" b="0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发送类型 s</a:t>
            </a:r>
            <a:endParaRPr sz="1725" b="0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接收类型 r</a:t>
            </a:r>
            <a:endParaRPr sz="1725" b="0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Arrow 1"/>
          <p:cNvSpPr>
            <a:spLocks noGrp="1"/>
          </p:cNvSpPr>
          <p:nvPr/>
        </p:nvSpPr>
        <p:spPr>
          <a:xfrm>
            <a:off x="5953125" y="2257425"/>
            <a:ext cx="285750" cy="171450"/>
          </a:xfrm>
          <a:prstGeom prst="rightArrow">
            <a:avLst/>
          </a:prstGeom>
          <a:solidFill>
            <a:srgbClr val="5B82A6"/>
          </a:solidFill>
          <a:ln w="0">
            <a:solidFill>
              <a:srgbClr val="5B82A6"/>
            </a:solidFill>
            <a:prstDash val="solid"/>
          </a:ln>
        </p:spPr>
      </p:sp>
      <p:sp>
        <p:nvSpPr>
          <p:cNvPr id="9" name="Flow 2"/>
          <p:cNvSpPr>
            <a:spLocks noGrp="1"/>
          </p:cNvSpPr>
          <p:nvPr/>
        </p:nvSpPr>
        <p:spPr>
          <a:xfrm>
            <a:off x="6324600" y="1762125"/>
            <a:ext cx="2400300" cy="1190625"/>
          </a:xfrm>
          <a:prstGeom prst="roundRect">
            <a:avLst>
              <a:gd name="adj" fmla="val 6400"/>
            </a:avLst>
          </a:prstGeom>
          <a:solidFill>
            <a:srgbClr val="E7EEFC"/>
          </a:solidFill>
          <a:ln w="14288">
            <a:solidFill>
              <a:srgbClr val="8CA3CC"/>
            </a:solidFill>
            <a:prstDash val="solid"/>
          </a:ln>
        </p:spPr>
        <p:txBody>
          <a:bodyPr lIns="114300" tIns="76200" rIns="114300" bIns="76200" anchor="ctr">
            <a:normAutofit/>
          </a:bodyPr>
          <a:lstStyle>
            <a:def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患者 × 定向 LR</a:t>
            </a:r>
            <a:endParaRPr sz="1725" b="0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构造表达特征 F</a:t>
            </a:r>
            <a:endParaRPr sz="1725" b="0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Arrow 2"/>
          <p:cNvSpPr>
            <a:spLocks noGrp="1"/>
          </p:cNvSpPr>
          <p:nvPr/>
        </p:nvSpPr>
        <p:spPr>
          <a:xfrm>
            <a:off x="8810625" y="2257425"/>
            <a:ext cx="285750" cy="171450"/>
          </a:xfrm>
          <a:prstGeom prst="rightArrow">
            <a:avLst/>
          </a:prstGeom>
          <a:solidFill>
            <a:srgbClr val="5B82A6"/>
          </a:solidFill>
          <a:ln w="0">
            <a:solidFill>
              <a:srgbClr val="5B82A6"/>
            </a:solidFill>
            <a:prstDash val="solid"/>
          </a:ln>
        </p:spPr>
      </p:sp>
      <p:sp>
        <p:nvSpPr>
          <p:cNvPr id="11" name="Flow 3"/>
          <p:cNvSpPr>
            <a:spLocks noGrp="1"/>
          </p:cNvSpPr>
          <p:nvPr/>
        </p:nvSpPr>
        <p:spPr>
          <a:xfrm>
            <a:off x="9182100" y="1762125"/>
            <a:ext cx="2400300" cy="1190625"/>
          </a:xfrm>
          <a:prstGeom prst="roundRect">
            <a:avLst>
              <a:gd name="adj" fmla="val 6400"/>
            </a:avLst>
          </a:prstGeom>
          <a:solidFill>
            <a:srgbClr val="FFF1DC"/>
          </a:solidFill>
          <a:ln w="14288">
            <a:solidFill>
              <a:srgbClr val="CBA76A"/>
            </a:solidFill>
            <a:prstDash val="solid"/>
          </a:ln>
        </p:spPr>
        <p:txBody>
          <a:bodyPr lIns="114300" tIns="76200" rIns="114300" bIns="76200" anchor="ctr">
            <a:normAutofit/>
          </a:bodyPr>
          <a:lstStyle>
            <a:def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表型关联筛选</a:t>
            </a:r>
            <a:endParaRPr sz="1725" b="0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调整 RNA 组成</a:t>
            </a:r>
            <a:endParaRPr sz="1725" b="0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与临床协变量</a:t>
            </a:r>
            <a:endParaRPr sz="1725" b="0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Left heading"/>
          <p:cNvSpPr>
            <a:spLocks noGrp="1"/>
          </p:cNvSpPr>
          <p:nvPr/>
        </p:nvSpPr>
        <p:spPr>
          <a:xfrm>
            <a:off x="609600" y="3476625"/>
            <a:ext cx="5143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患者级特征</a:t>
            </a:r>
            <a:endParaRPr sz="2100" b="1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Left detail"/>
          <p:cNvSpPr>
            <a:spLocks noGrp="1"/>
          </p:cNvSpPr>
          <p:nvPr/>
        </p:nvSpPr>
        <p:spPr>
          <a:xfrm>
            <a:off x="609600" y="3952875"/>
            <a:ext cx="5143500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800" b="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800" b="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800" b="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800" b="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800" b="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800" b="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800" b="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800" b="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800" b="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800" b="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F[n,s→r] = 10⁴ × √(ρ̂[n,s,L]ρ̂[n,r,R])。</a:t>
            </a:r>
            <a:endParaRPr sz="1800" b="0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800" b="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800" b="0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ight heading"/>
          <p:cNvSpPr>
            <a:spLocks noGrp="1"/>
          </p:cNvSpPr>
          <p:nvPr/>
        </p:nvSpPr>
        <p:spPr>
          <a:xfrm>
            <a:off x="6343650" y="3476625"/>
            <a:ext cx="5238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当前实现与失败边界</a:t>
            </a:r>
            <a:endParaRPr sz="2100" b="1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ight detail"/>
          <p:cNvSpPr>
            <a:spLocks noGrp="1"/>
          </p:cNvSpPr>
          <p:nvPr/>
        </p:nvSpPr>
        <p:spPr>
          <a:xfrm>
            <a:off x="6343650" y="3952875"/>
            <a:ext cx="5238750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800" b="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800" b="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800" b="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800" b="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800" b="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800" b="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800" b="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800" b="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800" b="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800" b="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用真实患者结局进行训练内筛选。</a:t>
            </a:r>
            <a:endParaRPr sz="1800" b="0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800" b="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不可检验候选保留 not_testable 标记。</a:t>
            </a:r>
            <a:endParaRPr sz="1800" b="0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800" b="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候选关联仍需 E 的独立表达复核。</a:t>
            </a:r>
            <a:endParaRPr sz="1800" b="0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8375" y="4982210"/>
            <a:ext cx="2762250" cy="523875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6413500" y="5505768"/>
            <a:ext cx="5080000" cy="1076325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1600"/>
              <a:t>D </a:t>
            </a:r>
            <a:r>
              <a:rPr lang="zh-CN" altLang="en-US" sz="1600"/>
              <a:t>先调整 </a:t>
            </a:r>
            <a:r>
              <a:rPr lang="en-US" altLang="zh-CN" sz="1600"/>
              <a:t>RNA </a:t>
            </a:r>
            <a:r>
              <a:rPr lang="zh-CN" altLang="en-US" sz="1600"/>
              <a:t>组成等因素，再检验 </a:t>
            </a:r>
            <a:r>
              <a:rPr lang="en-US" altLang="zh-CN" sz="1600"/>
              <a:t>LR </a:t>
            </a:r>
            <a:r>
              <a:rPr lang="zh-CN" altLang="en-US" sz="1600"/>
              <a:t>分数是否与疾病额外相关，得到 </a:t>
            </a:r>
            <a:r>
              <a:rPr lang="en-US" altLang="zh-CN" sz="1600"/>
              <a:t>p</a:t>
            </a:r>
            <a:r>
              <a:rPr lang="zh-CN" altLang="en-US" sz="1600"/>
              <a:t>值；对所有候选的</a:t>
            </a:r>
            <a:r>
              <a:rPr lang="en-US" altLang="zh-CN" sz="1600"/>
              <a:t>p </a:t>
            </a:r>
            <a:r>
              <a:rPr lang="zh-CN" altLang="en-US" sz="1600"/>
              <a:t>值做多重检验校正得到</a:t>
            </a:r>
            <a:r>
              <a:rPr lang="en-US" altLang="zh-CN" sz="1600"/>
              <a:t>q</a:t>
            </a:r>
            <a:r>
              <a:rPr lang="zh-CN" altLang="en-US" sz="1600"/>
              <a:t>值，以 </a:t>
            </a:r>
            <a:r>
              <a:rPr lang="en-US" altLang="zh-CN" sz="1600"/>
              <a:t>q&lt;0.05 </a:t>
            </a:r>
            <a:r>
              <a:rPr lang="zh-CN" altLang="en-US" sz="1600"/>
              <a:t>筛选候选，无法可靠检验的则标记为 </a:t>
            </a:r>
            <a:r>
              <a:rPr lang="en-US" altLang="zh-CN" sz="1600"/>
              <a:t>not_testable</a:t>
            </a:r>
            <a:r>
              <a:rPr lang="zh-CN" altLang="en-US" sz="1600"/>
              <a:t>。</a:t>
            </a:r>
            <a:endParaRPr lang="zh-CN" altLang="en-US"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" name="Title"/>
          <p:cNvSpPr>
            <a:spLocks noGrp="1"/>
          </p:cNvSpPr>
          <p:nvPr/>
        </p:nvSpPr>
        <p:spPr>
          <a:xfrm>
            <a:off x="609600" y="381000"/>
            <a:ext cx="10972800" cy="7365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  参考细胞复核与 L–R–TF 证据</a:t>
            </a:r>
            <a:endParaRPr sz="3200" b="1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Page"/>
          <p:cNvSpPr>
            <a:spLocks noGrp="1"/>
          </p:cNvSpPr>
          <p:nvPr/>
        </p:nvSpPr>
        <p:spPr>
          <a:xfrm>
            <a:off x="11633168" y="6489668"/>
            <a:ext cx="355568" cy="2031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10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Flow 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09600" y="1762125"/>
            <a:ext cx="2400300" cy="1190625"/>
          </a:xfrm>
          <a:prstGeom prst="roundRect">
            <a:avLst>
              <a:gd name="adj" fmla="val 6400"/>
            </a:avLst>
          </a:prstGeom>
          <a:solidFill>
            <a:srgbClr val="E5F4EC"/>
          </a:solidFill>
          <a:ln w="14288">
            <a:solidFill>
              <a:srgbClr val="83AD98"/>
            </a:solidFill>
            <a:prstDash val="solid"/>
          </a:ln>
        </p:spPr>
        <p:txBody>
          <a:bodyPr lIns="114300" tIns="76200" rIns="114300" bIns="76200" anchor="ctr">
            <a:normAutofit/>
          </a:bodyPr>
          <a:lstStyle>
            <a:def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真实参考细胞</a:t>
            </a:r>
            <a:endParaRPr sz="1725" b="0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表达、类型、供者</a:t>
            </a:r>
            <a:endParaRPr sz="1725" b="0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可选空间数据</a:t>
            </a:r>
            <a:endParaRPr sz="1725" b="0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Arrow 0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3095625" y="2257425"/>
            <a:ext cx="285750" cy="171450"/>
          </a:xfrm>
          <a:prstGeom prst="rightArrow">
            <a:avLst/>
          </a:prstGeom>
          <a:solidFill>
            <a:srgbClr val="5B82A6"/>
          </a:solidFill>
          <a:ln w="0">
            <a:solidFill>
              <a:srgbClr val="5B82A6"/>
            </a:solidFill>
            <a:prstDash val="solid"/>
          </a:ln>
        </p:spPr>
      </p:sp>
      <p:sp>
        <p:nvSpPr>
          <p:cNvPr id="7" name="Flow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467100" y="1762125"/>
            <a:ext cx="2400300" cy="1190625"/>
          </a:xfrm>
          <a:prstGeom prst="roundRect">
            <a:avLst>
              <a:gd name="adj" fmla="val 6400"/>
            </a:avLst>
          </a:prstGeom>
          <a:solidFill>
            <a:srgbClr val="E7EEFC"/>
          </a:solidFill>
          <a:ln w="14288">
            <a:solidFill>
              <a:srgbClr val="8CA3CC"/>
            </a:solidFill>
            <a:prstDash val="solid"/>
          </a:ln>
        </p:spPr>
        <p:txBody>
          <a:bodyPr lIns="114300" tIns="76200" rIns="114300" bIns="76200" anchor="ctr">
            <a:normAutofit/>
          </a:bodyPr>
          <a:lstStyle>
            <a:def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E1  按类型定位</a:t>
            </a:r>
            <a:endParaRPr sz="1725" b="0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编码 + C 状态权重</a:t>
            </a:r>
            <a:endParaRPr sz="1725" b="0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检查定位稳定性</a:t>
            </a:r>
            <a:endParaRPr sz="1725" b="0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Arrow 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5953125" y="2257425"/>
            <a:ext cx="285750" cy="171450"/>
          </a:xfrm>
          <a:prstGeom prst="rightArrow">
            <a:avLst/>
          </a:prstGeom>
          <a:solidFill>
            <a:srgbClr val="5B82A6"/>
          </a:solidFill>
          <a:ln w="0">
            <a:solidFill>
              <a:srgbClr val="5B82A6"/>
            </a:solidFill>
            <a:prstDash val="solid"/>
          </a:ln>
        </p:spPr>
      </p:sp>
      <p:sp>
        <p:nvSpPr>
          <p:cNvPr id="9" name="Flow 2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324600" y="1762125"/>
            <a:ext cx="2400300" cy="1190625"/>
          </a:xfrm>
          <a:prstGeom prst="roundRect">
            <a:avLst>
              <a:gd name="adj" fmla="val 6400"/>
            </a:avLst>
          </a:prstGeom>
          <a:solidFill>
            <a:srgbClr val="EEE8FA"/>
          </a:solidFill>
          <a:ln w="14288">
            <a:solidFill>
              <a:srgbClr val="A594C3"/>
            </a:solidFill>
            <a:prstDash val="solid"/>
          </a:ln>
        </p:spPr>
        <p:txBody>
          <a:bodyPr lIns="114300" tIns="76200" rIns="114300" bIns="76200" anchor="ctr">
            <a:normAutofit/>
          </a:bodyPr>
          <a:lstStyle>
            <a:def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E2  LR 通讯复核</a:t>
            </a:r>
            <a:endParaRPr sz="1725" b="0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发送状态 × 接收状态</a:t>
            </a:r>
            <a:endParaRPr sz="1725" b="0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同供者表达比较</a:t>
            </a:r>
            <a:endParaRPr sz="1725" b="0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Arrow 2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8810625" y="2257425"/>
            <a:ext cx="285750" cy="171450"/>
          </a:xfrm>
          <a:prstGeom prst="rightArrow">
            <a:avLst/>
          </a:prstGeom>
          <a:solidFill>
            <a:srgbClr val="5B82A6"/>
          </a:solidFill>
          <a:ln w="0">
            <a:solidFill>
              <a:srgbClr val="5B82A6"/>
            </a:solidFill>
            <a:prstDash val="solid"/>
          </a:ln>
        </p:spPr>
      </p:sp>
      <p:sp>
        <p:nvSpPr>
          <p:cNvPr id="11" name="Flow 3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9182100" y="1762125"/>
            <a:ext cx="2400300" cy="1190625"/>
          </a:xfrm>
          <a:prstGeom prst="roundRect">
            <a:avLst>
              <a:gd name="adj" fmla="val 6400"/>
            </a:avLst>
          </a:prstGeom>
          <a:solidFill>
            <a:srgbClr val="EEE8FA"/>
          </a:solidFill>
          <a:ln w="14288">
            <a:solidFill>
              <a:srgbClr val="A594C3"/>
            </a:solidFill>
            <a:prstDash val="solid"/>
          </a:ln>
        </p:spPr>
        <p:txBody>
          <a:bodyPr lIns="114300" tIns="76200" rIns="114300" bIns="76200" anchor="ctr">
            <a:normAutofit/>
          </a:bodyPr>
          <a:lstStyle>
            <a:def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L–R–TF 调控链</a:t>
            </a:r>
            <a:endParaRPr sz="1725" b="0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通路先验与 TF 靶基因</a:t>
            </a:r>
            <a:endParaRPr sz="1725" b="0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方向 / 空间证据</a:t>
            </a:r>
            <a:endParaRPr sz="1725" b="0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91840" y="3273425"/>
            <a:ext cx="2575560" cy="1042670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5953125" y="370173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r>
              <a:rPr lang="zh-CN" altLang="en-US" sz="1600"/>
              <a:t>使用真实单细胞表达，比较四种状态组合的 </a:t>
            </a:r>
            <a:r>
              <a:rPr lang="en-US" altLang="zh-CN" sz="1600"/>
              <a:t>LR </a:t>
            </a:r>
            <a:r>
              <a:rPr lang="zh-CN" altLang="en-US" sz="1600"/>
              <a:t>分数。</a:t>
            </a:r>
            <a:endParaRPr lang="zh-CN" altLang="en-US"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Title"/>
          <p:cNvSpPr>
            <a:spLocks noGrp="1"/>
          </p:cNvSpPr>
          <p:nvPr/>
        </p:nvSpPr>
        <p:spPr>
          <a:xfrm>
            <a:off x="609600" y="381000"/>
            <a:ext cx="10972800" cy="7365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实验设计与比较范围</a:t>
            </a:r>
            <a:endParaRPr sz="3200" b="1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Page"/>
          <p:cNvSpPr>
            <a:spLocks noGrp="1"/>
          </p:cNvSpPr>
          <p:nvPr/>
        </p:nvSpPr>
        <p:spPr>
          <a:xfrm>
            <a:off x="11633168" y="6489668"/>
            <a:ext cx="355568" cy="2031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endParaRPr sz="10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09600" y="1466850"/>
          <a:ext cx="10972800" cy="2171700"/>
        </p:xfrm>
        <a:graphic>
          <a:graphicData uri="http://schemas.openxmlformats.org/drawingml/2006/table">
            <a:tbl>
              <a:tblPr/>
              <a:tblGrid>
                <a:gridCol w="2381250"/>
                <a:gridCol w="2667000"/>
                <a:gridCol w="1905000"/>
                <a:gridCol w="4019550"/>
              </a:tblGrid>
              <a:tr h="542925">
                <a:tc>
                  <a:txBody>
                    <a:bodyPr/>
                    <a:lstStyle/>
                    <a:p>
                      <a:r>
                        <a:t>数据集</a:t>
                      </a:r>
                    </a:p>
                  </a:txBody>
                  <a:tcPr>
                    <a:lnL w="7144">
                      <a:solidFill>
                        <a:srgbClr val="C9D4DD"/>
                      </a:solidFill>
                      <a:prstDash val="solid"/>
                    </a:lnL>
                    <a:lnR w="7144">
                      <a:solidFill>
                        <a:srgbClr val="C9D4DD"/>
                      </a:solidFill>
                      <a:prstDash val="solid"/>
                    </a:lnR>
                    <a:lnT w="7144">
                      <a:solidFill>
                        <a:srgbClr val="C9D4DD"/>
                      </a:solidFill>
                      <a:prstDash val="solid"/>
                    </a:lnT>
                    <a:lnB w="7144">
                      <a:solidFill>
                        <a:srgbClr val="C9D4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角色</a:t>
                      </a:r>
                    </a:p>
                  </a:txBody>
                  <a:tcPr>
                    <a:lnR w="7144">
                      <a:solidFill>
                        <a:srgbClr val="C9D4DD"/>
                      </a:solidFill>
                      <a:prstDash val="solid"/>
                    </a:lnR>
                    <a:lnT w="7144">
                      <a:solidFill>
                        <a:srgbClr val="C9D4DD"/>
                      </a:solidFill>
                      <a:prstDash val="solid"/>
                    </a:lnT>
                    <a:lnB w="7144">
                      <a:solidFill>
                        <a:srgbClr val="C9D4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独立样本</a:t>
                      </a:r>
                    </a:p>
                  </a:txBody>
                  <a:tcPr>
                    <a:lnR w="7144">
                      <a:solidFill>
                        <a:srgbClr val="C9D4DD"/>
                      </a:solidFill>
                      <a:prstDash val="solid"/>
                    </a:lnR>
                    <a:lnT w="7144">
                      <a:solidFill>
                        <a:srgbClr val="C9D4DD"/>
                      </a:solidFill>
                      <a:prstDash val="solid"/>
                    </a:lnT>
                    <a:lnB w="7144">
                      <a:solidFill>
                        <a:srgbClr val="C9D4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用途</a:t>
                      </a:r>
                    </a:p>
                  </a:txBody>
                  <a:tcPr>
                    <a:lnR w="7144">
                      <a:solidFill>
                        <a:srgbClr val="C9D4DD"/>
                      </a:solidFill>
                      <a:prstDash val="solid"/>
                    </a:lnR>
                    <a:lnT w="7144">
                      <a:solidFill>
                        <a:srgbClr val="C9D4DD"/>
                      </a:solidFill>
                      <a:prstDash val="solid"/>
                    </a:lnT>
                    <a:lnB w="7144">
                      <a:solidFill>
                        <a:srgbClr val="C9D4DD"/>
                      </a:solidFill>
                      <a:prstDash val="solid"/>
                    </a:lnB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t>GSE150728 + C6</a:t>
                      </a:r>
                    </a:p>
                  </a:txBody>
                  <a:tcPr>
                    <a:lnL w="7144">
                      <a:solidFill>
                        <a:srgbClr val="C9D4DD"/>
                      </a:solidFill>
                      <a:prstDash val="solid"/>
                    </a:lnL>
                    <a:lnR w="7144">
                      <a:solidFill>
                        <a:srgbClr val="C9D4DD"/>
                      </a:solidFill>
                      <a:prstDash val="solid"/>
                    </a:lnR>
                    <a:lnB w="7144">
                      <a:solidFill>
                        <a:srgbClr val="C9D4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单细胞参考</a:t>
                      </a:r>
                    </a:p>
                  </a:txBody>
                  <a:tcPr>
                    <a:lnR w="7144">
                      <a:solidFill>
                        <a:srgbClr val="C9D4DD"/>
                      </a:solidFill>
                      <a:prstDash val="solid"/>
                    </a:lnR>
                    <a:lnB w="7144">
                      <a:solidFill>
                        <a:srgbClr val="C9D4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13 供者 / 44,721 细胞</a:t>
                      </a:r>
                    </a:p>
                  </a:txBody>
                  <a:tcPr>
                    <a:lnR w="7144">
                      <a:solidFill>
                        <a:srgbClr val="C9D4DD"/>
                      </a:solidFill>
                      <a:prstDash val="solid"/>
                    </a:lnR>
                    <a:lnB w="7144">
                      <a:solidFill>
                        <a:srgbClr val="C9D4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 训练、2 验证、6 独立测试供者</a:t>
                      </a:r>
                    </a:p>
                  </a:txBody>
                  <a:tcPr>
                    <a:lnR w="7144">
                      <a:solidFill>
                        <a:srgbClr val="C9D4DD"/>
                      </a:solidFill>
                      <a:prstDash val="solid"/>
                    </a:lnR>
                    <a:lnB w="7144">
                      <a:solidFill>
                        <a:srgbClr val="C9D4DD"/>
                      </a:solidFill>
                      <a:prstDash val="solid"/>
                    </a:lnB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t>GSE152418</a:t>
                      </a:r>
                    </a:p>
                  </a:txBody>
                  <a:tcPr>
                    <a:lnL w="7144">
                      <a:solidFill>
                        <a:srgbClr val="C9D4DD"/>
                      </a:solidFill>
                      <a:prstDash val="solid"/>
                    </a:lnL>
                    <a:lnR w="7144">
                      <a:solidFill>
                        <a:srgbClr val="C9D4DD"/>
                      </a:solidFill>
                      <a:prstDash val="solid"/>
                    </a:lnR>
                    <a:lnB w="7144">
                      <a:solidFill>
                        <a:srgbClr val="C9D4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PBMC bulk</a:t>
                      </a:r>
                    </a:p>
                  </a:txBody>
                  <a:tcPr>
                    <a:lnR w="7144">
                      <a:solidFill>
                        <a:srgbClr val="C9D4DD"/>
                      </a:solidFill>
                      <a:prstDash val="solid"/>
                    </a:lnR>
                    <a:lnB w="7144">
                      <a:solidFill>
                        <a:srgbClr val="C9D4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31 人：14 / 17</a:t>
                      </a:r>
                    </a:p>
                  </a:txBody>
                  <a:tcPr>
                    <a:lnR w="7144">
                      <a:solidFill>
                        <a:srgbClr val="C9D4DD"/>
                      </a:solidFill>
                      <a:prstDash val="solid"/>
                    </a:lnR>
                    <a:lnB w="7144">
                      <a:solidFill>
                        <a:srgbClr val="C9D4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COVID 与健康对照</a:t>
                      </a:r>
                    </a:p>
                  </a:txBody>
                  <a:tcPr>
                    <a:lnR w="7144">
                      <a:solidFill>
                        <a:srgbClr val="C9D4DD"/>
                      </a:solidFill>
                      <a:prstDash val="solid"/>
                    </a:lnR>
                    <a:lnB w="7144">
                      <a:solidFill>
                        <a:srgbClr val="C9D4DD"/>
                      </a:solidFill>
                      <a:prstDash val="solid"/>
                    </a:lnB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t>GSE157103</a:t>
                      </a:r>
                    </a:p>
                  </a:txBody>
                  <a:tcPr>
                    <a:lnL w="7144">
                      <a:solidFill>
                        <a:srgbClr val="C9D4DD"/>
                      </a:solidFill>
                      <a:prstDash val="solid"/>
                    </a:lnL>
                    <a:lnR w="7144">
                      <a:solidFill>
                        <a:srgbClr val="C9D4DD"/>
                      </a:solidFill>
                      <a:prstDash val="solid"/>
                    </a:lnR>
                    <a:lnB w="7144">
                      <a:solidFill>
                        <a:srgbClr val="C9D4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白细胞 bulk</a:t>
                      </a:r>
                    </a:p>
                  </a:txBody>
                  <a:tcPr>
                    <a:lnR w="7144">
                      <a:solidFill>
                        <a:srgbClr val="C9D4DD"/>
                      </a:solidFill>
                      <a:prstDash val="solid"/>
                    </a:lnR>
                    <a:lnB w="7144">
                      <a:solidFill>
                        <a:srgbClr val="C9D4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126 人：100 / 26</a:t>
                      </a:r>
                    </a:p>
                  </a:txBody>
                  <a:tcPr>
                    <a:lnR w="7144">
                      <a:solidFill>
                        <a:srgbClr val="C9D4DD"/>
                      </a:solidFill>
                      <a:prstDash val="solid"/>
                    </a:lnR>
                    <a:lnB w="7144">
                      <a:solidFill>
                        <a:srgbClr val="C9D4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COVID 与非 COVID 住院对照</a:t>
                      </a:r>
                    </a:p>
                  </a:txBody>
                  <a:tcPr>
                    <a:lnR w="7144">
                      <a:solidFill>
                        <a:srgbClr val="C9D4DD"/>
                      </a:solidFill>
                      <a:prstDash val="solid"/>
                    </a:lnR>
                    <a:lnB w="7144">
                      <a:solidFill>
                        <a:srgbClr val="C9D4DD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Design heading"/>
          <p:cNvSpPr>
            <a:spLocks noGrp="1"/>
          </p:cNvSpPr>
          <p:nvPr/>
        </p:nvSpPr>
        <p:spPr>
          <a:xfrm>
            <a:off x="609600" y="3981450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评价设计</a:t>
            </a:r>
            <a:endParaRPr sz="2100" b="1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Design body"/>
          <p:cNvSpPr>
            <a:spLocks noGrp="1"/>
          </p:cNvSpPr>
          <p:nvPr/>
        </p:nvSpPr>
        <p:spPr>
          <a:xfrm>
            <a:off x="609600" y="4419600"/>
            <a:ext cx="49530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>
              <a:defRPr sz="1725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725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725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725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725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725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725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725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725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725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725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五个随机种子完整重训 A/B。每个 bulk 队列进行固定五折患者验证。</a:t>
            </a:r>
            <a:endParaRPr sz="1725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ligible"/>
          <p:cNvSpPr>
            <a:spLocks noGrp="1"/>
          </p:cNvSpPr>
          <p:nvPr/>
        </p:nvSpPr>
        <p:spPr>
          <a:xfrm>
            <a:off x="7051675" y="4562475"/>
            <a:ext cx="3181350" cy="704850"/>
          </a:xfrm>
          <a:prstGeom prst="roundRect">
            <a:avLst>
              <a:gd name="adj" fmla="val 10811"/>
            </a:avLst>
          </a:prstGeom>
          <a:solidFill>
            <a:srgbClr val="FFF1E3"/>
          </a:solidFill>
          <a:ln w="14288">
            <a:solidFill>
              <a:srgbClr val="C96A16"/>
            </a:solidFill>
            <a:prstDash val="solid"/>
          </a:ln>
        </p:spPr>
        <p:txBody>
          <a:bodyPr lIns="114300" tIns="76200" rIns="114300" bIns="76200" anchor="ctr">
            <a:normAutofit/>
          </a:bodyPr>
          <a:lstStyle>
            <a:defPPr algn="ctr">
              <a:defRPr sz="1875" b="1">
                <a:solidFill>
                  <a:srgbClr val="C96A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75" b="1">
                <a:solidFill>
                  <a:srgbClr val="C96A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75" b="1">
                <a:solidFill>
                  <a:srgbClr val="C96A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75" b="1">
                <a:solidFill>
                  <a:srgbClr val="C96A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75" b="1">
                <a:solidFill>
                  <a:srgbClr val="C96A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75" b="1">
                <a:solidFill>
                  <a:srgbClr val="C96A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75" b="1">
                <a:solidFill>
                  <a:srgbClr val="C96A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75" b="1">
                <a:solidFill>
                  <a:srgbClr val="C96A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75" b="1">
                <a:solidFill>
                  <a:srgbClr val="C96A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75" b="1">
                <a:solidFill>
                  <a:srgbClr val="C96A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875" b="1">
                <a:solidFill>
                  <a:srgbClr val="C96A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C96A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 个可检验候选</a:t>
            </a:r>
            <a:endParaRPr sz="1875" b="1">
              <a:solidFill>
                <a:srgbClr val="C96A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2"/>
          <p:cNvSpPr>
            <a:spLocks noGrp="1"/>
          </p:cNvSpPr>
          <p:nvPr/>
        </p:nvSpPr>
        <p:spPr>
          <a:xfrm>
            <a:off x="7394575" y="5410200"/>
            <a:ext cx="2495550" cy="647700"/>
          </a:xfrm>
          <a:prstGeom prst="roundRect">
            <a:avLst>
              <a:gd name="adj" fmla="val 11765"/>
            </a:avLst>
          </a:prstGeom>
          <a:solidFill>
            <a:srgbClr val="F9EAE8"/>
          </a:solidFill>
          <a:ln w="14288">
            <a:solidFill>
              <a:srgbClr val="A23B35"/>
            </a:solidFill>
            <a:prstDash val="solid"/>
          </a:ln>
        </p:spPr>
        <p:txBody>
          <a:bodyPr lIns="114300" tIns="76200" rIns="114300" bIns="76200" anchor="ctr">
            <a:normAutofit/>
          </a:bodyPr>
          <a:lstStyle>
            <a:defPPr algn="ctr">
              <a:defRPr sz="1875" b="1">
                <a:solidFill>
                  <a:srgbClr val="A23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75" b="1">
                <a:solidFill>
                  <a:srgbClr val="A23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75" b="1">
                <a:solidFill>
                  <a:srgbClr val="A23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75" b="1">
                <a:solidFill>
                  <a:srgbClr val="A23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75" b="1">
                <a:solidFill>
                  <a:srgbClr val="A23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75" b="1">
                <a:solidFill>
                  <a:srgbClr val="A23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75" b="1">
                <a:solidFill>
                  <a:srgbClr val="A23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75" b="1">
                <a:solidFill>
                  <a:srgbClr val="A23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75" b="1">
                <a:solidFill>
                  <a:srgbClr val="A23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75" b="1">
                <a:solidFill>
                  <a:srgbClr val="A23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875" b="1">
                <a:solidFill>
                  <a:srgbClr val="A23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A23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 个 E2 候选</a:t>
            </a:r>
            <a:endParaRPr sz="1875" b="1">
              <a:solidFill>
                <a:srgbClr val="A23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ge 2"/>
          <p:cNvSpPr>
            <a:spLocks noGrp="1"/>
          </p:cNvSpPr>
          <p:nvPr/>
        </p:nvSpPr>
        <p:spPr>
          <a:xfrm>
            <a:off x="11633200" y="6489700"/>
            <a:ext cx="355600" cy="2032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buNone/>
            </a:pP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</a:t>
            </a:r>
            <a:endParaRPr sz="10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Source 3"/>
          <p:cNvSpPr>
            <a:spLocks noGrp="1"/>
          </p:cNvSpPr>
          <p:nvPr/>
        </p:nvSpPr>
        <p:spPr>
          <a:xfrm>
            <a:off x="609600" y="6477000"/>
            <a:ext cx="10795000" cy="2286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</a:t>
            </a: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README.md</a:t>
            </a:r>
            <a:endParaRPr sz="10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 8"/>
          <p:cNvSpPr>
            <a:spLocks noGrp="1"/>
          </p:cNvSpPr>
          <p:nvPr/>
        </p:nvSpPr>
        <p:spPr>
          <a:xfrm>
            <a:off x="803275" y="5589904"/>
            <a:ext cx="10972800" cy="5715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研究对象：细胞群层面通讯概率与置换检验</a:t>
            </a:r>
            <a:endParaRPr sz="1900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09600" y="40100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r>
              <a:rPr lang="zh-CN" altLang="en-US" sz="1600"/>
              <a:t>利用置换不改变表达值的性质，复用稀疏排序</a:t>
            </a:r>
            <a:endParaRPr lang="zh-CN" altLang="en-US" sz="1600"/>
          </a:p>
        </p:txBody>
      </p:sp>
      <p:sp>
        <p:nvSpPr>
          <p:cNvPr id="10" name="文本框 9"/>
          <p:cNvSpPr txBox="1"/>
          <p:nvPr/>
        </p:nvSpPr>
        <p:spPr>
          <a:xfrm>
            <a:off x="543560" y="970280"/>
            <a:ext cx="43688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CellChat</a:t>
            </a:r>
            <a:r>
              <a:rPr lang="en-US" altLang="zh-CN"/>
              <a:t>Py </a:t>
            </a:r>
            <a:r>
              <a:rPr lang="zh-CN" altLang="en-US"/>
              <a:t>需要反复打乱细胞的群体标签，并计算各组表达量的分位数。原实现每次重新提取群体数据、计算统计量，存在重复计算。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609600" y="2361565"/>
            <a:ext cx="4771390" cy="82994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/>
              <a:t>置换只改变“哪个细胞属于哪个组”，不改变表达值本身。</a:t>
            </a:r>
            <a:endParaRPr lang="zh-CN" altLang="en-US" sz="1600"/>
          </a:p>
          <a:p>
            <a:r>
              <a:rPr lang="zh-CN" altLang="en-US" sz="1600"/>
              <a:t>一个有序序列按组筛选后，得到的子序列仍然有序。</a:t>
            </a:r>
            <a:endParaRPr lang="zh-CN" altLang="en-US" sz="1600"/>
          </a:p>
        </p:txBody>
      </p:sp>
      <p:sp>
        <p:nvSpPr>
          <p:cNvPr id="12" name="文本框 11"/>
          <p:cNvSpPr txBox="1"/>
          <p:nvPr/>
        </p:nvSpPr>
        <p:spPr>
          <a:xfrm>
            <a:off x="6447790" y="555625"/>
            <a:ext cx="43688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CellChat </a:t>
            </a:r>
            <a:r>
              <a:rPr lang="zh-CN" altLang="en-US"/>
              <a:t>通过随机打乱群体标签，比较随机评分与原始评分，计算置换 </a:t>
            </a:r>
            <a:r>
              <a:rPr lang="en-US" altLang="zh-CN"/>
              <a:t>P </a:t>
            </a:r>
            <a:r>
              <a:rPr lang="zh-CN" altLang="en-US"/>
              <a:t>值：</a:t>
            </a:r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4575" y="1497330"/>
            <a:ext cx="2238375" cy="619125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6553835" y="2514600"/>
            <a:ext cx="4572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最终只需要超过原始评分的次数，无需同时保存全部置换标签、群体统计和评分。</a:t>
            </a:r>
            <a:endParaRPr lang="zh-CN" altLang="en-US"/>
          </a:p>
          <a:p>
            <a:r>
              <a:rPr lang="zh-CN" altLang="en-US"/>
              <a:t>因此，可以逐次计算并更新计数器：</a:t>
            </a:r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835" y="3957320"/>
            <a:ext cx="4200525" cy="4857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2"/>
          <p:cNvSpPr>
            <a:spLocks noGrp="1"/>
          </p:cNvSpPr>
          <p:nvPr/>
        </p:nvSpPr>
        <p:spPr>
          <a:xfrm>
            <a:off x="609600" y="380999"/>
            <a:ext cx="10972800" cy="7366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 </a:t>
            </a:r>
            <a:r>
              <a: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PBMC</a:t>
            </a:r>
            <a:r>
              <a: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：内核与进程时间</a:t>
            </a:r>
            <a:endParaRPr sz="3200" b="1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Page 3"/>
          <p:cNvSpPr>
            <a:spLocks noGrp="1"/>
          </p:cNvSpPr>
          <p:nvPr/>
        </p:nvSpPr>
        <p:spPr>
          <a:xfrm>
            <a:off x="11633200" y="6489700"/>
            <a:ext cx="355600" cy="2032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buNone/>
            </a:pP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39</a:t>
            </a:r>
            <a:endParaRPr sz="10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ource 4"/>
          <p:cNvSpPr>
            <a:spLocks noGrp="1"/>
          </p:cNvSpPr>
          <p:nvPr/>
        </p:nvSpPr>
        <p:spPr>
          <a:xfrm>
            <a:off x="609600" y="6477000"/>
            <a:ext cx="10795000" cy="2286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</a:t>
            </a: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results/benchmarks/REPORT.md</a:t>
            </a:r>
            <a:endParaRPr sz="10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1" name="Chart"/>
          <p:cNvGraphicFramePr/>
          <p:nvPr/>
        </p:nvGraphicFramePr>
        <p:xfrm>
          <a:off x="609600" y="1498568"/>
          <a:ext cx="7239000" cy="40640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73.75,&quot;left&quot;:48,&quot;top&quot;:138.75,&quot;width&quot;:864}"/>
</p:tagLst>
</file>

<file path=ppt/tags/tag2.xml><?xml version="1.0" encoding="utf-8"?>
<p:tagLst xmlns:p="http://schemas.openxmlformats.org/presentationml/2006/main">
  <p:tag name="KSO_WM_DIAGRAM_VIRTUALLY_FRAME" val="{&quot;height&quot;:273.75,&quot;left&quot;:48,&quot;top&quot;:138.75,&quot;width&quot;:864}"/>
</p:tagLst>
</file>

<file path=ppt/tags/tag3.xml><?xml version="1.0" encoding="utf-8"?>
<p:tagLst xmlns:p="http://schemas.openxmlformats.org/presentationml/2006/main">
  <p:tag name="KSO_WM_DIAGRAM_VIRTUALLY_FRAME" val="{&quot;height&quot;:273.75,&quot;left&quot;:48,&quot;top&quot;:138.75,&quot;width&quot;:864}"/>
</p:tagLst>
</file>

<file path=ppt/tags/tag4.xml><?xml version="1.0" encoding="utf-8"?>
<p:tagLst xmlns:p="http://schemas.openxmlformats.org/presentationml/2006/main">
  <p:tag name="KSO_WM_DIAGRAM_VIRTUALLY_FRAME" val="{&quot;height&quot;:273.75,&quot;left&quot;:48,&quot;top&quot;:138.75,&quot;width&quot;:864}"/>
</p:tagLst>
</file>

<file path=ppt/tags/tag5.xml><?xml version="1.0" encoding="utf-8"?>
<p:tagLst xmlns:p="http://schemas.openxmlformats.org/presentationml/2006/main">
  <p:tag name="KSO_WM_DIAGRAM_VIRTUALLY_FRAME" val="{&quot;height&quot;:273.75,&quot;left&quot;:48,&quot;top&quot;:138.75,&quot;width&quot;:864}"/>
</p:tagLst>
</file>

<file path=ppt/tags/tag6.xml><?xml version="1.0" encoding="utf-8"?>
<p:tagLst xmlns:p="http://schemas.openxmlformats.org/presentationml/2006/main">
  <p:tag name="KSO_WM_DIAGRAM_VIRTUALLY_FRAME" val="{&quot;height&quot;:273.75,&quot;left&quot;:48,&quot;top&quot;:138.75,&quot;width&quot;:864}"/>
</p:tagLst>
</file>

<file path=ppt/tags/tag7.xml><?xml version="1.0" encoding="utf-8"?>
<p:tagLst xmlns:p="http://schemas.openxmlformats.org/presentationml/2006/main">
  <p:tag name="KSO_WM_DIAGRAM_VIRTUALLY_FRAME" val="{&quot;height&quot;:273.75,&quot;left&quot;:48,&quot;top&quot;:138.75,&quot;width&quot;:864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1294</Words>
  <Application>WPS 演示</Application>
  <PresentationFormat>Converted Presentation</PresentationFormat>
  <Paragraphs>161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Arial</vt:lpstr>
      <vt:lpstr>宋体</vt:lpstr>
      <vt:lpstr>Wingdings</vt:lpstr>
      <vt:lpstr>Arial</vt:lpstr>
      <vt:lpstr>微软雅黑</vt:lpstr>
      <vt:lpstr>Arial Unicode MS</vt:lpstr>
      <vt:lpstr>等线 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WPS_1658809986</cp:lastModifiedBy>
  <cp:revision>1</cp:revision>
  <dcterms:created xsi:type="dcterms:W3CDTF">2026-10-21T06:06:41Z</dcterms:created>
  <dcterms:modified xsi:type="dcterms:W3CDTF">2026-10-21T06:06:41Z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C5A024DF0C724367BC0D8DD7C86CEFFB_12</vt:lpwstr>
  </property>
</Properties>
</file>