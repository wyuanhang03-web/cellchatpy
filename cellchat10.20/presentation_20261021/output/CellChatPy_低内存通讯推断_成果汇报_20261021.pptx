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altLang="en-US" sz="1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/>
              <a:t>运行时间（秒，越低越好）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altLang="en-US" sz="1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GitHub Python</c:v>
                </c:pt>
              </c:strCache>
            </c:strRef>
          </c:tx>
          <c:spPr>
            <a:solidFill>
              <a:srgbClr val="969F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22272E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Data!$A$2:$A$3</c:f>
              <c:strCache>
                <c:ptCount val="2"/>
                <c:pt idx="0">
                  <c:v>推断内核</c:v>
                </c:pt>
                <c:pt idx="1">
                  <c:v>基准进程</c:v>
                </c:pt>
              </c:strCache>
            </c:strRef>
          </c:cat>
          <c:val>
            <c:numRef>
              <c:f>Data!$B$2:$B$3</c:f>
              <c:numCache>
                <c:formatCode>General</c:formatCode>
                <c:ptCount val="2"/>
                <c:pt idx="0">
                  <c:v>678.7676128000021</c:v>
                </c:pt>
                <c:pt idx="1">
                  <c:v>710.25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2A-4B4C-91DB-F3598D1EE6D5}"/>
            </c:ext>
          </c:extLst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streaming</c:v>
                </c:pt>
              </c:strCache>
            </c:strRef>
          </c:tx>
          <c:spPr>
            <a:solidFill>
              <a:srgbClr val="244B6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22272E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Data!$A$2:$A$3</c:f>
              <c:strCache>
                <c:ptCount val="2"/>
                <c:pt idx="0">
                  <c:v>推断内核</c:v>
                </c:pt>
                <c:pt idx="1">
                  <c:v>基准进程</c:v>
                </c:pt>
              </c:strCache>
            </c:strRef>
          </c:cat>
          <c:val>
            <c:numRef>
              <c:f>Data!$C$2:$C$3</c:f>
              <c:numCache>
                <c:formatCode>General</c:formatCode>
                <c:ptCount val="2"/>
                <c:pt idx="0">
                  <c:v>8.2600234999554232</c:v>
                </c:pt>
                <c:pt idx="1">
                  <c:v>32.313000000023749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2A-4B4C-91DB-F3598D1EE6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1665280"/>
        <c:axId val="261661920"/>
      </c:barChart>
      <c:catAx>
        <c:axId val="261665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61661920"/>
        <c:crosses val="autoZero"/>
        <c:auto val="1"/>
        <c:lblAlgn val="ctr"/>
        <c:lblOffset val="100"/>
        <c:noMultiLvlLbl val="0"/>
      </c:catAx>
      <c:valAx>
        <c:axId val="261661920"/>
        <c:scaling>
          <c:orientation val="minMax"/>
          <c:max val="800"/>
          <c:min val="0"/>
        </c:scaling>
        <c:delete val="0"/>
        <c:axPos val="l"/>
        <c:majorGridlines>
          <c:spPr>
            <a:ln w="9525" cap="flat" cmpd="sng" algn="ctr">
              <a:solidFill>
                <a:srgbClr val="E3E7EB"/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61665280"/>
        <c:crosses val="autoZero"/>
        <c:crossBetween val="between"/>
      </c:valAx>
      <c:spPr>
        <a:solidFill>
          <a:srgbClr val="FFFFFF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altLang="en-US" sz="1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/>
              <a:t>峰值 </a:t>
            </a:r>
            <a:r>
              <a:rPr lang="en-US"/>
              <a:t>RSS</a:t>
            </a:r>
            <a:r>
              <a:rPr lang="zh-CN"/>
              <a:t>（</a:t>
            </a:r>
            <a:r>
              <a:rPr lang="en-US"/>
              <a:t>MiB</a:t>
            </a:r>
            <a:r>
              <a:rPr lang="zh-CN"/>
              <a:t>，越低越好）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altLang="en-US" sz="1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GitHub Python</c:v>
                </c:pt>
              </c:strCache>
            </c:strRef>
          </c:tx>
          <c:spPr>
            <a:solidFill>
              <a:srgbClr val="969F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22272E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Data!$A$2:$A$3</c:f>
              <c:strCache>
                <c:ptCount val="2"/>
                <c:pt idx="0">
                  <c:v>真实 PBMC</c:v>
                </c:pt>
                <c:pt idx="1">
                  <c:v>10 万合成细胞</c:v>
                </c:pt>
              </c:strCache>
            </c:strRef>
          </c:cat>
          <c:val>
            <c:numRef>
              <c:f>Data!$B$2:$B$3</c:f>
              <c:numCache>
                <c:formatCode>General</c:formatCode>
                <c:ptCount val="2"/>
                <c:pt idx="0">
                  <c:v>3219.99609375</c:v>
                </c:pt>
                <c:pt idx="1">
                  <c:v>1787.88671875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52-4CC6-9FC8-646B3AFA60EE}"/>
            </c:ext>
          </c:extLst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streaming</c:v>
                </c:pt>
              </c:strCache>
            </c:strRef>
          </c:tx>
          <c:spPr>
            <a:solidFill>
              <a:srgbClr val="244B6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22272E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Data!$A$2:$A$3</c:f>
              <c:strCache>
                <c:ptCount val="2"/>
                <c:pt idx="0">
                  <c:v>真实 PBMC</c:v>
                </c:pt>
                <c:pt idx="1">
                  <c:v>10 万合成细胞</c:v>
                </c:pt>
              </c:strCache>
            </c:strRef>
          </c:cat>
          <c:val>
            <c:numRef>
              <c:f>Data!$C$2:$C$3</c:f>
              <c:numCache>
                <c:formatCode>General</c:formatCode>
                <c:ptCount val="2"/>
                <c:pt idx="0">
                  <c:v>779.2265625</c:v>
                </c:pt>
                <c:pt idx="1">
                  <c:v>765.4609375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52-4CC6-9FC8-646B3AFA60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1659040"/>
        <c:axId val="261665760"/>
      </c:barChart>
      <c:catAx>
        <c:axId val="261659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61665760"/>
        <c:crosses val="autoZero"/>
        <c:auto val="1"/>
        <c:lblAlgn val="ctr"/>
        <c:lblOffset val="100"/>
        <c:noMultiLvlLbl val="0"/>
      </c:catAx>
      <c:valAx>
        <c:axId val="261665760"/>
        <c:scaling>
          <c:orientation val="minMax"/>
          <c:max val="3800"/>
          <c:min val="0"/>
        </c:scaling>
        <c:delete val="0"/>
        <c:axPos val="l"/>
        <c:majorGridlines>
          <c:spPr>
            <a:ln w="9525" cap="flat" cmpd="sng" algn="ctr">
              <a:solidFill>
                <a:srgbClr val="E3E7EB"/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61659040"/>
        <c:crosses val="autoZero"/>
        <c:crossBetween val="between"/>
      </c:valAx>
      <c:spPr>
        <a:solidFill>
          <a:srgbClr val="FFFFFF"/>
        </a:solidFill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4F3FA-1814-4B98-94EE-4CE392B2DAC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F88B8-209B-48C5-B116-4492AAB4E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0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今天汇报在已有 </a:t>
            </a:r>
            <a:r>
              <a:rPr lang="en-US" altLang="zh-CN"/>
              <a:t>CellChatPy </a:t>
            </a:r>
            <a:r>
              <a:rPr lang="zh-CN" altLang="en-US"/>
              <a:t>翻译工作基础上，探索保持计算定义的加速方法。此前教程已经提供 </a:t>
            </a:r>
            <a:r>
              <a:rPr lang="en-US" altLang="zh-CN"/>
              <a:t>Python </a:t>
            </a:r>
            <a:r>
              <a:rPr lang="zh-CN" altLang="en-US"/>
              <a:t>与 </a:t>
            </a:r>
            <a:r>
              <a:rPr lang="en-US" altLang="zh-CN"/>
              <a:t>R </a:t>
            </a:r>
            <a:r>
              <a:rPr lang="zh-CN" altLang="en-US"/>
              <a:t>原版的一致性证据，本次工作进一步聚焦 </a:t>
            </a:r>
            <a:r>
              <a:rPr lang="en-US" altLang="zh-CN"/>
              <a:t>Python </a:t>
            </a:r>
            <a:r>
              <a:rPr lang="zh-CN" altLang="en-US"/>
              <a:t>发布版内部的计算重组。汇报按研究目标、方法、验证、性能结果和论文推进展开。正文约</a:t>
            </a:r>
            <a:r>
              <a:rPr lang="en-US" altLang="zh-CN"/>
              <a:t>25</a:t>
            </a:r>
            <a:r>
              <a:rPr lang="zh-CN" altLang="en-US"/>
              <a:t>至</a:t>
            </a:r>
            <a:r>
              <a:rPr lang="en-US" altLang="zh-CN"/>
              <a:t>30</a:t>
            </a:r>
            <a:r>
              <a:rPr lang="zh-CN" altLang="en-US"/>
              <a:t>分钟，附录用于回答细节问题。
数据与资料来源
</a:t>
            </a:r>
            <a:r>
              <a:rPr lang="en-US" altLang="zh-CN"/>
              <a:t>E:\Jin\cellchat.python_new\cellchat10.20\README.md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225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本页给出四项成果。实现方面可以直接替换原计算路径。验证方面建立了独立对照、回归测试和教程重跑的证据。真实</a:t>
            </a:r>
            <a:r>
              <a:rPr lang="en-US" altLang="zh-CN"/>
              <a:t>PBMC</a:t>
            </a:r>
            <a:r>
              <a:rPr lang="zh-CN" altLang="en-US"/>
              <a:t>在相同参数下取得</a:t>
            </a:r>
            <a:r>
              <a:rPr lang="en-US" altLang="zh-CN"/>
              <a:t>82.18</a:t>
            </a:r>
            <a:r>
              <a:rPr lang="zh-CN" altLang="en-US"/>
              <a:t>倍内核加速。百万合成细胞只完成了新引擎容量测试，不能报告该规模的成对加速倍数或数值一致性。后面分别说明每个数字对应的测量范围。
数据与资料来源
</a:t>
            </a:r>
            <a:r>
              <a:rPr lang="en-US" altLang="zh-CN"/>
              <a:t>E:\Jin\cellchat.python_new\cellchat10.20\RESULTS.md
E:\Jin\cellchat.python_new\cellchat10.20\results\benchmarks\REPORT.md
E:\Jin\cellchat.python_new\cellchat10.20\validation\combined_regression.xml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631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CellChat </a:t>
            </a:r>
            <a:r>
              <a:rPr lang="zh-CN" altLang="en-US"/>
              <a:t>原论文为 </a:t>
            </a:r>
            <a:r>
              <a:rPr lang="en-US" altLang="zh-CN"/>
              <a:t>Jin </a:t>
            </a:r>
            <a:r>
              <a:rPr lang="zh-CN" altLang="en-US"/>
              <a:t>等人在 </a:t>
            </a:r>
            <a:r>
              <a:rPr lang="en-US" altLang="zh-CN"/>
              <a:t>Nature Communications 2021 </a:t>
            </a:r>
            <a:r>
              <a:rPr lang="zh-CN" altLang="en-US"/>
              <a:t>年发表的 </a:t>
            </a:r>
            <a:r>
              <a:rPr lang="en-US" altLang="zh-CN"/>
              <a:t>Inference and analysis of cell-cell communication using CellChat</a:t>
            </a:r>
            <a:r>
              <a:rPr lang="zh-CN" altLang="en-US"/>
              <a:t>。本次研究起点是已完成的</a:t>
            </a:r>
            <a:r>
              <a:rPr lang="en-US" altLang="zh-CN"/>
              <a:t>Python</a:t>
            </a:r>
            <a:r>
              <a:rPr lang="zh-CN" altLang="en-US"/>
              <a:t>版本及教程验证。论文问题放在精确计算的可扩展性：相同表达矩阵、分组、数据库和随机置换，能否以更少的重复计算和临时内存得到同一结果。本次没有提出新的生物学通讯模型。
数据与资料来源
</a:t>
            </a:r>
            <a:r>
              <a:rPr lang="en-US" altLang="zh-CN"/>
              <a:t>https://doi.org/10.1038/s41467-021-21246-9
E:\Jin\cellchat.python_new\cellchat10.20\METHOD.md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935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本地存在多个源码目录，仅看仓库名称不能确认与线上一致。本次核对</a:t>
            </a:r>
            <a:r>
              <a:rPr lang="en-US" altLang="zh-CN"/>
              <a:t>GitHub</a:t>
            </a:r>
            <a:r>
              <a:rPr lang="zh-CN" altLang="en-US"/>
              <a:t>提交和本地</a:t>
            </a:r>
            <a:r>
              <a:rPr lang="en-US" altLang="zh-CN"/>
              <a:t>Git</a:t>
            </a:r>
            <a:r>
              <a:rPr lang="zh-CN" altLang="en-US"/>
              <a:t>对象，从提交对象提取冻结基线，避免把已修改工作树当作对照。原始根目录源码与线上在</a:t>
            </a:r>
            <a:r>
              <a:rPr lang="en-US" altLang="zh-CN"/>
              <a:t>4</a:t>
            </a:r>
            <a:r>
              <a:rPr lang="zh-CN" altLang="en-US"/>
              <a:t>个模块有差异，</a:t>
            </a:r>
            <a:r>
              <a:rPr lang="en-US" altLang="zh-CN"/>
              <a:t>work2</a:t>
            </a:r>
            <a:r>
              <a:rPr lang="zh-CN" altLang="en-US"/>
              <a:t>有</a:t>
            </a:r>
            <a:r>
              <a:rPr lang="en-US" altLang="zh-CN"/>
              <a:t>9</a:t>
            </a:r>
            <a:r>
              <a:rPr lang="zh-CN" altLang="en-US"/>
              <a:t>个模块差异。这些差异并未混入基线。所有新实现、数据、验证和结果保存在</a:t>
            </a:r>
            <a:r>
              <a:rPr lang="en-US" altLang="zh-CN"/>
              <a:t>cellchat10.20</a:t>
            </a:r>
            <a:r>
              <a:rPr lang="zh-CN" altLang="en-US"/>
              <a:t>。
数据与资料来源
</a:t>
            </a:r>
            <a:r>
              <a:rPr lang="en-US" altLang="zh-CN"/>
              <a:t>E:\Jin\cellchat.python_new\cellchat10.20\README.md
E:\Jin\cellchat.python_new\cellchat10.20\provenance\source_comparison.json
E:\Jin\cellchat.python_new\cellchat10.20\provenance\github_commit.json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488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保持定义需要覆盖公式之外的语义。分位数插值、缺失标签、</a:t>
            </a:r>
            <a:r>
              <a:rPr lang="en-US" altLang="zh-CN"/>
              <a:t>categorical</a:t>
            </a:r>
            <a:r>
              <a:rPr lang="zh-CN" altLang="en-US"/>
              <a:t>类别顺序、随机序列以及浮点操作顺序都可能影响</a:t>
            </a:r>
            <a:r>
              <a:rPr lang="en-US" altLang="zh-CN"/>
              <a:t>P</a:t>
            </a:r>
            <a:r>
              <a:rPr lang="zh-CN" altLang="en-US"/>
              <a:t>值。原版使用严格大于零的超越计数，没有加一校正。因此本次不加入</a:t>
            </a:r>
            <a:r>
              <a:rPr lang="en-US" altLang="zh-CN"/>
              <a:t>epsilon</a:t>
            </a:r>
            <a:r>
              <a:rPr lang="zh-CN" altLang="en-US"/>
              <a:t>、不改成大于等于，也不采用提前停止。这样性能差异才能主要归因于执行方式变化。
数据与资料来源
</a:t>
            </a:r>
            <a:r>
              <a:rPr lang="en-US" altLang="zh-CN"/>
              <a:t>E:\Jin\cellchat.python_new\cellchat10.20\METHOD.md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043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本页来自源码结构分析，不是带耗时百分比的</a:t>
            </a:r>
            <a:r>
              <a:rPr lang="en-US" altLang="zh-CN"/>
              <a:t>profiler</a:t>
            </a:r>
            <a:r>
              <a:rPr lang="zh-CN" altLang="en-US"/>
              <a:t>结论，因此不把任何一项说成占总耗时多少。优化机会来自置换中的不变量：表达矩阵固定，变化的是标签。可以复用表达值顺序、逐次处理随机标签，并复用复合物表达。原实现末尾还有不返回的长格式表，新引擎省去这段构造。
数据与资料来源
</a:t>
            </a:r>
            <a:r>
              <a:rPr lang="en-US" altLang="zh-CN"/>
              <a:t>E:\Jin\cellchat.python_new\cellchat10.20\METHOD.md
E:\Jin\cellchat.python_new\cellchat10.20\upstream\CellChatPy\modeling.py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628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先在完整</a:t>
            </a:r>
            <a:r>
              <a:rPr lang="en-US" altLang="zh-CN"/>
              <a:t>signaling</a:t>
            </a:r>
            <a:r>
              <a:rPr lang="zh-CN" altLang="en-US"/>
              <a:t>表达上确定归一化尺度，再构造依赖闭包并预排序所需基因的非零表达。观测标签下概率先计算一次。随后每次只生成一份置换标签，得到群体统计，按</a:t>
            </a:r>
            <a:r>
              <a:rPr lang="en-US" altLang="zh-CN"/>
              <a:t>LR</a:t>
            </a:r>
            <a:r>
              <a:rPr lang="zh-CN" altLang="en-US"/>
              <a:t>块计算概率，更新超过观测值的计数。最终计数除以置换次数，写回原有网络结构。公开结果仍含所有请求的</a:t>
            </a:r>
            <a:r>
              <a:rPr lang="en-US" altLang="zh-CN"/>
              <a:t>LR</a:t>
            </a:r>
            <a:r>
              <a:rPr lang="zh-CN" altLang="en-US"/>
              <a:t>和群体对。
数据与资料来源
</a:t>
            </a:r>
            <a:r>
              <a:rPr lang="en-US" altLang="zh-CN"/>
              <a:t>E:\Jin\cellchat.python_new\cellchat10.20\METHOD.md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265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8</a:t>
            </a:r>
            <a:r>
              <a:rPr lang="zh-CN" altLang="en-US"/>
              <a:t>个细胞说明关键性质。表达为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0</a:t>
            </a:r>
            <a:r>
              <a:rPr lang="zh-CN" altLang="en-US"/>
              <a:t>，只保存一次非零表达全局排序及细胞编号。新标签下筛选属于</a:t>
            </a:r>
            <a:r>
              <a:rPr lang="en-US" altLang="zh-CN"/>
              <a:t>A</a:t>
            </a:r>
            <a:r>
              <a:rPr lang="zh-CN" altLang="en-US"/>
              <a:t>群的条目，顺序自然仍从小到大。补上该组隐式零即可确定完整向量分位数秩，无需真正创建完整向量。</a:t>
            </a:r>
            <a:r>
              <a:rPr lang="en-US" altLang="zh-CN"/>
              <a:t>B</a:t>
            </a:r>
            <a:r>
              <a:rPr lang="zh-CN" altLang="en-US"/>
              <a:t>群同理。示例是解释算法的构造数据，并非实际实验结果。
数据与资料来源
</a:t>
            </a:r>
            <a:r>
              <a:rPr lang="en-US" altLang="zh-CN"/>
              <a:t>E:\Jin\cellchat.python_new\cellchat10.20\METHOD.md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515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上一页</a:t>
            </a:r>
            <a:r>
              <a:rPr lang="en-US" altLang="zh-CN"/>
              <a:t>A</a:t>
            </a:r>
            <a:r>
              <a:rPr lang="zh-CN" altLang="en-US"/>
              <a:t>群三项分位数为</a:t>
            </a:r>
            <a:r>
              <a:rPr lang="en-US" altLang="zh-CN"/>
              <a:t>0.75</a:t>
            </a:r>
            <a:r>
              <a:rPr lang="zh-CN" altLang="en-US"/>
              <a:t>、</a:t>
            </a:r>
            <a:r>
              <a:rPr lang="en-US" altLang="zh-CN"/>
              <a:t>1.5</a:t>
            </a:r>
            <a:r>
              <a:rPr lang="zh-CN" altLang="en-US"/>
              <a:t>和</a:t>
            </a:r>
            <a:r>
              <a:rPr lang="en-US" altLang="zh-CN"/>
              <a:t>2.75</a:t>
            </a:r>
            <a:r>
              <a:rPr lang="zh-CN" altLang="en-US"/>
              <a:t>，</a:t>
            </a:r>
            <a:r>
              <a:rPr lang="en-US" altLang="zh-CN"/>
              <a:t>triMean</a:t>
            </a:r>
            <a:r>
              <a:rPr lang="zh-CN" altLang="en-US"/>
              <a:t>为</a:t>
            </a:r>
            <a:r>
              <a:rPr lang="en-US" altLang="zh-CN"/>
              <a:t>1.625</a:t>
            </a:r>
            <a:r>
              <a:rPr lang="zh-CN" altLang="en-US"/>
              <a:t>。</a:t>
            </a:r>
            <a:r>
              <a:rPr lang="en-US" altLang="zh-CN"/>
              <a:t>B</a:t>
            </a:r>
            <a:r>
              <a:rPr lang="zh-CN" altLang="en-US"/>
              <a:t>群上四分位数为</a:t>
            </a:r>
            <a:r>
              <a:rPr lang="en-US" altLang="zh-CN"/>
              <a:t>0.75</a:t>
            </a:r>
            <a:r>
              <a:rPr lang="zh-CN" altLang="en-US"/>
              <a:t>，</a:t>
            </a:r>
            <a:r>
              <a:rPr lang="en-US" altLang="zh-CN"/>
              <a:t>triMean</a:t>
            </a:r>
            <a:r>
              <a:rPr lang="zh-CN" altLang="en-US"/>
              <a:t>为</a:t>
            </a:r>
            <a:r>
              <a:rPr lang="en-US" altLang="zh-CN"/>
              <a:t>0.1875</a:t>
            </a:r>
            <a:r>
              <a:rPr lang="zh-CN" altLang="en-US"/>
              <a:t>。实现不只得到数学等价的近似值，还保持插值分支和必要的浮点操作顺序。置换检验比较严格超越，微小舍入变化可能改变是否计数。</a:t>
            </a:r>
            <a:r>
              <a:rPr lang="en-US" altLang="zh-CN"/>
              <a:t>Numba</a:t>
            </a:r>
            <a:r>
              <a:rPr lang="zh-CN" altLang="en-US"/>
              <a:t>路径关闭</a:t>
            </a:r>
            <a:r>
              <a:rPr lang="en-US" altLang="zh-CN"/>
              <a:t>fastmath</a:t>
            </a:r>
            <a:r>
              <a:rPr lang="zh-CN" altLang="en-US"/>
              <a:t>，</a:t>
            </a:r>
            <a:r>
              <a:rPr lang="en-US" altLang="zh-CN"/>
              <a:t>median</a:t>
            </a:r>
            <a:r>
              <a:rPr lang="zh-CN" altLang="en-US"/>
              <a:t>也单独保留原计算方式。
数据与资料来源
</a:t>
            </a:r>
            <a:r>
              <a:rPr lang="en-US" altLang="zh-CN"/>
              <a:t>E:\Jin\cellchat.python_new\cellchat10.20\METHOD.md
E:\Jin\cellchat.python_new\cellchat10.20\development\CellChatPy\_sparse_quantiles.py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747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每次处理一个置换，只保留当前标签、群体统计及超越次数。一百万细胞、一百次置换和</a:t>
            </a:r>
            <a:r>
              <a:rPr lang="en-US" altLang="zh-CN"/>
              <a:t>int64</a:t>
            </a:r>
            <a:r>
              <a:rPr lang="zh-CN" altLang="en-US"/>
              <a:t>索引下，全部置换索引约</a:t>
            </a:r>
            <a:r>
              <a:rPr lang="en-US" altLang="zh-CN"/>
              <a:t>763MiB</a:t>
            </a:r>
            <a:r>
              <a:rPr lang="zh-CN" altLang="en-US"/>
              <a:t>，单个置换约</a:t>
            </a:r>
            <a:r>
              <a:rPr lang="en-US" altLang="zh-CN"/>
              <a:t>7.63MiB</a:t>
            </a:r>
            <a:r>
              <a:rPr lang="zh-CN" altLang="en-US"/>
              <a:t>。这只说明索引一项的理论容量，不能当成整个进程内存减少</a:t>
            </a:r>
            <a:r>
              <a:rPr lang="en-US" altLang="zh-CN"/>
              <a:t>100</a:t>
            </a:r>
            <a:r>
              <a:rPr lang="zh-CN" altLang="en-US"/>
              <a:t>倍。表达矩阵、排序计划、输出和解释器仍占内存，最终通过</a:t>
            </a:r>
            <a:r>
              <a:rPr lang="en-US" altLang="zh-CN"/>
              <a:t>RSS</a:t>
            </a:r>
            <a:r>
              <a:rPr lang="zh-CN" altLang="en-US"/>
              <a:t>测量检验收益。
数据与资料来源
</a:t>
            </a:r>
            <a:r>
              <a:rPr lang="en-US" altLang="zh-CN"/>
              <a:t>E:\Jin\cellchat.python_new\cellchat10.20\METHOD.md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658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裁剪只省去当前交互不使用的群体统计，不修改候选交互定义。容易出错的是全局归一化顺序：不参与</a:t>
            </a:r>
            <a:r>
              <a:rPr lang="en-US" altLang="zh-CN"/>
              <a:t>LR</a:t>
            </a:r>
            <a:r>
              <a:rPr lang="zh-CN" altLang="en-US"/>
              <a:t>的基因仍可能决定最大表达。示例中若先删掉表达</a:t>
            </a:r>
            <a:r>
              <a:rPr lang="en-US" altLang="zh-CN"/>
              <a:t>100</a:t>
            </a:r>
            <a:r>
              <a:rPr lang="zh-CN" altLang="en-US"/>
              <a:t>的基因，会把</a:t>
            </a:r>
            <a:r>
              <a:rPr lang="en-US" altLang="zh-CN"/>
              <a:t>10</a:t>
            </a:r>
            <a:r>
              <a:rPr lang="zh-CN" altLang="en-US"/>
              <a:t>归一化成</a:t>
            </a:r>
            <a:r>
              <a:rPr lang="en-US" altLang="zh-CN"/>
              <a:t>1</a:t>
            </a:r>
            <a:r>
              <a:rPr lang="zh-CN" altLang="en-US"/>
              <a:t>，正确值是</a:t>
            </a:r>
            <a:r>
              <a:rPr lang="en-US" altLang="zh-CN"/>
              <a:t>0.1</a:t>
            </a:r>
            <a:r>
              <a:rPr lang="zh-CN" altLang="en-US"/>
              <a:t>。真实</a:t>
            </a:r>
            <a:r>
              <a:rPr lang="en-US" altLang="zh-CN"/>
              <a:t>PBMC</a:t>
            </a:r>
            <a:r>
              <a:rPr lang="zh-CN" altLang="en-US"/>
              <a:t>的</a:t>
            </a:r>
            <a:r>
              <a:rPr lang="en-US" altLang="zh-CN"/>
              <a:t>1404</a:t>
            </a:r>
            <a:r>
              <a:rPr lang="zh-CN" altLang="en-US"/>
              <a:t>个</a:t>
            </a:r>
            <a:r>
              <a:rPr lang="en-US" altLang="zh-CN"/>
              <a:t>signaling</a:t>
            </a:r>
            <a:r>
              <a:rPr lang="zh-CN" altLang="en-US"/>
              <a:t>基因中</a:t>
            </a:r>
            <a:r>
              <a:rPr lang="en-US" altLang="zh-CN"/>
              <a:t>1379</a:t>
            </a:r>
            <a:r>
              <a:rPr lang="zh-CN" altLang="en-US"/>
              <a:t>个仍需统计，裁剪很少，所以不能简单把主要加速归因于少算很多基因。
数据与资料来源
</a:t>
            </a:r>
            <a:r>
              <a:rPr lang="en-US" altLang="zh-CN"/>
              <a:t>E:\Jin\cellchat.python_new\cellchat10.20\METHOD.md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486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</a:t>
            </a:r>
            <a:r>
              <a:rPr lang="zh-CN" altLang="en-US"/>
              <a:t>为细胞数，</a:t>
            </a:r>
            <a:r>
              <a:rPr lang="en-US" altLang="zh-CN"/>
              <a:t>G</a:t>
            </a:r>
            <a:r>
              <a:rPr lang="zh-CN" altLang="en-US"/>
              <a:t>为依赖闭包内基因数，</a:t>
            </a:r>
            <a:r>
              <a:rPr lang="en-US" altLang="zh-CN"/>
              <a:t>K</a:t>
            </a:r>
            <a:r>
              <a:rPr lang="zh-CN" altLang="en-US"/>
              <a:t>为群体数，</a:t>
            </a:r>
            <a:r>
              <a:rPr lang="en-US" altLang="zh-CN"/>
              <a:t>Z</a:t>
            </a:r>
            <a:r>
              <a:rPr lang="zh-CN" altLang="en-US"/>
              <a:t>为这些基因非零数，</a:t>
            </a:r>
            <a:r>
              <a:rPr lang="en-US" altLang="zh-CN"/>
              <a:t>L</a:t>
            </a:r>
            <a:r>
              <a:rPr lang="zh-CN" altLang="en-US"/>
              <a:t>为</a:t>
            </a:r>
            <a:r>
              <a:rPr lang="en-US" altLang="zh-CN"/>
              <a:t>LR</a:t>
            </a:r>
            <a:r>
              <a:rPr lang="zh-CN" altLang="en-US"/>
              <a:t>数，</a:t>
            </a:r>
            <a:r>
              <a:rPr lang="en-US" altLang="zh-CN"/>
              <a:t>B</a:t>
            </a:r>
            <a:r>
              <a:rPr lang="zh-CN" altLang="en-US"/>
              <a:t>为置换数。一次预排序后，稀疏</a:t>
            </a:r>
            <a:r>
              <a:rPr lang="en-US" altLang="zh-CN"/>
              <a:t>triMean</a:t>
            </a:r>
            <a:r>
              <a:rPr lang="zh-CN" altLang="en-US"/>
              <a:t>或</a:t>
            </a:r>
            <a:r>
              <a:rPr lang="en-US" altLang="zh-CN"/>
              <a:t>median</a:t>
            </a:r>
            <a:r>
              <a:rPr lang="zh-CN" altLang="en-US"/>
              <a:t>主要扫描非零项、构造群统计并计算</a:t>
            </a:r>
            <a:r>
              <a:rPr lang="en-US" altLang="zh-CN"/>
              <a:t>LR</a:t>
            </a:r>
            <a:r>
              <a:rPr lang="zh-CN" altLang="en-US"/>
              <a:t>群体对。工作内存不再含</a:t>
            </a:r>
            <a:r>
              <a:rPr lang="en-US" altLang="zh-CN"/>
              <a:t>B</a:t>
            </a:r>
            <a:r>
              <a:rPr lang="zh-CN" altLang="en-US"/>
              <a:t>倍内部张量，但不能忽略裁剪前完整</a:t>
            </a:r>
            <a:r>
              <a:rPr lang="en-US" altLang="zh-CN"/>
              <a:t>signaling</a:t>
            </a:r>
            <a:r>
              <a:rPr lang="zh-CN" altLang="en-US"/>
              <a:t>表达提取和归一化。外部置换逐列唯一性检查也包含排序成本。
数据与资料来源
</a:t>
            </a:r>
            <a:r>
              <a:rPr lang="en-US" altLang="zh-CN"/>
              <a:t>E:\Jin\cellchat.python_new\cellchat10.20\METHOD.md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535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原教程的主体调用方式可以延续。默认</a:t>
            </a:r>
            <a:r>
              <a:rPr lang="en-US" altLang="zh-CN"/>
              <a:t>streaming</a:t>
            </a:r>
            <a:r>
              <a:rPr lang="zh-CN" altLang="en-US"/>
              <a:t>，也可显式选择引擎。</a:t>
            </a:r>
            <a:r>
              <a:rPr lang="en-US" altLang="zh-CN"/>
              <a:t>gene_batch_size</a:t>
            </a:r>
            <a:r>
              <a:rPr lang="zh-CN" altLang="en-US"/>
              <a:t>约束回退计算临时数据，</a:t>
            </a:r>
            <a:r>
              <a:rPr lang="en-US" altLang="zh-CN"/>
              <a:t>lr_batch_size</a:t>
            </a:r>
            <a:r>
              <a:rPr lang="zh-CN" altLang="en-US"/>
              <a:t>约束</a:t>
            </a:r>
            <a:r>
              <a:rPr lang="en-US" altLang="zh-CN"/>
              <a:t>LR</a:t>
            </a:r>
            <a:r>
              <a:rPr lang="zh-CN" altLang="en-US"/>
              <a:t>概率块。</a:t>
            </a:r>
            <a:r>
              <a:rPr lang="en-US" altLang="zh-CN"/>
              <a:t>accelerate</a:t>
            </a:r>
            <a:r>
              <a:rPr lang="zh-CN" altLang="en-US"/>
              <a:t>依赖提供</a:t>
            </a:r>
            <a:r>
              <a:rPr lang="en-US" altLang="zh-CN"/>
              <a:t>Numba</a:t>
            </a:r>
            <a:r>
              <a:rPr lang="zh-CN" altLang="en-US"/>
              <a:t>编译，没有</a:t>
            </a:r>
            <a:r>
              <a:rPr lang="en-US" altLang="zh-CN"/>
              <a:t>Numba</a:t>
            </a:r>
            <a:r>
              <a:rPr lang="zh-CN" altLang="en-US"/>
              <a:t>保留纯</a:t>
            </a:r>
            <a:r>
              <a:rPr lang="en-US" altLang="zh-CN"/>
              <a:t>Python</a:t>
            </a:r>
            <a:r>
              <a:rPr lang="zh-CN" altLang="en-US"/>
              <a:t>正确性回退，但大规模性能下降。开发包</a:t>
            </a:r>
            <a:r>
              <a:rPr lang="en-US" altLang="zh-CN"/>
              <a:t>legacy</a:t>
            </a:r>
            <a:r>
              <a:rPr lang="zh-CN" altLang="en-US"/>
              <a:t>分支用于诊断，正式实验另加载冻结</a:t>
            </a:r>
            <a:r>
              <a:rPr lang="en-US" altLang="zh-CN"/>
              <a:t>upstream</a:t>
            </a:r>
            <a:r>
              <a:rPr lang="zh-CN" altLang="en-US"/>
              <a:t>，避免只比较程序内部两分支。
数据与资料来源
</a:t>
            </a:r>
            <a:r>
              <a:rPr lang="en-US" altLang="zh-CN"/>
              <a:t>E:\Jin\cellchat.python_new\cellchat10.20\METHOD.md
E:\Jin\cellchat.python_new\cellchat10.20\development\docs\streaming_engine.md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537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回归测试负责边界条件，完整教程负责实际路径，大数据对照负责规模变化后是否仍得到相同结果。概率预设接受误差</a:t>
            </a:r>
            <a:r>
              <a:rPr lang="en-US" altLang="zh-CN"/>
              <a:t>1e-12</a:t>
            </a:r>
            <a:r>
              <a:rPr lang="zh-CN" altLang="en-US"/>
              <a:t>，</a:t>
            </a:r>
            <a:r>
              <a:rPr lang="en-US" altLang="zh-CN"/>
              <a:t>P</a:t>
            </a:r>
            <a:r>
              <a:rPr lang="zh-CN" altLang="en-US"/>
              <a:t>值和显著性判定精确一致。实际上已完成大数据成对测试的概率和</a:t>
            </a:r>
            <a:r>
              <a:rPr lang="en-US" altLang="zh-CN"/>
              <a:t>P</a:t>
            </a:r>
            <a:r>
              <a:rPr lang="zh-CN" altLang="en-US"/>
              <a:t>值都达到</a:t>
            </a:r>
            <a:r>
              <a:rPr lang="en-US" altLang="zh-CN"/>
              <a:t>array_equal</a:t>
            </a:r>
            <a:r>
              <a:rPr lang="zh-CN" altLang="en-US"/>
              <a:t>。正确性指对固定</a:t>
            </a:r>
            <a:r>
              <a:rPr lang="en-US" altLang="zh-CN"/>
              <a:t>Python</a:t>
            </a:r>
            <a:r>
              <a:rPr lang="zh-CN" altLang="en-US"/>
              <a:t>基线的兼容，不等同于验证真实生物学通讯。
数据与资料来源
</a:t>
            </a:r>
            <a:r>
              <a:rPr lang="en-US" altLang="zh-CN"/>
              <a:t>E:\Jin\cellchat.python_new\cellchat10.20\METHOD.md
E:\Jin\cellchat.python_new\cellchat10.20\validation\regression_provenance.json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22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303</a:t>
            </a:r>
            <a:r>
              <a:rPr lang="zh-CN" altLang="en-US"/>
              <a:t>项测试全部通过，没有跳过项。覆盖稀疏重复索引和显式零、分位数边界、缺失标签、外部置换等易静默出错情况。模型测试检查复合物、辅因子和空间条件。执行记录绑定源码指纹。交付另进行了</a:t>
            </a:r>
            <a:r>
              <a:rPr lang="en-US" altLang="zh-CN"/>
              <a:t>217</a:t>
            </a:r>
            <a:r>
              <a:rPr lang="zh-CN" altLang="en-US"/>
              <a:t>项保存证据审计，它和</a:t>
            </a:r>
            <a:r>
              <a:rPr lang="en-US" altLang="zh-CN"/>
              <a:t>303</a:t>
            </a:r>
            <a:r>
              <a:rPr lang="zh-CN" altLang="en-US"/>
              <a:t>项算法及发行测试不同，不将二者相加作为测试数量。
数据与资料来源
</a:t>
            </a:r>
            <a:r>
              <a:rPr lang="en-US" altLang="zh-CN"/>
              <a:t>E:\Jin\cellchat.python_new\cellchat10.20\validation\combined_regression.xml
E:\Jin\cellchat.python_new\cellchat10.20\validation\regression_provenance.json
E:\Jin\cellchat.python_new\cellchat10.20\validation\delivery_audit.json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284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Read the Docs</a:t>
            </a:r>
            <a:r>
              <a:rPr lang="zh-CN" altLang="en-US"/>
              <a:t>七本公开</a:t>
            </a:r>
            <a:r>
              <a:rPr lang="en-US" altLang="zh-CN"/>
              <a:t>notebook</a:t>
            </a:r>
            <a:r>
              <a:rPr lang="zh-CN" altLang="en-US"/>
              <a:t>与冻结</a:t>
            </a:r>
            <a:r>
              <a:rPr lang="en-US" altLang="zh-CN"/>
              <a:t>GitHub</a:t>
            </a:r>
            <a:r>
              <a:rPr lang="zh-CN" altLang="en-US"/>
              <a:t>代码单元已核对。每版执行</a:t>
            </a:r>
            <a:r>
              <a:rPr lang="en-US" altLang="zh-CN"/>
              <a:t>123</a:t>
            </a:r>
            <a:r>
              <a:rPr lang="zh-CN" altLang="en-US"/>
              <a:t>个原始代码单元，合计</a:t>
            </a:r>
            <a:r>
              <a:rPr lang="en-US" altLang="zh-CN"/>
              <a:t>14</a:t>
            </a:r>
            <a:r>
              <a:rPr lang="zh-CN" altLang="en-US"/>
              <a:t>次完整执行通过。工作流还包含降维、绘图、空间分析和保存，完整教程加速幅度因此不同，不能期待每一本都达到内核倍数。没有通过跳过失败单元取得完成状态。
数据与资料来源
</a:t>
            </a:r>
            <a:r>
              <a:rPr lang="en-US" altLang="zh-CN"/>
              <a:t>E:\Jin\cellchat.python_new\cellchat10.20\validation\tutorial_comparison_reference_development.json
https://cellchatpy.readthedocs.io/en/latest/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193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进一步核对四本教程新保存对象，共</a:t>
            </a:r>
            <a:r>
              <a:rPr lang="en-US" altLang="zh-CN"/>
              <a:t>48178</a:t>
            </a:r>
            <a:r>
              <a:rPr lang="zh-CN" altLang="en-US"/>
              <a:t>个数组。</a:t>
            </a:r>
            <a:r>
              <a:rPr lang="en-US" altLang="zh-CN"/>
              <a:t>47867</a:t>
            </a:r>
            <a:r>
              <a:rPr lang="zh-CN" altLang="en-US"/>
              <a:t>个精确相同，</a:t>
            </a:r>
            <a:r>
              <a:rPr lang="en-US" altLang="zh-CN"/>
              <a:t>311</a:t>
            </a:r>
            <a:r>
              <a:rPr lang="zh-CN" altLang="en-US"/>
              <a:t>个满足预设</a:t>
            </a:r>
            <a:r>
              <a:rPr lang="en-US" altLang="zh-CN"/>
              <a:t>1e-12</a:t>
            </a:r>
            <a:r>
              <a:rPr lang="zh-CN" altLang="en-US"/>
              <a:t>容差，最大绝对差</a:t>
            </a:r>
            <a:r>
              <a:rPr lang="en-US" altLang="zh-CN"/>
              <a:t>1.5543e-14</a:t>
            </a:r>
            <a:r>
              <a:rPr lang="zh-CN" altLang="en-US"/>
              <a:t>。差异全属</a:t>
            </a:r>
            <a:r>
              <a:rPr lang="en-US" altLang="zh-CN"/>
              <a:t>psoriasis</a:t>
            </a:r>
            <a:r>
              <a:rPr lang="zh-CN" altLang="en-US"/>
              <a:t>通路网络</a:t>
            </a:r>
            <a:r>
              <a:rPr lang="en-US" altLang="zh-CN"/>
              <a:t>hub</a:t>
            </a:r>
            <a:r>
              <a:rPr lang="zh-CN" altLang="en-US"/>
              <a:t>、</a:t>
            </a:r>
            <a:r>
              <a:rPr lang="en-US" altLang="zh-CN"/>
              <a:t>authority</a:t>
            </a:r>
            <a:r>
              <a:rPr lang="zh-CN" altLang="en-US"/>
              <a:t>、</a:t>
            </a:r>
            <a:r>
              <a:rPr lang="en-US" altLang="zh-CN"/>
              <a:t>eigen</a:t>
            </a:r>
            <a:r>
              <a:rPr lang="zh-CN" altLang="en-US"/>
              <a:t>中心性。中心性源码一致，与谱迭代数值波动相容，但未做专门因果实验。核心概率、</a:t>
            </a:r>
            <a:r>
              <a:rPr lang="en-US" altLang="zh-CN"/>
              <a:t>P</a:t>
            </a:r>
            <a:r>
              <a:rPr lang="zh-CN" altLang="en-US"/>
              <a:t>值、聚合和</a:t>
            </a:r>
            <a:r>
              <a:rPr lang="en-US" altLang="zh-CN"/>
              <a:t>spot</a:t>
            </a:r>
            <a:r>
              <a:rPr lang="zh-CN" altLang="en-US"/>
              <a:t>概率一致。三个空间教程默认未导出完整对象，其通路结果由执行和图像覆盖。
数据与资料来源
</a:t>
            </a:r>
            <a:r>
              <a:rPr lang="en-US" altLang="zh-CN"/>
              <a:t>E:\Jin\cellchat.python_new\cellchat10.20\validation\tutorial_saved_object_comparison.json
E:\Jin\cellchat.python_new\cellchat10.20\validation\tutorial_tolerance_differences.md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482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展示本次开发版完整运行</a:t>
            </a:r>
            <a:r>
              <a:rPr lang="en-US" altLang="zh-CN"/>
              <a:t>humanSkin</a:t>
            </a:r>
            <a:r>
              <a:rPr lang="zh-CN" altLang="en-US"/>
              <a:t>教程产生的通讯数量网络。图像说明下游绘图正常衔接，不能替代数值核验。每版</a:t>
            </a:r>
            <a:r>
              <a:rPr lang="en-US" altLang="zh-CN"/>
              <a:t>148</a:t>
            </a:r>
            <a:r>
              <a:rPr lang="zh-CN" altLang="en-US"/>
              <a:t>张</a:t>
            </a:r>
            <a:r>
              <a:rPr lang="en-US" altLang="zh-CN"/>
              <a:t>PNG</a:t>
            </a:r>
            <a:r>
              <a:rPr lang="zh-CN" altLang="en-US"/>
              <a:t>中</a:t>
            </a:r>
            <a:r>
              <a:rPr lang="en-US" altLang="zh-CN"/>
              <a:t>147</a:t>
            </a:r>
            <a:r>
              <a:rPr lang="zh-CN" altLang="en-US"/>
              <a:t>张字节一致。唯一不同的</a:t>
            </a:r>
            <a:r>
              <a:rPr lang="en-US" altLang="zh-CN"/>
              <a:t>NL/LS</a:t>
            </a:r>
            <a:r>
              <a:rPr lang="zh-CN" altLang="en-US"/>
              <a:t>气泡图，部分并列类别列顺序变化，列标签与对应数据匹配。已有绘图排序键未纳入样本，虚线分隔假定样本块连续，因此应按显式列标签读取。
数据与资料来源
</a:t>
            </a:r>
            <a:r>
              <a:rPr lang="en-US" altLang="zh-CN"/>
              <a:t>E:\Jin\cellchat.python_new\cellchat10.20\validation\tutorial_comparison_reference_development.json
E:\Jin\cellchat.python_new\cellchat10.20\validation\figure_difference_notes.md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501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这些问题在严格重跑中发现，需要透明记录。</a:t>
            </a:r>
            <a:r>
              <a:rPr lang="en-US" altLang="zh-CN"/>
              <a:t>Visium</a:t>
            </a:r>
            <a:r>
              <a:rPr lang="zh-CN" altLang="en-US"/>
              <a:t>差异出在教程手算断言的</a:t>
            </a:r>
            <a:r>
              <a:rPr lang="en-US" altLang="zh-CN"/>
              <a:t>0.05</a:t>
            </a:r>
            <a:r>
              <a:rPr lang="zh-CN" altLang="en-US"/>
              <a:t>边界，修订同时用于两版执行，没有改变算法阈值。</a:t>
            </a:r>
            <a:r>
              <a:rPr lang="en-US" altLang="zh-CN"/>
              <a:t>H5AD</a:t>
            </a:r>
            <a:r>
              <a:rPr lang="zh-CN" altLang="en-US"/>
              <a:t>保存后字典顺序可能变化，新版增加矩阵轴顺序元数据，属于可靠性修复。旧</a:t>
            </a:r>
            <a:r>
              <a:rPr lang="en-US" altLang="zh-CN"/>
              <a:t>pathway</a:t>
            </a:r>
            <a:r>
              <a:rPr lang="zh-CN" altLang="en-US"/>
              <a:t>文件若无顺序元数据及恢复依据，不能凭空重建历史插入顺序。这些修复不计入算法加速创新。
数据与资料来源
</a:t>
            </a:r>
            <a:r>
              <a:rPr lang="en-US" altLang="zh-CN"/>
              <a:t>E:\Jin\cellchat.python_new\cellchat10.20\METHOD.md
E:\Jin\cellchat.python_new\cellchat10.20\validation\figure_difference_notes.md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078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基线为冻结</a:t>
            </a:r>
            <a:r>
              <a:rPr lang="en-US" altLang="zh-CN"/>
              <a:t>GitHub Python</a:t>
            </a:r>
            <a:r>
              <a:rPr lang="zh-CN" altLang="en-US"/>
              <a:t>版，尚无</a:t>
            </a:r>
            <a:r>
              <a:rPr lang="en-US" altLang="zh-CN"/>
              <a:t>R</a:t>
            </a:r>
            <a:r>
              <a:rPr lang="zh-CN" altLang="en-US"/>
              <a:t>版或其他工具实测。候选</a:t>
            </a:r>
            <a:r>
              <a:rPr lang="en-US" altLang="zh-CN"/>
              <a:t>LR</a:t>
            </a:r>
            <a:r>
              <a:rPr lang="zh-CN" altLang="en-US"/>
              <a:t>固定，差异表达筛选不计入内核。新进程首次调用包含</a:t>
            </a:r>
            <a:r>
              <a:rPr lang="en-US" altLang="zh-CN"/>
              <a:t>JIT</a:t>
            </a:r>
            <a:r>
              <a:rPr lang="zh-CN" altLang="en-US"/>
              <a:t>初始化或缓存读取，但不保证无缓存冷编译。最终刷新保留已完成</a:t>
            </a:r>
            <a:r>
              <a:rPr lang="en-US" altLang="zh-CN"/>
              <a:t>upstream</a:t>
            </a:r>
            <a:r>
              <a:rPr lang="zh-CN" altLang="en-US"/>
              <a:t>结果，仅重跑开发版，应进一步补交替重复。主机内存</a:t>
            </a:r>
            <a:r>
              <a:rPr lang="en-US" altLang="zh-CN"/>
              <a:t>15.71GiB</a:t>
            </a:r>
            <a:r>
              <a:rPr lang="zh-CN" altLang="en-US"/>
              <a:t>，有后台压力，未测分页</a:t>
            </a:r>
            <a:r>
              <a:rPr lang="en-US" altLang="zh-CN"/>
              <a:t>I/O</a:t>
            </a:r>
            <a:r>
              <a:rPr lang="zh-CN" altLang="en-US"/>
              <a:t>。进程计时包括本进程对象准备，但不包括此前外部下载及数据预处理。
数据与资料来源
</a:t>
            </a:r>
            <a:r>
              <a:rPr lang="en-US" altLang="zh-CN"/>
              <a:t>E:\Jin\cellchat.python_new\cellchat10.20\results\benchmarks\REPORT.md
E:\Jin\cellchat.python_new\cellchat10.20\provenance\environment.json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6981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10x fresh68k donorA</a:t>
            </a:r>
            <a:r>
              <a:rPr lang="zh-CN" altLang="en-US"/>
              <a:t>的</a:t>
            </a:r>
            <a:r>
              <a:rPr lang="en-US" altLang="zh-CN"/>
              <a:t>68579</a:t>
            </a:r>
            <a:r>
              <a:rPr lang="zh-CN" altLang="en-US"/>
              <a:t>个细胞和</a:t>
            </a:r>
            <a:r>
              <a:rPr lang="en-US" altLang="zh-CN"/>
              <a:t>32738</a:t>
            </a:r>
            <a:r>
              <a:rPr lang="zh-CN" altLang="en-US"/>
              <a:t>个原始基因。先按全库归一化，再提取</a:t>
            </a:r>
            <a:r>
              <a:rPr lang="en-US" altLang="zh-CN"/>
              <a:t>1404</a:t>
            </a:r>
            <a:r>
              <a:rPr lang="zh-CN" altLang="en-US"/>
              <a:t>个</a:t>
            </a:r>
            <a:r>
              <a:rPr lang="en-US" altLang="zh-CN"/>
              <a:t>signaling</a:t>
            </a:r>
            <a:r>
              <a:rPr lang="zh-CN" altLang="en-US"/>
              <a:t>基因，共</a:t>
            </a:r>
            <a:r>
              <a:rPr lang="en-US" altLang="zh-CN"/>
              <a:t>1523308</a:t>
            </a:r>
            <a:r>
              <a:rPr lang="zh-CN" altLang="en-US"/>
              <a:t>个非零条目。旧官方标签仅覆盖约四万细胞，因此采用</a:t>
            </a:r>
            <a:r>
              <a:rPr lang="en-US" altLang="zh-CN"/>
              <a:t>30</a:t>
            </a:r>
            <a:r>
              <a:rPr lang="zh-CN" altLang="en-US"/>
              <a:t>维</a:t>
            </a:r>
            <a:r>
              <a:rPr lang="en-US" altLang="zh-CN"/>
              <a:t>SVD</a:t>
            </a:r>
            <a:r>
              <a:rPr lang="zh-CN" altLang="en-US"/>
              <a:t>和</a:t>
            </a:r>
            <a:r>
              <a:rPr lang="en-US" altLang="zh-CN"/>
              <a:t>MiniBatchKMeans</a:t>
            </a:r>
            <a:r>
              <a:rPr lang="zh-CN" altLang="en-US"/>
              <a:t>为全部细胞构造</a:t>
            </a:r>
            <a:r>
              <a:rPr lang="en-US" altLang="zh-CN"/>
              <a:t>10</a:t>
            </a:r>
            <a:r>
              <a:rPr lang="zh-CN" altLang="en-US"/>
              <a:t>个计算分组。这些不是经验证的细胞类型。</a:t>
            </a:r>
            <a:r>
              <a:rPr lang="en-US" altLang="zh-CN"/>
              <a:t>3072</a:t>
            </a:r>
            <a:r>
              <a:rPr lang="zh-CN" altLang="en-US"/>
              <a:t>对</a:t>
            </a:r>
            <a:r>
              <a:rPr lang="en-US" altLang="zh-CN"/>
              <a:t>LR</a:t>
            </a:r>
            <a:r>
              <a:rPr lang="zh-CN" altLang="en-US"/>
              <a:t>由配体受体可用性确定，没有差异表达筛选。
数据与资料来源
</a:t>
            </a:r>
            <a:r>
              <a:rPr lang="en-US" altLang="zh-CN"/>
              <a:t>E:\Jin\cellchat.python_new\cellchat10.20\data\pbmc68k_signaling\manifest.json
E:\Jin\cellchat.python_new\cellchat10.20\data\pbmc68k_download_manifest.json
E:\Jin\cellchat.python_new\cellchat10.20\results\benchmarks\REPORT.md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4618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真实</a:t>
            </a:r>
            <a:r>
              <a:rPr lang="en-US" altLang="zh-CN"/>
              <a:t>PBMC</a:t>
            </a:r>
            <a:r>
              <a:rPr lang="zh-CN" altLang="en-US"/>
              <a:t>、</a:t>
            </a:r>
            <a:r>
              <a:rPr lang="en-US" altLang="zh-CN"/>
              <a:t>3072</a:t>
            </a:r>
            <a:r>
              <a:rPr lang="zh-CN" altLang="en-US"/>
              <a:t>对候选</a:t>
            </a:r>
            <a:r>
              <a:rPr lang="en-US" altLang="zh-CN"/>
              <a:t>LR</a:t>
            </a:r>
            <a:r>
              <a:rPr lang="zh-CN" altLang="en-US"/>
              <a:t>和</a:t>
            </a:r>
            <a:r>
              <a:rPr lang="en-US" altLang="zh-CN"/>
              <a:t>100</a:t>
            </a:r>
            <a:r>
              <a:rPr lang="zh-CN" altLang="en-US"/>
              <a:t>次置换，内核</a:t>
            </a:r>
            <a:r>
              <a:rPr lang="en-US" altLang="zh-CN"/>
              <a:t>678.77</a:t>
            </a:r>
            <a:r>
              <a:rPr lang="zh-CN" altLang="en-US"/>
              <a:t>秒降至</a:t>
            </a:r>
            <a:r>
              <a:rPr lang="en-US" altLang="zh-CN"/>
              <a:t>8.26</a:t>
            </a:r>
            <a:r>
              <a:rPr lang="zh-CN" altLang="en-US"/>
              <a:t>秒，为</a:t>
            </a:r>
            <a:r>
              <a:rPr lang="en-US" altLang="zh-CN"/>
              <a:t>82.18</a:t>
            </a:r>
            <a:r>
              <a:rPr lang="zh-CN" altLang="en-US"/>
              <a:t>倍。包含导入、保存等成本的基准进程</a:t>
            </a:r>
            <a:r>
              <a:rPr lang="en-US" altLang="zh-CN"/>
              <a:t>710.25</a:t>
            </a:r>
            <a:r>
              <a:rPr lang="zh-CN" altLang="en-US"/>
              <a:t>秒降至</a:t>
            </a:r>
            <a:r>
              <a:rPr lang="en-US" altLang="zh-CN"/>
              <a:t>32.31</a:t>
            </a:r>
            <a:r>
              <a:rPr lang="zh-CN" altLang="en-US"/>
              <a:t>秒，为</a:t>
            </a:r>
            <a:r>
              <a:rPr lang="en-US" altLang="zh-CN"/>
              <a:t>21.98</a:t>
            </a:r>
            <a:r>
              <a:rPr lang="zh-CN" altLang="en-US"/>
              <a:t>倍。汇报应说内核</a:t>
            </a:r>
            <a:r>
              <a:rPr lang="en-US" altLang="zh-CN"/>
              <a:t>82</a:t>
            </a:r>
            <a:r>
              <a:rPr lang="zh-CN" altLang="en-US"/>
              <a:t>倍，不能说完整流程</a:t>
            </a:r>
            <a:r>
              <a:rPr lang="en-US" altLang="zh-CN"/>
              <a:t>82</a:t>
            </a:r>
            <a:r>
              <a:rPr lang="zh-CN" altLang="en-US"/>
              <a:t>倍。该配置仅一组成对运行，没有置信区间。所有概率与</a:t>
            </a:r>
            <a:r>
              <a:rPr lang="en-US" altLang="zh-CN"/>
              <a:t>P</a:t>
            </a:r>
            <a:r>
              <a:rPr lang="zh-CN" altLang="en-US"/>
              <a:t>值逐元素精确一致。
数据与资料来源
</a:t>
            </a:r>
            <a:r>
              <a:rPr lang="en-US" altLang="zh-CN"/>
              <a:t>E:\Jin\cellchat.python_new\cellchat10.20\results\benchmarks\REPORT.md
E:\Jin\cellchat.python_new\cellchat10.20\results\benchmarks\pbmc68579_b100\summary.json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0498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RSS</a:t>
            </a:r>
            <a:r>
              <a:rPr lang="zh-CN" altLang="en-US"/>
              <a:t>采用同一外部</a:t>
            </a:r>
            <a:r>
              <a:rPr lang="en-US" altLang="zh-CN"/>
              <a:t>100</a:t>
            </a:r>
            <a:r>
              <a:rPr lang="zh-CN" altLang="en-US"/>
              <a:t>毫秒采样口径。</a:t>
            </a:r>
            <a:r>
              <a:rPr lang="en-US" altLang="zh-CN"/>
              <a:t>PBMC</a:t>
            </a:r>
            <a:r>
              <a:rPr lang="zh-CN" altLang="en-US"/>
              <a:t>约</a:t>
            </a:r>
            <a:r>
              <a:rPr lang="en-US" altLang="zh-CN"/>
              <a:t>3220MiB</a:t>
            </a:r>
            <a:r>
              <a:rPr lang="zh-CN" altLang="en-US"/>
              <a:t>降至</a:t>
            </a:r>
            <a:r>
              <a:rPr lang="en-US" altLang="zh-CN"/>
              <a:t>779MiB</a:t>
            </a:r>
            <a:r>
              <a:rPr lang="zh-CN" altLang="en-US"/>
              <a:t>，下降</a:t>
            </a:r>
            <a:r>
              <a:rPr lang="en-US" altLang="zh-CN"/>
              <a:t>75.80%</a:t>
            </a:r>
            <a:r>
              <a:rPr lang="zh-CN" altLang="en-US"/>
              <a:t>。十万合成细胞取三次中位数，</a:t>
            </a:r>
            <a:r>
              <a:rPr lang="en-US" altLang="zh-CN"/>
              <a:t>1788MiB</a:t>
            </a:r>
            <a:r>
              <a:rPr lang="zh-CN" altLang="en-US"/>
              <a:t>降至</a:t>
            </a:r>
            <a:r>
              <a:rPr lang="en-US" altLang="zh-CN"/>
              <a:t>765MiB</a:t>
            </a:r>
            <a:r>
              <a:rPr lang="zh-CN" altLang="en-US"/>
              <a:t>，下降</a:t>
            </a:r>
            <a:r>
              <a:rPr lang="en-US" altLang="zh-CN"/>
              <a:t>57.19%</a:t>
            </a:r>
            <a:r>
              <a:rPr lang="zh-CN" altLang="en-US"/>
              <a:t>。</a:t>
            </a:r>
            <a:r>
              <a:rPr lang="en-US" altLang="zh-CN"/>
              <a:t>RSS</a:t>
            </a:r>
            <a:r>
              <a:rPr lang="zh-CN" altLang="en-US"/>
              <a:t>是驻留物理内存，和</a:t>
            </a:r>
            <a:r>
              <a:rPr lang="en-US" altLang="zh-CN"/>
              <a:t>private memory</a:t>
            </a:r>
            <a:r>
              <a:rPr lang="zh-CN" altLang="en-US"/>
              <a:t>不是同一量。采样可能漏掉短暂峰值，因此报告观测峰值，不是严格分配上界。理论索引容量不替代此实测。
数据与资料来源
</a:t>
            </a:r>
            <a:r>
              <a:rPr lang="en-US" altLang="zh-CN"/>
              <a:t>E:\Jin\cellchat.python_new\cellchat10.20\results\benchmarks\REPORT.md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755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配置为十万细胞、</a:t>
            </a:r>
            <a:r>
              <a:rPr lang="en-US" altLang="zh-CN"/>
              <a:t>256</a:t>
            </a:r>
            <a:r>
              <a:rPr lang="zh-CN" altLang="en-US"/>
              <a:t>基因、</a:t>
            </a:r>
            <a:r>
              <a:rPr lang="en-US" altLang="zh-CN"/>
              <a:t>10</a:t>
            </a:r>
            <a:r>
              <a:rPr lang="zh-CN" altLang="en-US"/>
              <a:t>群体、</a:t>
            </a:r>
            <a:r>
              <a:rPr lang="en-US" altLang="zh-CN"/>
              <a:t>100</a:t>
            </a:r>
            <a:r>
              <a:rPr lang="zh-CN" altLang="en-US"/>
              <a:t>对</a:t>
            </a:r>
            <a:r>
              <a:rPr lang="en-US" altLang="zh-CN"/>
              <a:t>LR</a:t>
            </a:r>
            <a:r>
              <a:rPr lang="zh-CN" altLang="en-US"/>
              <a:t>和</a:t>
            </a:r>
            <a:r>
              <a:rPr lang="en-US" altLang="zh-CN"/>
              <a:t>100</a:t>
            </a:r>
            <a:r>
              <a:rPr lang="zh-CN" altLang="en-US"/>
              <a:t>次置换。开发版三个独立进程分别为</a:t>
            </a:r>
            <a:r>
              <a:rPr lang="en-US" altLang="zh-CN"/>
              <a:t>1.574</a:t>
            </a:r>
            <a:r>
              <a:rPr lang="zh-CN" altLang="en-US"/>
              <a:t>、</a:t>
            </a:r>
            <a:r>
              <a:rPr lang="en-US" altLang="zh-CN"/>
              <a:t>1.530</a:t>
            </a:r>
            <a:r>
              <a:rPr lang="zh-CN" altLang="en-US"/>
              <a:t>和</a:t>
            </a:r>
            <a:r>
              <a:rPr lang="en-US" altLang="zh-CN"/>
              <a:t>1.987</a:t>
            </a:r>
            <a:r>
              <a:rPr lang="zh-CN" altLang="en-US"/>
              <a:t>秒。两版各取中位数后比值</a:t>
            </a:r>
            <a:r>
              <a:rPr lang="en-US" altLang="zh-CN"/>
              <a:t>114.67</a:t>
            </a:r>
            <a:r>
              <a:rPr lang="zh-CN" altLang="en-US"/>
              <a:t>，采用的是中位数之比。每次成对结果概率和</a:t>
            </a:r>
            <a:r>
              <a:rPr lang="en-US" altLang="zh-CN"/>
              <a:t>P</a:t>
            </a:r>
            <a:r>
              <a:rPr lang="zh-CN" altLang="en-US"/>
              <a:t>值精确一致。合成实验有利于控制规模，但不代表真实生物学分布。
数据与资料来源
</a:t>
            </a:r>
            <a:r>
              <a:rPr lang="en-US" altLang="zh-CN"/>
              <a:t>E:\Jin\cellchat.python_new\cellchat10.20\results\benchmarks\REPORT.md
E:\Jin\cellchat.python_new\cellchat10.20\results\benchmarks\synthetic100000_b100\summary.json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2411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百万规模测试资源预算下是否可完成。输入百万合成细胞、</a:t>
            </a:r>
            <a:r>
              <a:rPr lang="en-US" altLang="zh-CN"/>
              <a:t>256</a:t>
            </a:r>
            <a:r>
              <a:rPr lang="zh-CN" altLang="en-US"/>
              <a:t>基因、</a:t>
            </a:r>
            <a:r>
              <a:rPr lang="en-US" altLang="zh-CN"/>
              <a:t>10</a:t>
            </a:r>
            <a:r>
              <a:rPr lang="zh-CN" altLang="en-US"/>
              <a:t>群体、</a:t>
            </a:r>
            <a:r>
              <a:rPr lang="en-US" altLang="zh-CN"/>
              <a:t>100</a:t>
            </a:r>
            <a:r>
              <a:rPr lang="zh-CN" altLang="en-US"/>
              <a:t>对</a:t>
            </a:r>
            <a:r>
              <a:rPr lang="en-US" altLang="zh-CN"/>
              <a:t>LR</a:t>
            </a:r>
            <a:r>
              <a:rPr lang="zh-CN" altLang="en-US"/>
              <a:t>和</a:t>
            </a:r>
            <a:r>
              <a:rPr lang="en-US" altLang="zh-CN"/>
              <a:t>100</a:t>
            </a:r>
            <a:r>
              <a:rPr lang="zh-CN" altLang="en-US"/>
              <a:t>次置换，闭包</a:t>
            </a:r>
            <a:r>
              <a:rPr lang="en-US" altLang="zh-CN"/>
              <a:t>59</a:t>
            </a:r>
            <a:r>
              <a:rPr lang="zh-CN" altLang="en-US"/>
              <a:t>基因。新内核</a:t>
            </a:r>
            <a:r>
              <a:rPr lang="en-US" altLang="zh-CN"/>
              <a:t>29.903</a:t>
            </a:r>
            <a:r>
              <a:rPr lang="zh-CN" altLang="en-US"/>
              <a:t>秒，进程</a:t>
            </a:r>
            <a:r>
              <a:rPr lang="en-US" altLang="zh-CN"/>
              <a:t>60.719</a:t>
            </a:r>
            <a:r>
              <a:rPr lang="zh-CN" altLang="en-US"/>
              <a:t>秒，峰值</a:t>
            </a:r>
            <a:r>
              <a:rPr lang="en-US" altLang="zh-CN"/>
              <a:t>RSS1543.160MiB</a:t>
            </a:r>
            <a:r>
              <a:rPr lang="zh-CN" altLang="en-US"/>
              <a:t>。基线</a:t>
            </a:r>
            <a:r>
              <a:rPr lang="en-US" altLang="zh-CN"/>
              <a:t>58.937</a:t>
            </a:r>
            <a:r>
              <a:rPr lang="zh-CN" altLang="en-US"/>
              <a:t>秒触及</a:t>
            </a:r>
            <a:r>
              <a:rPr lang="en-US" altLang="zh-CN"/>
              <a:t>4GiB</a:t>
            </a:r>
            <a:r>
              <a:rPr lang="zh-CN" altLang="en-US"/>
              <a:t>私有内存预算而停止，没有参考输出。因此只能报告容量可行性，不能报告该规模一致性或倍数，也不能外推任意全</a:t>
            </a:r>
            <a:r>
              <a:rPr lang="en-US" altLang="zh-CN"/>
              <a:t>LR</a:t>
            </a:r>
            <a:r>
              <a:rPr lang="zh-CN" altLang="en-US"/>
              <a:t>真实百万图谱。
数据与资料来源
</a:t>
            </a:r>
            <a:r>
              <a:rPr lang="en-US" altLang="zh-CN"/>
              <a:t>E:\Jin\cellchat.python_new\cellchat10.20\results\benchmarks\REPORT.md
E:\Jin\cellchat.python_new\cellchat10.20\results\benchmarks\synthetic1000000_b100\summary.json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323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5000</a:t>
            </a:r>
            <a:r>
              <a:rPr lang="zh-CN" altLang="en-US"/>
              <a:t>细胞、</a:t>
            </a:r>
            <a:r>
              <a:rPr lang="en-US" altLang="zh-CN"/>
              <a:t>256</a:t>
            </a:r>
            <a:r>
              <a:rPr lang="zh-CN" altLang="en-US"/>
              <a:t>基因、</a:t>
            </a:r>
            <a:r>
              <a:rPr lang="en-US" altLang="zh-CN"/>
              <a:t>100</a:t>
            </a:r>
            <a:r>
              <a:rPr lang="zh-CN" altLang="en-US"/>
              <a:t>对</a:t>
            </a:r>
            <a:r>
              <a:rPr lang="en-US" altLang="zh-CN"/>
              <a:t>LR</a:t>
            </a:r>
            <a:r>
              <a:rPr lang="zh-CN" altLang="en-US"/>
              <a:t>和</a:t>
            </a:r>
            <a:r>
              <a:rPr lang="en-US" altLang="zh-CN"/>
              <a:t>20</a:t>
            </a:r>
            <a:r>
              <a:rPr lang="zh-CN" altLang="en-US"/>
              <a:t>置换，每配置预热</a:t>
            </a:r>
            <a:r>
              <a:rPr lang="en-US" altLang="zh-CN"/>
              <a:t>1</a:t>
            </a:r>
            <a:r>
              <a:rPr lang="zh-CN" altLang="en-US"/>
              <a:t>次，再计时</a:t>
            </a:r>
            <a:r>
              <a:rPr lang="en-US" altLang="zh-CN"/>
              <a:t>3</a:t>
            </a:r>
            <a:r>
              <a:rPr lang="zh-CN" altLang="en-US"/>
              <a:t>次，轮换执行顺序。完整方案中位数</a:t>
            </a:r>
            <a:r>
              <a:rPr lang="en-US" altLang="zh-CN"/>
              <a:t>0.227</a:t>
            </a:r>
            <a:r>
              <a:rPr lang="zh-CN" altLang="en-US"/>
              <a:t>秒。关闭稀疏排序计划为</a:t>
            </a:r>
            <a:r>
              <a:rPr lang="en-US" altLang="zh-CN"/>
              <a:t>1.488</a:t>
            </a:r>
            <a:r>
              <a:rPr lang="zh-CN" altLang="en-US"/>
              <a:t>秒，即</a:t>
            </a:r>
            <a:r>
              <a:rPr lang="en-US" altLang="zh-CN"/>
              <a:t>6.55</a:t>
            </a:r>
            <a:r>
              <a:rPr lang="zh-CN" altLang="en-US"/>
              <a:t>倍时间，支持本例中排序复用的贡献。关闭裁剪反而略快，为</a:t>
            </a:r>
            <a:r>
              <a:rPr lang="en-US" altLang="zh-CN"/>
              <a:t>0.203</a:t>
            </a:r>
            <a:r>
              <a:rPr lang="zh-CN" altLang="en-US"/>
              <a:t>秒，所以裁剪不是所有规模都提速。九个输出全部精确一致。预热消融不能与独立新进程时间直接混用。
数据与资料来源
</a:t>
            </a:r>
            <a:r>
              <a:rPr lang="en-US" altLang="zh-CN"/>
              <a:t>E:\Jin\cellchat.python_new\cellchat10.20\validation\ablation.json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109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证据支持固定</a:t>
            </a:r>
            <a:r>
              <a:rPr lang="en-US" altLang="zh-CN"/>
              <a:t>Python</a:t>
            </a:r>
            <a:r>
              <a:rPr lang="zh-CN" altLang="en-US"/>
              <a:t>基线上的兼容性和性能改善，尚不能宣称优于全部实现或保证发表。真实数据重复、基线选择和环境控制要补强。全流程受其他步骤影响，</a:t>
            </a:r>
            <a:r>
              <a:rPr lang="en-US" altLang="zh-CN"/>
              <a:t>psoriasis</a:t>
            </a:r>
            <a:r>
              <a:rPr lang="zh-CN" altLang="en-US"/>
              <a:t>教程甚至稍慢。百万规模是合成数据，基线未完成。保留原始</a:t>
            </a:r>
            <a:r>
              <a:rPr lang="en-US" altLang="zh-CN"/>
              <a:t>P</a:t>
            </a:r>
            <a:r>
              <a:rPr lang="zh-CN" altLang="en-US"/>
              <a:t>值含零</a:t>
            </a:r>
            <a:r>
              <a:rPr lang="en-US" altLang="zh-CN"/>
              <a:t>P</a:t>
            </a:r>
            <a:r>
              <a:rPr lang="zh-CN" altLang="en-US"/>
              <a:t>值语义，是兼容研究的选择，不是统计修正。
数据与资料来源
</a:t>
            </a:r>
            <a:r>
              <a:rPr lang="en-US" altLang="zh-CN"/>
              <a:t>E:\Jin\cellchat.python_new\cellchat10.20\results\benchmarks\REPORT.md
E:\Jin\cellchat.python_new\cellchat10.20\METHOD.md
E:\Jin\cellchat.python_new\cellchat10.20\RESEARCH_POSITIONING.md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5086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建议定位为保持计算语义的可扩展推断方法。方法贡献是可复用稀疏顺序统计和不随置换数增长的内部存储组织，结合依赖分析。工程贡献是接入既有</a:t>
            </a:r>
            <a:r>
              <a:rPr lang="en-US" altLang="zh-CN"/>
              <a:t>API</a:t>
            </a:r>
            <a:r>
              <a:rPr lang="zh-CN" altLang="en-US"/>
              <a:t>并提供独立基线、完整教程和规模验证。投稿前需检索稀疏顺序统计、分组分位数及置换算法文献，确认差异。不能直接把算法部件宣称首创。
数据与资料来源
</a:t>
            </a:r>
            <a:r>
              <a:rPr lang="en-US" altLang="zh-CN"/>
              <a:t>E:\Jin\cellchat.python_new\cellchat10.20\RESEARCH_POSITIONING.md
E:\Jin\cellchat.python_new\cellchat10.20\METHOD.md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4038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最优先补论文证据链。先确认与</a:t>
            </a:r>
            <a:r>
              <a:rPr lang="en-US" altLang="zh-CN"/>
              <a:t>R</a:t>
            </a:r>
            <a:r>
              <a:rPr lang="zh-CN" altLang="en-US"/>
              <a:t>和已有</a:t>
            </a:r>
            <a:r>
              <a:rPr lang="en-US" altLang="zh-CN"/>
              <a:t>Python</a:t>
            </a:r>
            <a:r>
              <a:rPr lang="zh-CN" altLang="en-US"/>
              <a:t>实现的公平对照，再把真实数据重复做稳。随后用单因素规模曲线说明何时排序复用有效、何时输出张量主导内存。最后扩展组织和空间应用，记录完整流程时间。这些实验能帮助明确相对已有工作的价值和适用边界。
数据与资料来源
</a:t>
            </a:r>
            <a:r>
              <a:rPr lang="en-US" altLang="zh-CN"/>
              <a:t>E:\Jin\cellchat.python_new\cellchat10.20\RESEARCH_POSITIONING.md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5104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本次已从语言迁移推进到有明确算法结构、实现和验证证据的加速原型。核心是利用表达固定的不变量复用稀疏排序，逐次处理置换。真实</a:t>
            </a:r>
            <a:r>
              <a:rPr lang="en-US" altLang="zh-CN"/>
              <a:t>PBMC</a:t>
            </a:r>
            <a:r>
              <a:rPr lang="zh-CN" altLang="en-US"/>
              <a:t>和教程结果支持继续发展。讨论可聚焦目标期刊更看重算法分析还是软件实用性，以及首先补哪些比较实验。现场需要时再打开附录。
数据与资料来源
</a:t>
            </a:r>
            <a:r>
              <a:rPr lang="en-US" altLang="zh-CN"/>
              <a:t>E:\Jin\cellchat.python_new\cellchat10.20\RESULTS.md
E:\Jin\cellchat.python_new\cellchat10.20\results\benchmarks\REPORT.md
E:\Jin\cellchat.python_new\cellchat10.20\RESEARCH_POSITIONING.md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6572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总时间包含</a:t>
            </a:r>
            <a:r>
              <a:rPr lang="en-US" altLang="zh-CN"/>
              <a:t>notebook</a:t>
            </a:r>
            <a:r>
              <a:rPr lang="zh-CN" altLang="en-US"/>
              <a:t>其他处理与绘图，推断列只统计捕获到的细胞群推断调用。前三教程内核明显下降，多空间其他操作占比较大。</a:t>
            </a:r>
            <a:r>
              <a:rPr lang="en-US" altLang="zh-CN"/>
              <a:t>psoriasis</a:t>
            </a:r>
            <a:r>
              <a:rPr lang="zh-CN" altLang="en-US"/>
              <a:t>主要是未修改的</a:t>
            </a:r>
            <a:r>
              <a:rPr lang="en-US" altLang="zh-CN"/>
              <a:t>spot</a:t>
            </a:r>
            <a:r>
              <a:rPr lang="zh-CN" altLang="en-US"/>
              <a:t>工作流，总时间</a:t>
            </a:r>
            <a:r>
              <a:rPr lang="en-US" altLang="zh-CN"/>
              <a:t>118.83</a:t>
            </a:r>
            <a:r>
              <a:rPr lang="zh-CN" altLang="en-US"/>
              <a:t>秒到</a:t>
            </a:r>
            <a:r>
              <a:rPr lang="en-US" altLang="zh-CN"/>
              <a:t>122.07</a:t>
            </a:r>
            <a:r>
              <a:rPr lang="zh-CN" altLang="en-US"/>
              <a:t>秒，无重复置信区间，不能把这点变化解释成稳定退化。各教程以描述性结果报告。
数据与资料来源
</a:t>
            </a:r>
            <a:r>
              <a:rPr lang="en-US" altLang="zh-CN"/>
              <a:t>E:\Jin\cellchat.python_new\cellchat10.20\validation\tutorial_comparison_reference_development.json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0131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汇总五个规模配置。</a:t>
            </a:r>
            <a:r>
              <a:rPr lang="en-US" altLang="zh-CN"/>
              <a:t>PBMC</a:t>
            </a:r>
            <a:r>
              <a:rPr lang="zh-CN" altLang="en-US"/>
              <a:t>十次和百次置换各一对，五千和十万合成各三对，报告中位数。百万合成只有新引擎完成，基线和倍数留空。输出、进程记录与源码指纹在对应</a:t>
            </a:r>
            <a:r>
              <a:rPr lang="en-US" altLang="zh-CN"/>
              <a:t>summary.json</a:t>
            </a:r>
            <a:r>
              <a:rPr lang="zh-CN" altLang="en-US"/>
              <a:t>和</a:t>
            </a:r>
            <a:r>
              <a:rPr lang="en-US" altLang="zh-CN"/>
              <a:t>worker</a:t>
            </a:r>
            <a:r>
              <a:rPr lang="zh-CN" altLang="en-US"/>
              <a:t>文件中。内核比值不代表全流程加速，合成与真实数据不应合并解释为生物学扩展曲线。
数据与资料来源
</a:t>
            </a:r>
            <a:r>
              <a:rPr lang="en-US" altLang="zh-CN"/>
              <a:t>E:\Jin\cellchat.python_new\cellchat10.20\results\benchmarks\REPORT.md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5691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本表解释为什么单纯批量化不等于计算等价。缺失标签细胞虽不参与当前群统计，仍参与完整标签置换及</a:t>
            </a:r>
            <a:r>
              <a:rPr lang="en-US" altLang="zh-CN"/>
              <a:t>population</a:t>
            </a:r>
            <a:r>
              <a:rPr lang="zh-CN" altLang="en-US"/>
              <a:t>分母。稀疏重复索引先求和，显式与隐式零等价。外部置换逐列验证，避免额外分配整张矩阵。严格大于条件敏感，不用容差代替。详细案例保存在回归测试和</a:t>
            </a:r>
            <a:r>
              <a:rPr lang="en-US" altLang="zh-CN"/>
              <a:t>METHOD</a:t>
            </a:r>
            <a:r>
              <a:rPr lang="zh-CN" altLang="en-US"/>
              <a:t>中。
数据与资料来源
</a:t>
            </a:r>
            <a:r>
              <a:rPr lang="en-US" altLang="zh-CN"/>
              <a:t>E:\Jin\cellchat.python_new\cellchat10.20\METHOD.md
E:\Jin\cellchat.python_new\cellchat10.20\validation\combined_regression.xml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3742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工作目录为</a:t>
            </a:r>
            <a:r>
              <a:rPr lang="en-US" altLang="zh-CN"/>
              <a:t>cellchat10.20</a:t>
            </a:r>
            <a:r>
              <a:rPr lang="zh-CN" altLang="en-US"/>
              <a:t>。安装</a:t>
            </a:r>
            <a:r>
              <a:rPr lang="en-US" altLang="zh-CN"/>
              <a:t>development</a:t>
            </a:r>
            <a:r>
              <a:rPr lang="zh-CN" altLang="en-US"/>
              <a:t>的</a:t>
            </a:r>
            <a:r>
              <a:rPr lang="en-US" altLang="zh-CN"/>
              <a:t>accelerate</a:t>
            </a:r>
            <a:r>
              <a:rPr lang="zh-CN" altLang="en-US"/>
              <a:t>依赖。</a:t>
            </a:r>
            <a:r>
              <a:rPr lang="en-US" altLang="zh-CN"/>
              <a:t>run_checks.ps1</a:t>
            </a:r>
            <a:r>
              <a:rPr lang="zh-CN" altLang="en-US"/>
              <a:t>执行基线完整性、原发行和新算法测试，附加</a:t>
            </a:r>
            <a:r>
              <a:rPr lang="en-US" altLang="zh-CN"/>
              <a:t>Tutorials</a:t>
            </a:r>
            <a:r>
              <a:rPr lang="zh-CN" altLang="en-US"/>
              <a:t>或</a:t>
            </a:r>
            <a:r>
              <a:rPr lang="en-US" altLang="zh-CN"/>
              <a:t>LargeBenchmarks</a:t>
            </a:r>
            <a:r>
              <a:rPr lang="zh-CN" altLang="en-US"/>
              <a:t>可重跑相关任务。</a:t>
            </a:r>
            <a:r>
              <a:rPr lang="en-US" altLang="zh-CN"/>
              <a:t>validate_delivery</a:t>
            </a:r>
            <a:r>
              <a:rPr lang="zh-CN" altLang="en-US"/>
              <a:t>仅核验已有证据。迁移机器需重建</a:t>
            </a:r>
            <a:r>
              <a:rPr lang="en-US" altLang="zh-CN"/>
              <a:t>Python3.11</a:t>
            </a:r>
            <a:r>
              <a:rPr lang="zh-CN" altLang="en-US"/>
              <a:t>环境并使用</a:t>
            </a:r>
            <a:r>
              <a:rPr lang="en-US" altLang="zh-CN"/>
              <a:t>provenance</a:t>
            </a:r>
            <a:r>
              <a:rPr lang="zh-CN" altLang="en-US"/>
              <a:t>依赖记录，本机</a:t>
            </a:r>
            <a:r>
              <a:rPr lang="en-US" altLang="zh-CN"/>
              <a:t>venv</a:t>
            </a:r>
            <a:r>
              <a:rPr lang="zh-CN" altLang="en-US"/>
              <a:t>复用已有环境，不能假定复制即用。
数据与资料来源
</a:t>
            </a:r>
            <a:r>
              <a:rPr lang="en-US" altLang="zh-CN"/>
              <a:t>E:\Jin\cellchat.python_new\cellchat10.20\README.md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035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一致性回答区分此前</a:t>
            </a:r>
            <a:r>
              <a:rPr lang="en-US" altLang="zh-CN"/>
              <a:t>R/Python</a:t>
            </a:r>
            <a:r>
              <a:rPr lang="zh-CN" altLang="en-US"/>
              <a:t>验证与本次固定</a:t>
            </a:r>
            <a:r>
              <a:rPr lang="en-US" altLang="zh-CN"/>
              <a:t>Python</a:t>
            </a:r>
            <a:r>
              <a:rPr lang="zh-CN" altLang="en-US"/>
              <a:t>发布版对照。创新回答强调排序不变量、精确顺序统计和流式存储，承认还需文献比较。百万规模回答为合成容量，旧版触及预算，没有成对倍数。</a:t>
            </a:r>
            <a:r>
              <a:rPr lang="en-US" altLang="zh-CN"/>
              <a:t>82</a:t>
            </a:r>
            <a:r>
              <a:rPr lang="zh-CN" altLang="en-US"/>
              <a:t>倍回答明确内核范围和真实数据仅一对。这样能说明已完成成果及后续论文证据缺口。
数据与资料来源
</a:t>
            </a:r>
            <a:r>
              <a:rPr lang="en-US" altLang="zh-CN"/>
              <a:t>E:\Jin\cellchat.python_new\cellchat10.20\METHOD.md
E:\Jin\cellchat.python_new\cellchat10.20\results\benchmarks\REPORT.md
E:\Jin\cellchat.python_new\cellchat10.20\RESEARCH_POSITIONING.md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0472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原模型引用</a:t>
            </a:r>
            <a:r>
              <a:rPr lang="en-US" altLang="zh-CN"/>
              <a:t>Jin</a:t>
            </a:r>
            <a:r>
              <a:rPr lang="zh-CN" altLang="en-US"/>
              <a:t>等</a:t>
            </a:r>
            <a:r>
              <a:rPr lang="en-US" altLang="zh-CN"/>
              <a:t>2021</a:t>
            </a:r>
            <a:r>
              <a:rPr lang="zh-CN" altLang="en-US"/>
              <a:t>年</a:t>
            </a:r>
            <a:r>
              <a:rPr lang="en-US" altLang="zh-CN"/>
              <a:t>CellChat</a:t>
            </a:r>
            <a:r>
              <a:rPr lang="zh-CN" altLang="en-US"/>
              <a:t>论文，软件和教程引用项目</a:t>
            </a:r>
            <a:r>
              <a:rPr lang="en-US" altLang="zh-CN"/>
              <a:t>GitHub</a:t>
            </a:r>
            <a:r>
              <a:rPr lang="zh-CN" altLang="en-US"/>
              <a:t>及</a:t>
            </a:r>
            <a:r>
              <a:rPr lang="en-US" altLang="zh-CN"/>
              <a:t>Read the Docs</a:t>
            </a:r>
            <a:r>
              <a:rPr lang="zh-CN" altLang="en-US"/>
              <a:t>。方法、性能、数值证据按相对</a:t>
            </a:r>
            <a:r>
              <a:rPr lang="en-US" altLang="zh-CN"/>
              <a:t>cellchat10.20</a:t>
            </a:r>
            <a:r>
              <a:rPr lang="zh-CN" altLang="en-US"/>
              <a:t>路径列出。每页备注保留完整来源。后续论文应增加算法相关文献和竞品正式引用，目前资料支持实现验证报告，不代表已完成系统文献综述。
数据与资料来源
</a:t>
            </a:r>
            <a:r>
              <a:rPr lang="en-US" altLang="zh-CN"/>
              <a:t>https://doi.org/10.1038/s41467-021-21246-9
https://github.com/wyuanhang03-web/CellChatPy
https://cellchatpy.readthedocs.io/en/latest/
E:\Jin\cellchat.python_new\cellchat10.20\METHOD.md
E:\Jin\cellchat.python_new\cellchat10.20\results\benchmarks\REPORT.md
E:\Jin\cellchat.python_new\cellchat10.20\validation\tutorial_comparison_reference_development.json
E:\Jin\cellchat.python_new\cellchat10.20\validation\tutorial_saved_object_comparison.json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F88B8-209B-48C5-B116-4492AAB4E54F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169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EECA8-2996-5558-6619-366B1BE6C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BEC335-C562-94E2-479A-B1527ACD1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8EB09F-61FC-C053-D109-B3084CE7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683284-159E-6DD8-1D96-11955B6F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489A8-9477-CE4F-36F1-2C542CBB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244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AB76B-AF0E-F47C-6310-8255690D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59D82C-6A60-2745-688E-354D19809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0D9677-D4A4-16CB-7296-E596AED79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F3197-75F1-3BE9-BFC0-469BE7BE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DF74FF-1C0B-04A5-50B5-97F67E5C4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099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0F4DB-AE86-2AAD-8244-A00F9041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E4B9D-50D5-5E25-8985-CED4ABD2B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EC979D-52F3-BB8E-47A9-9EDA3698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DB2426-5C8C-C585-11F6-84C35A9E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74632-B4F8-ACCE-5318-9A537886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425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0382E-F40B-370F-3CAF-CF642191B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20BB0E-0E06-F3DB-861B-C520A0492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7F1471-F8BF-3214-7AAB-ADCB1145A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5E671A-6AED-F418-38B2-526C5CD6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F370C2-F9CE-7E5D-61AB-4CD76149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AC8D6-318E-2756-1626-BDDB5A1B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61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ED61A-C755-6088-11C1-4963DD6F0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2AD902-403F-A37C-EE66-0174BA943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084083-C522-8D5D-7008-C7696B24C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50AE6F-0A29-CA2C-63FA-11017954C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9B3C48-975A-4BB4-779D-F08451C03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7AFD78-6C4C-355D-24D5-FC34F508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4630B8-3EE4-AE5D-8790-D230A6263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40A389-2708-D995-01D8-D85AE67C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381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0F676-0731-233A-159E-77D1DEEE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6B65F0-41A5-F8F8-77C1-4B444EF5C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DDA635-31B5-2FFD-2DE6-A887E21F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331FDF-8617-2118-C71F-27354F02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1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8F37BB-3A84-5335-9067-1CB9CBC8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9AC399-9997-FF49-979A-F727F569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7ECEE9-A577-6E36-10EB-434421F9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76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16C07-73D3-FB51-C72C-137071D62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5516FA-DAF9-99CB-F623-79D03E9C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DDF02E-2DEA-180B-7443-A81382286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5FC46A-A4E3-ABA5-A83E-61103200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480E13-7AB6-0AB2-D978-42E9B297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17273-CB45-62E3-81DB-71C4F832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9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8E984-1BE8-F715-CB3E-03F2BBC64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2329D5-E104-8AC5-9C29-15C2C409E76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66E775-18AE-ABFB-8A93-A055B3F3F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CA238C-1D2A-3BB3-481A-EA15328C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0AEFAB-BD39-A624-141D-8CB72E82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249AFD-A47F-ECBE-244C-D47DAC8A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638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5F4E8-7558-EA76-E6DE-3794D1DB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2669-2C62-A7B6-19AD-C69B08889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20271D-BB23-D153-5FCC-19022B29F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90A645-2BEF-5809-C992-4EF527FC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1C8CBB-B6F8-62B1-A379-57267724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8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E0D968-7DE9-BC1F-80E7-DEB95A56B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B3876C-909A-41AF-A950-9B89254AF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C105B-F27B-0AA2-B690-FB8709BC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1F77E5-74F4-68E5-8094-8E6FF796D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39B5D0-8698-9552-FBDD-BE599434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91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E7CE57-201A-AEA9-A7BA-FC17B344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15B8D7-B350-AB37-CF13-F16B25353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AA38B6-169F-251E-F5C2-CD9EDB18F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9BBA9-DF48-44B0-8D86-3D80ECA1EC8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64B5DD-58AA-6D27-6F78-77FD9EA15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36FDA2-E4B3-BE03-4576-D030D2B37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63EF7-3BE5-49C6-AB0F-83A7AB6CB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83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2">
            <a:extLst>
              <a:ext uri="{FF2B5EF4-FFF2-40B4-BE49-F238E27FC236}">
                <a16:creationId xmlns:a16="http://schemas.microsoft.com/office/drawing/2014/main" id="{5840D6D3-3621-D1A6-A901-7EAD8145DF8D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ource 3">
            <a:extLst>
              <a:ext uri="{FF2B5EF4-FFF2-40B4-BE49-F238E27FC236}">
                <a16:creationId xmlns:a16="http://schemas.microsoft.com/office/drawing/2014/main" id="{0B14BFB0-60FB-0E86-F66A-C1D8D1BDC84E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README.md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4A8C965-1082-3AFE-57CC-EB3D36C1B76C}"/>
              </a:ext>
            </a:extLst>
          </p:cNvPr>
          <p:cNvSpPr txBox="1"/>
          <p:nvPr/>
        </p:nvSpPr>
        <p:spPr>
          <a:xfrm>
            <a:off x="609600" y="1333499"/>
            <a:ext cx="10972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6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保持 </a:t>
            </a:r>
            <a:r>
              <a:rPr lang="en-US" altLang="zh-CN" sz="36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CellChat </a:t>
            </a:r>
            <a:r>
              <a:rPr lang="zh-CN" altLang="en-US" sz="36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计算定义的</a:t>
            </a: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908641C-D99C-06DF-A953-4E0FDB57DA12}"/>
              </a:ext>
            </a:extLst>
          </p:cNvPr>
          <p:cNvSpPr txBox="1"/>
          <p:nvPr/>
        </p:nvSpPr>
        <p:spPr>
          <a:xfrm>
            <a:off x="609600" y="2222499"/>
            <a:ext cx="10972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40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大规模、低内存通讯推断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B1DF48A-5362-30FC-B204-8A135F519AD4}"/>
              </a:ext>
            </a:extLst>
          </p:cNvPr>
          <p:cNvSpPr txBox="1"/>
          <p:nvPr/>
        </p:nvSpPr>
        <p:spPr>
          <a:xfrm>
            <a:off x="609600" y="3657599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5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CellChatPy </a:t>
            </a:r>
            <a:r>
              <a:rPr lang="zh-CN" altLang="en-US" sz="25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开发与验证汇报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67F1A11-6A41-CFF2-740D-CFA382A18EBB}"/>
              </a:ext>
            </a:extLst>
          </p:cNvPr>
          <p:cNvSpPr txBox="1"/>
          <p:nvPr/>
        </p:nvSpPr>
        <p:spPr>
          <a:xfrm>
            <a:off x="609600" y="4635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8AC9928-D8E8-8B6F-B907-F4F5ABC32CF9}"/>
              </a:ext>
            </a:extLst>
          </p:cNvPr>
          <p:cNvSpPr txBox="1"/>
          <p:nvPr/>
        </p:nvSpPr>
        <p:spPr>
          <a:xfrm>
            <a:off x="609600" y="5333999"/>
            <a:ext cx="10972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研究对象：细胞群层面通讯概率与置换检验</a:t>
            </a:r>
          </a:p>
        </p:txBody>
      </p:sp>
    </p:spTree>
    <p:extLst>
      <p:ext uri="{BB962C8B-B14F-4D97-AF65-F5344CB8AC3E}">
        <p14:creationId xmlns:p14="http://schemas.microsoft.com/office/powerpoint/2010/main" val="3846082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28D5898-7D22-15B9-CAB0-4954E1E6AC59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本次完成的工作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3CB185CA-0DC6-273B-446E-A098C7328E2C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A22C90D6-838D-8E3A-F72A-069BAD529158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0625FFCB-7736-91E6-A21F-DD12B4F4BF7D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实现：保持计算定义的 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streaming 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引擎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9F08C88-BFD6-B01D-5678-F553CCBB9C2C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复用稀疏排序、流式置换、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分块和基因依赖裁剪。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DA3DCB0-9E9B-7B2A-5592-7A94E0D8A96E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验证：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303 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项回归测试通过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55263A2-4141-E5DF-9E18-69B9F852416B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本教程在两版本中完整执行，核心概率和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值一致。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B3DFBD3-035E-86A8-E78C-5F1FB7867D3C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性能：真实 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PBMC 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推断内核加速 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82.18 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86F2BFC-8FB4-7695-5F4A-36A89BD8A9DA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68,579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个细胞，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3,072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对候选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次置换。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60C37505-07E7-2F2B-3E62-C8FD32F215B7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容量：百万合成细胞完成推断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5DEDB6A8-725D-DD01-CD31-B8FE08A6AC13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内核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29.90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秒，进程峰值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RSS 1,543.16 MiB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04E6AFE8-78C2-A64E-0599-E34FC5BC532C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性能基线为固定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GitHub Python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版。百万细胞为合成容量测试。</a:t>
            </a:r>
          </a:p>
        </p:txBody>
      </p:sp>
    </p:spTree>
    <p:extLst>
      <p:ext uri="{BB962C8B-B14F-4D97-AF65-F5344CB8AC3E}">
        <p14:creationId xmlns:p14="http://schemas.microsoft.com/office/powerpoint/2010/main" val="1458504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4E03CB1-D710-1C41-558C-0924BC4EA5CB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研究背景与目标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F8CAC5B8-3D77-CF57-CB07-7783B855E1A9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F46C4425-A268-0D5D-9C0A-8A3D2802D597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https://doi.org/10.1038/s41467-021-21246-9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850DB74-DABA-12FE-CD95-04703D090959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已有工作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A9F966E-D24E-13B9-05EF-8563F468BB91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CellChat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原文提出通讯推断方法，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CellChatPy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迁移。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384B773-3312-E699-0B28-2454216521A4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当前问题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A281695-BBE2-D106-5DA7-5409D5400C32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细胞数和置换次数增加时，重复统计及中间数据占用成为负担。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EBA5A4D-5AE7-7CCC-2801-C7DF9236F5D3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本次目标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5D93E16D-9CE2-F228-5D39-BA99362CB2BE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保持模型、置换次数和显著性规则，降低计算时间与工作内存。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6FF2692-CF9D-40E9-133F-F1DF27EA54B8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研究范围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C710BB3B-2B48-4ECA-DA38-6E8812D71C08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优化细胞群推断函数，空间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spot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推断沿用原实现。</a:t>
            </a:r>
          </a:p>
        </p:txBody>
      </p:sp>
    </p:spTree>
    <p:extLst>
      <p:ext uri="{BB962C8B-B14F-4D97-AF65-F5344CB8AC3E}">
        <p14:creationId xmlns:p14="http://schemas.microsoft.com/office/powerpoint/2010/main" val="380394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7152FF4-EF31-01F7-B3BD-93413AF46285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基线来源与开发版本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9C4E7AD3-8B9C-E930-BFC4-687311203ABF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5E768753-FB2A-66BC-898D-FBB4159DE19C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README.md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F53B07D-4B13-E56D-7757-E3415F8177FA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 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GitHub 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64DF964-FA4F-A31B-086E-5CB5B606CEA6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986bf7ef909f1e15059aad8a9a9ee31ac675ffc3</a:t>
            </a:r>
            <a:endParaRPr lang="zh-CN" altLang="en-US" sz="1900">
              <a:solidFill>
                <a:srgbClr val="2227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FC064FB-B81D-77F3-E514-EC00388B87AD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本地文件不能直接视为发布版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63D62AF-A8BB-C0C0-B738-EB18B7069AF5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CellChatPy_GitHub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HEAD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相同，但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modeling.py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存在未提交改动。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ED04EC9-F9B3-E0A7-4844-F8AD33D5C720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独立提取与核对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B64648D4-6E7A-7AFA-9F2F-92AB4CD6EBC7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对象提取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upstream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，核验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393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个基线文件。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BF3E9BF-DEEE-F6F9-761D-359CF4B085D7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开发交付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B3C36B15-E380-8F1B-0564-F4590FE70359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development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版本：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1.1.0+streaming.20261020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，尚未公开发布。</a:t>
            </a:r>
          </a:p>
        </p:txBody>
      </p:sp>
    </p:spTree>
    <p:extLst>
      <p:ext uri="{BB962C8B-B14F-4D97-AF65-F5344CB8AC3E}">
        <p14:creationId xmlns:p14="http://schemas.microsoft.com/office/powerpoint/2010/main" val="217314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1FA4D74-CA67-62C1-64E3-99F39101EB82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必须保持的计算定义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10534293-59D7-2312-56CF-0DD8BEB716A0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C0DB285C-7883-5CAD-62EC-914FE88C82C4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408EA7D-A472-FD66-9B31-26F5E38972EE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表达统计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EC1FB5E-2038-D69A-486E-E6B2B6F367FF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triMean / median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等原定义，保持群体顺序与缺失标签语义。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A9CB0B9-0548-3065-C6BD-259A991FB59B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概率模型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DBB913E4-68CD-5C1F-FEA8-6640B612CE0F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保留复合物、共受体、激动剂、拮抗剂及空间约束的原公式。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BFFB220-10E1-8B94-B262-C8644441C396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归一化与随机性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BDCD3A80-555B-D5DF-DFEE-0CD822A6E49C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先用完整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signaling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基因确定尺度，保持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RNG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序列与调用后状态。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1BAB51D-2C80-BCD8-B89E-FE35346D1751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置换 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B22EC3B8-1B47-2B64-A384-18B04BF8993A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= count(Pboot − Pobs &gt; 0) / B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Pobs = 0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= 1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7267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89A9AD1-7A21-7AB8-B8A9-C875BC65C7A6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原实现中可重组的计算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231FA72C-E715-825C-BED0-55976F356BD5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A84899E1-EDDD-EC98-113A-2C4A47402212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FFBA8AD-8872-9E72-08F0-E4C585E973A8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重复计算群体表达统计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5A03D4A6-AA81-D33D-947F-6D3A63754345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每次置换重新按群体提取表达并计算分位数。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0B0BE03-B83E-9460-F3DA-16CF56DE324C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集中保留置换中间数据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7FDDFEE-E225-0931-A041-4E82BDC0C2F1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置换索引和统计结果的储存量随置换次数增长。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E0B2770-68DD-4C01-029A-B917AFB63C40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重复解析相同依赖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54213802-D27A-8BD6-3114-F7401E52A030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与辅因子存在共享基因和复合物。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2E6813A2-3D55-5500-F7B9-305F9FC506C8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构造未返回的长格式表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4ECFADE-1C83-10A9-6211-499157579817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省去无输出副作用的末尾构造，公开表格接口保留。</a:t>
            </a:r>
          </a:p>
        </p:txBody>
      </p:sp>
    </p:spTree>
    <p:extLst>
      <p:ext uri="{BB962C8B-B14F-4D97-AF65-F5344CB8AC3E}">
        <p14:creationId xmlns:p14="http://schemas.microsoft.com/office/powerpoint/2010/main" val="2431167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A7FBE3D-A637-FC74-4A9D-A0B013AD2046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新引擎的计算流程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13E3B3A9-9E79-52E3-C6C7-516527211788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CF08641D-95BF-1E3D-BBDA-7354E0BD4B23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92E7769-FE0F-2A97-16CB-AE44E37D0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774963"/>
              </p:ext>
            </p:extLst>
          </p:nvPr>
        </p:nvGraphicFramePr>
        <p:xfrm>
          <a:off x="609600" y="1524000"/>
          <a:ext cx="109728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427653560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82651018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63058136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阶段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执行内容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保留的数据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31104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一次准备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完整归一化、依赖闭包、稀疏排序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表达及可复用排序计划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95750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观测统计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群体表达与观测通讯概率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Pobs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与结果轴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78723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逐次置换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一份标签、一份群体统计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当前置换工作区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77887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LR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分块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计算当前概率并累计严格超越次数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计数器与受限临时张量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21329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结果写回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计数除以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，保留网络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API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概率、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值及执行信息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452322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6F9283E3-A3BA-C2E4-EDA7-BC007AD8E5C0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主要复用对象是表达值的排序。置换仍按原规则完整执行。</a:t>
            </a:r>
          </a:p>
        </p:txBody>
      </p:sp>
    </p:spTree>
    <p:extLst>
      <p:ext uri="{BB962C8B-B14F-4D97-AF65-F5344CB8AC3E}">
        <p14:creationId xmlns:p14="http://schemas.microsoft.com/office/powerpoint/2010/main" val="235375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C379501-6EE3-FAAA-2445-DEC48AE673CB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稀疏排序复用：一个具体例子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8BAA8E21-2A56-6409-AD12-2436A7C32574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1C1DFBFB-5D99-3B84-791B-4A5DE3BDCD6E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5158A885-2204-72B0-C66C-AF79341F23B5}"/>
              </a:ext>
            </a:extLst>
          </p:cNvPr>
          <p:cNvSpPr txBox="1"/>
          <p:nvPr/>
        </p:nvSpPr>
        <p:spPr>
          <a:xfrm>
            <a:off x="609600" y="1422399"/>
            <a:ext cx="109728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表达：</a:t>
            </a:r>
            <a:r>
              <a:rPr lang="en-US" altLang="zh-CN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[0, 2, 0, 5, 1, 0, 3, 0]</a:t>
            </a:r>
            <a:r>
              <a:rPr lang="zh-CN" altLang="en-US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，对应细胞 </a:t>
            </a:r>
            <a:r>
              <a:rPr lang="en-US" altLang="zh-CN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c1 </a:t>
            </a:r>
            <a:r>
              <a:rPr lang="zh-CN" altLang="en-US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至 </a:t>
            </a:r>
            <a:r>
              <a:rPr lang="en-US" altLang="zh-CN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c8</a:t>
            </a:r>
            <a:endParaRPr lang="zh-CN" altLang="en-US" sz="2100">
              <a:solidFill>
                <a:srgbClr val="2227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5975153E-3905-8A8B-8A14-2A64C2FF9866}"/>
              </a:ext>
            </a:extLst>
          </p:cNvPr>
          <p:cNvSpPr txBox="1"/>
          <p:nvPr/>
        </p:nvSpPr>
        <p:spPr>
          <a:xfrm>
            <a:off x="609600" y="2070099"/>
            <a:ext cx="109728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一次排序：</a:t>
            </a:r>
            <a:r>
              <a:rPr lang="en-US" altLang="zh-CN" sz="2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1(c5), 2(c2), 3(c7), 5(c4)</a:t>
            </a:r>
            <a:endParaRPr lang="zh-CN" altLang="en-US" sz="2200" b="1">
              <a:solidFill>
                <a:srgbClr val="244B6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5793190-0E59-68E1-A7B6-B7AEE4044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397845"/>
              </p:ext>
            </p:extLst>
          </p:nvPr>
        </p:nvGraphicFramePr>
        <p:xfrm>
          <a:off x="609600" y="2870200"/>
          <a:ext cx="1097280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47172959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277586089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750550002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本次置换标签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非零有序子序列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含隐式零的完整顺序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879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c2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c4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c5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c8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1(c5), 2(c2), 5(c4)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[0, 1, 2, 5]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083107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c1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c3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c6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c7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3(c7)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[0, 0, 0, 3]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003903"/>
                  </a:ext>
                </a:extLst>
              </a:tr>
            </a:tbl>
          </a:graphicData>
        </a:graphic>
      </p:graphicFrame>
      <p:sp>
        <p:nvSpPr>
          <p:cNvPr id="8" name="Text 8">
            <a:extLst>
              <a:ext uri="{FF2B5EF4-FFF2-40B4-BE49-F238E27FC236}">
                <a16:creationId xmlns:a16="http://schemas.microsoft.com/office/drawing/2014/main" id="{239A92D8-3CCB-86FE-09B4-ADAD679072B0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置换改变细胞所属群体，不改变表达值的大小关系。完整零向量无需物化。</a:t>
            </a:r>
          </a:p>
        </p:txBody>
      </p:sp>
    </p:spTree>
    <p:extLst>
      <p:ext uri="{BB962C8B-B14F-4D97-AF65-F5344CB8AC3E}">
        <p14:creationId xmlns:p14="http://schemas.microsoft.com/office/powerpoint/2010/main" val="382131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C0F56E3-A0A2-0866-56B0-34F0309E01C7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分位数与严格比较的数值细节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08AF5258-C111-C748-99B6-8CD817083A89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14F4B96B-D24D-E0B8-0B03-98079A386465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0D3B3A4-EAA2-624F-0A06-A28B5080EC37}"/>
              </a:ext>
            </a:extLst>
          </p:cNvPr>
          <p:cNvSpPr txBox="1"/>
          <p:nvPr/>
        </p:nvSpPr>
        <p:spPr>
          <a:xfrm>
            <a:off x="609600" y="1422399"/>
            <a:ext cx="10972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s-ES" altLang="zh-CN" sz="26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triMean = (Q25 + 2 × Q50 + Q75) / 4</a:t>
            </a:r>
            <a:endParaRPr lang="zh-CN" altLang="en-US" sz="2600" b="1">
              <a:solidFill>
                <a:srgbClr val="244B6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967BAC7-3C09-5286-6153-3B5C1A293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75131"/>
              </p:ext>
            </p:extLst>
          </p:nvPr>
        </p:nvGraphicFramePr>
        <p:xfrm>
          <a:off x="609600" y="229870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90102146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37536398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5972472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81434659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66318436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群体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Q25</a:t>
                      </a:r>
                      <a:endParaRPr lang="zh-CN" altLang="en-US" sz="2000" b="1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Q50</a:t>
                      </a:r>
                      <a:endParaRPr lang="zh-CN" altLang="en-US" sz="2000" b="1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Q75</a:t>
                      </a:r>
                      <a:endParaRPr lang="zh-CN" altLang="en-US" sz="2000" b="1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triMean</a:t>
                      </a:r>
                      <a:endParaRPr lang="zh-CN" altLang="en-US" sz="2000" b="1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89788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0, 1, 2, 5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0.75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1.50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2.75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1.625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15896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0, 0, 0, 3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0.75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0.1875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19360"/>
                  </a:ext>
                </a:extLst>
              </a:tr>
            </a:tbl>
          </a:graphicData>
        </a:graphic>
      </p:graphicFrame>
      <p:sp>
        <p:nvSpPr>
          <p:cNvPr id="7" name="Text 7">
            <a:extLst>
              <a:ext uri="{FF2B5EF4-FFF2-40B4-BE49-F238E27FC236}">
                <a16:creationId xmlns:a16="http://schemas.microsoft.com/office/drawing/2014/main" id="{00D09EAF-2815-E3FE-FC01-D3A0A5BF7A97}"/>
              </a:ext>
            </a:extLst>
          </p:cNvPr>
          <p:cNvSpPr txBox="1"/>
          <p:nvPr/>
        </p:nvSpPr>
        <p:spPr>
          <a:xfrm>
            <a:off x="609600" y="4698999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实现保留 </a:t>
            </a:r>
            <a:r>
              <a:rPr lang="en-US" altLang="zh-CN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NumPy </a:t>
            </a:r>
            <a:r>
              <a:rPr lang="zh-CN" altLang="en-US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插值规则与严格超越比较。
不启用 </a:t>
            </a:r>
            <a:r>
              <a:rPr lang="en-US" altLang="zh-CN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fastmath</a:t>
            </a:r>
            <a:r>
              <a:rPr lang="zh-CN" altLang="en-US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，不用误差容忍值替代 </a:t>
            </a:r>
            <a:r>
              <a:rPr lang="en-US" altLang="zh-CN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值判定。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6A897C-6ABE-A770-881B-C9505727A079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示例仅用于算法说明。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median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另保留原始中位值计算方式。</a:t>
            </a:r>
          </a:p>
        </p:txBody>
      </p:sp>
    </p:spTree>
    <p:extLst>
      <p:ext uri="{BB962C8B-B14F-4D97-AF65-F5344CB8AC3E}">
        <p14:creationId xmlns:p14="http://schemas.microsoft.com/office/powerpoint/2010/main" val="1648436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1809D6E-7FF2-0CA5-9C0B-4DC0F275FA0C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流式置换的内存收益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4AF35BDC-84C3-3376-46CD-79CE7FB94425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9AF023E9-2BA9-EABB-3429-0569FED367EA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C9EBBC-09D7-47AB-6AB9-056BE670B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072921"/>
              </p:ext>
            </p:extLst>
          </p:nvPr>
        </p:nvGraphicFramePr>
        <p:xfrm>
          <a:off x="609600" y="1549400"/>
          <a:ext cx="1097280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194796936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01813943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1847911885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 = 1,000,000</a:t>
                      </a: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 = 100</a:t>
                      </a:r>
                      <a:endParaRPr lang="zh-CN" altLang="en-US" sz="2100" b="1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索引数量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理论索引内存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21208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集中存储全部置换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 × B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762.94 MiB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3903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每次保留一个置换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7.63 MiB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79515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E49363A0-6975-1E0F-8D40-C5C5F3CB30E6}"/>
              </a:ext>
            </a:extLst>
          </p:cNvPr>
          <p:cNvSpPr txBox="1"/>
          <p:nvPr/>
        </p:nvSpPr>
        <p:spPr>
          <a:xfrm>
            <a:off x="609600" y="4216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统计量和概率同步流式处理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8368AE9-C50B-138A-F5F2-118A7816B61C}"/>
              </a:ext>
            </a:extLst>
          </p:cNvPr>
          <p:cNvSpPr txBox="1"/>
          <p:nvPr/>
        </p:nvSpPr>
        <p:spPr>
          <a:xfrm>
            <a:off x="609600" y="46227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不保存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× G × K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统计量或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× L × K²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概率张量。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874D1A1-B25B-71BA-DD1F-10BE24BCC227}"/>
              </a:ext>
            </a:extLst>
          </p:cNvPr>
          <p:cNvSpPr txBox="1"/>
          <p:nvPr/>
        </p:nvSpPr>
        <p:spPr>
          <a:xfrm>
            <a:off x="609600" y="5003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固定输出仍然保留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4B962D9-B99F-3430-AB53-F2C53A7F77D9}"/>
              </a:ext>
            </a:extLst>
          </p:cNvPr>
          <p:cNvSpPr txBox="1"/>
          <p:nvPr/>
        </p:nvSpPr>
        <p:spPr>
          <a:xfrm>
            <a:off x="609600" y="54101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观测概率、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值和计数器的规模仍由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 × K²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决定。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3538903D-6CF0-8967-889B-8BC3748D82A4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上述为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int64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索引的理论容量，不能替代进程峰值内存实测。</a:t>
            </a:r>
          </a:p>
        </p:txBody>
      </p:sp>
    </p:spTree>
    <p:extLst>
      <p:ext uri="{BB962C8B-B14F-4D97-AF65-F5344CB8AC3E}">
        <p14:creationId xmlns:p14="http://schemas.microsoft.com/office/powerpoint/2010/main" val="794521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16BD584-5C56-358B-3DC9-47E8144BFA7A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依赖裁剪与归一化顺序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B09B5BE8-7157-FC7C-B915-010708677DFC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8FBD7B65-2D96-AD7A-CC35-04053BB01F4E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71DEFFC-D3CD-E5F5-11E7-3C1325115748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依赖闭包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16BD3AA-4C63-D3F8-54A7-70FB295F7F38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由候选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、复合物和全部辅因子追踪所需基因。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11C569C-8DB6-6DEF-A8F0-EFC8EA278C2C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复用共享结果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6A5DF06-DE28-8E98-3130-B8FE5130A4D4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每次置换只解析一份相同复合物或辅因子表达。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68D1C06-3695-071D-6A23-0D40105CCE06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归一化必须先于裁剪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29E2559C-EFB9-5806-8ABD-4DFD55F56E7A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不参与当前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的基因，其最大表达仍可能影响全局尺度。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8E54EA9-C2C3-23C0-AF8E-8BDEF4DC58FB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示例：活跃基因 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，未使用基因 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endParaRPr lang="zh-CN" altLang="en-US" sz="2100" b="1">
              <a:solidFill>
                <a:srgbClr val="2227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072408B-CCBB-BF6F-FBF8-5530D46220CE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先归一化得到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。先裁剪再归一化会错误变成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25795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D5FEB67-D759-4300-BDBF-6DF0176D7C72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复杂度与低内存结论的范围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ED519410-3D47-D1A3-009F-3D0460C20E23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008F652F-BF11-35A5-2895-6F6E03F385AE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84DD1AD-097B-01C4-8963-A773DA3E58A3}"/>
              </a:ext>
            </a:extLst>
          </p:cNvPr>
          <p:cNvSpPr txBox="1"/>
          <p:nvPr/>
        </p:nvSpPr>
        <p:spPr>
          <a:xfrm>
            <a:off x="609600" y="1422399"/>
            <a:ext cx="109728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细胞，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基因，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群体，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非零项，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 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206B2FC-F992-4D78-594C-185AC30A7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347124"/>
              </p:ext>
            </p:extLst>
          </p:nvPr>
        </p:nvGraphicFramePr>
        <p:xfrm>
          <a:off x="609600" y="2133600"/>
          <a:ext cx="1097280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1228145454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3629995589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3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阶段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3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稀疏 </a:t>
                      </a:r>
                      <a:r>
                        <a:rPr lang="en-US" altLang="zh-CN" sz="23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triMean / median </a:t>
                      </a:r>
                      <a:r>
                        <a:rPr lang="zh-CN" altLang="en-US" sz="23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路径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56685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3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一次排序准备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pl-PL" altLang="zh-CN" sz="23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Σg O(zg log zg)</a:t>
                      </a:r>
                      <a:endParaRPr lang="zh-CN" altLang="en-US" sz="23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76194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3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全部置换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pl-PL" altLang="zh-CN" sz="23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O(B × (Z + G K + N + L K²))</a:t>
                      </a:r>
                      <a:endParaRPr lang="zh-CN" altLang="en-US" sz="23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072985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3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主要工作内存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pl-PL" altLang="zh-CN" sz="23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O(Z + N + G K + L K²)</a:t>
                      </a:r>
                      <a:endParaRPr lang="zh-CN" altLang="en-US" sz="23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06635"/>
                  </a:ext>
                </a:extLst>
              </a:tr>
            </a:tbl>
          </a:graphicData>
        </a:graphic>
      </p:graphicFrame>
      <p:sp>
        <p:nvSpPr>
          <p:cNvPr id="7" name="Text 7">
            <a:extLst>
              <a:ext uri="{FF2B5EF4-FFF2-40B4-BE49-F238E27FC236}">
                <a16:creationId xmlns:a16="http://schemas.microsoft.com/office/drawing/2014/main" id="{C5850F87-C9C0-F184-9DC6-F6F21950FCCE}"/>
              </a:ext>
            </a:extLst>
          </p:cNvPr>
          <p:cNvSpPr txBox="1"/>
          <p:nvPr/>
        </p:nvSpPr>
        <p:spPr>
          <a:xfrm>
            <a:off x="609600" y="5308599"/>
            <a:ext cx="109728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适用条件：内部生成置换。密集输入和均值回退有不同成本。
裁剪前归一化峰值、外部置换输入和固定输出仍需单独考虑。</a:t>
            </a:r>
          </a:p>
        </p:txBody>
      </p:sp>
    </p:spTree>
    <p:extLst>
      <p:ext uri="{BB962C8B-B14F-4D97-AF65-F5344CB8AC3E}">
        <p14:creationId xmlns:p14="http://schemas.microsoft.com/office/powerpoint/2010/main" val="116213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4FEEF4D-E491-CF11-B6AD-7DC46B91408C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实现与调用方式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06DD4F7B-D150-EF3C-CFE8-68E9C65EAEB9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BAED5200-407C-1886-F8F2-835CEF631F3C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5888A17-C9CD-A572-7DAB-F5E5EE9BC84A}"/>
              </a:ext>
            </a:extLst>
          </p:cNvPr>
          <p:cNvSpPr txBox="1"/>
          <p:nvPr/>
        </p:nvSpPr>
        <p:spPr>
          <a:xfrm>
            <a:off x="609600" y="1422399"/>
            <a:ext cx="10972800" cy="203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200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cellchat = cc.compute_communication_probability(
    cellchat, engine="streaming",
    n_boot=100, seed_use=1,
    gene_batch_size=64, lr_batch_size=64,
)</a:t>
            </a:r>
            <a:endParaRPr lang="zh-CN" altLang="en-US" sz="2200">
              <a:solidFill>
                <a:srgbClr val="244B6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AFAD6D72-0F52-ED76-994F-DE9AB1E1F6C4}"/>
              </a:ext>
            </a:extLst>
          </p:cNvPr>
          <p:cNvSpPr txBox="1"/>
          <p:nvPr/>
        </p:nvSpPr>
        <p:spPr>
          <a:xfrm>
            <a:off x="609600" y="3987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兼容原有网络 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endParaRPr lang="zh-CN" altLang="en-US" sz="2100" b="1">
              <a:solidFill>
                <a:srgbClr val="2227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7A8CA75-2508-18C8-D899-824C1B6B79A6}"/>
              </a:ext>
            </a:extLst>
          </p:cNvPr>
          <p:cNvSpPr txBox="1"/>
          <p:nvPr/>
        </p:nvSpPr>
        <p:spPr>
          <a:xfrm>
            <a:off x="609600" y="4394199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执行信息写入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settings["execution"]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，保留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engine="legacy"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DE15E58-48F0-3B93-1E1F-C2CF39054F41}"/>
              </a:ext>
            </a:extLst>
          </p:cNvPr>
          <p:cNvSpPr txBox="1"/>
          <p:nvPr/>
        </p:nvSpPr>
        <p:spPr>
          <a:xfrm>
            <a:off x="609600" y="49021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可选 </a:t>
            </a: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Numba 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7DD6979-DC8C-24F7-759E-92835938199A}"/>
              </a:ext>
            </a:extLst>
          </p:cNvPr>
          <p:cNvSpPr txBox="1"/>
          <p:nvPr/>
        </p:nvSpPr>
        <p:spPr>
          <a:xfrm>
            <a:off x="609600" y="5308599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无编译器仍可计算，大规模性能需安装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accelerate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依赖。</a:t>
            </a:r>
          </a:p>
        </p:txBody>
      </p:sp>
    </p:spTree>
    <p:extLst>
      <p:ext uri="{BB962C8B-B14F-4D97-AF65-F5344CB8AC3E}">
        <p14:creationId xmlns:p14="http://schemas.microsoft.com/office/powerpoint/2010/main" val="135549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D00956F-C5A9-3791-807B-1BBCD917C83C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一致性验证的层次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16E61822-0BB1-F2B7-300D-4DEF9451CFC2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379A52BC-4873-EC4F-B13F-F8565DFB201F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519064A-9823-7535-0A6A-921E078BC84C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独立基线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2A0AA5CF-219A-0735-43B5-4A790F1BDB05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动态加载冻结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upstream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源码，不只比较开发包内部两条路径。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6ED2857-079F-8F35-47C2-BA3D53CDB116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数值与随机状态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6D719D2-33E7-D872-FB98-9A88A9500FBA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对齐基因、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和群体轴，核对概率、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值及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RNG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B87FAD3-9004-925B-7D47-B1542605EFD1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完整教程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7B969FE1-D0CD-7C41-45D0-44C3146BB502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重跑全部代码单元，比较输出数组、保存对象与图像。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E25C242-47C4-3527-C47E-ACAA1973AD90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真实与合成规模实验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45468338-8201-5675-9C61-72C0752F6D4B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完成的成对实验逐项比对结果，再报告加速倍数。</a:t>
            </a:r>
          </a:p>
        </p:txBody>
      </p:sp>
    </p:spTree>
    <p:extLst>
      <p:ext uri="{BB962C8B-B14F-4D97-AF65-F5344CB8AC3E}">
        <p14:creationId xmlns:p14="http://schemas.microsoft.com/office/powerpoint/2010/main" val="293060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0119CD6-4F52-AEA4-B7F3-CCEA67E004B7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303 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项回归测试通过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87A5A1FA-A721-7B1D-882D-9F620EC2B701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94BC04E4-18D1-6BA9-9F05-D9D3BFF0FEBC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validation/combined_regression.xml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BC21FD1-6415-B033-3065-F8CEBCEF3CAF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总体结果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89F71C2-C93C-4CA2-691D-E3A91FF88089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303 tests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failures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errors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skipped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D916586-CAA1-EE29-1807-54D5A31F4A20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统计与输入边界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CA80858-18CF-A248-CE15-BE7D245F303D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稀疏零、重复索引、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、不同统计量、群体缺失标签。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78A94C6-EC43-42FF-09D3-77F7A50A7601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模型与置换边界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F6BC144-5B31-66B8-93EA-058C6DDC639F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复合物及辅因子、空间约束、外部置换验证、随机序列。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5FB6BD66-9B8E-9694-6F5F-E353CAAA9443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存储和兼容性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C674887E-9CC4-434B-C727-AEA6058CF27E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原发行测试与新算法测试合并，记录源码指纹与执行结果。</a:t>
            </a:r>
          </a:p>
        </p:txBody>
      </p:sp>
    </p:spTree>
    <p:extLst>
      <p:ext uri="{BB962C8B-B14F-4D97-AF65-F5344CB8AC3E}">
        <p14:creationId xmlns:p14="http://schemas.microsoft.com/office/powerpoint/2010/main" val="811583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A9071C4-EB89-B5BD-5035-9A2F4CA5D9FF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本公开教程完整重跑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3D7B377F-CA95-BC43-ADE9-E2596C8F5F99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06B389B2-5865-128D-6E16-F5DC0E6CEDF6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validation/tutorial_comparison_reference_development.json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2240C32-2969-2E8F-16E7-E54745008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667029"/>
              </p:ext>
            </p:extLst>
          </p:nvPr>
        </p:nvGraphicFramePr>
        <p:xfrm>
          <a:off x="609600" y="1524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4351042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806392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29276464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教程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代码单元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基线 </a:t>
                      </a:r>
                      <a:r>
                        <a:rPr lang="en-US" altLang="zh-CN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开发版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8772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 humanSkin LS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5496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02 NL / LS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对比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28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0764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03 E13 / E14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对比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4894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04 Visium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08018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05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多空间样本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51382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06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多组学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88847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07 psoriasis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69077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1807431D-5587-47A4-762D-02FB42F8D426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每版本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123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个代码单元、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148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PNG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。核心导出概率与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值一致。</a:t>
            </a:r>
          </a:p>
        </p:txBody>
      </p:sp>
    </p:spTree>
    <p:extLst>
      <p:ext uri="{BB962C8B-B14F-4D97-AF65-F5344CB8AC3E}">
        <p14:creationId xmlns:p14="http://schemas.microsoft.com/office/powerpoint/2010/main" val="1451540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5ACDD04-E424-AE25-C2EA-4BA1223F5AB0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保存对象的深度核验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3C30A6B2-195B-96F7-645E-B06BBEA7DCC4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EF563091-8080-2EAA-8270-9C09CD0EEF64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validation/tutorial_saved_object_comparison.json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E2836C0-1F10-6EAD-EA1D-1E3CA0AC9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548792"/>
              </p:ext>
            </p:extLst>
          </p:nvPr>
        </p:nvGraphicFramePr>
        <p:xfrm>
          <a:off x="609600" y="1524000"/>
          <a:ext cx="109728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87808016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73069361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01884017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261258156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对象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比较数组数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精确一致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容差内差异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20081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humanSkin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3,033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3,033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26937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NL / LS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10,380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10,380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03157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E13 / E14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14,268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14,268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84548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psoriasis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20,497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20,186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311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95447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合计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48,178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47,867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311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408447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D3A47538-31AB-0BB1-172E-957707232647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最大绝对差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1.55 × 10⁻¹⁴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，均为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psoriasis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中心性。预设容差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10⁻¹²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66902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BE4F2C0-F829-7D75-11C0-2A690FEF62FB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教程网络输出示例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F7C0C314-CB62-A105-01E3-04B3BC013827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ACDC96A8-58A7-70AC-3214-C4BA4B780A6B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validation/tutorial_comparison_reference_development.json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B37D17-1B96-83B8-B2F7-B90F36017C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750" y="1320800"/>
            <a:ext cx="4536200" cy="4635500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E91F3AF9-12E1-7B6F-A702-A4953B2CFC83}"/>
              </a:ext>
            </a:extLst>
          </p:cNvPr>
          <p:cNvSpPr txBox="1"/>
          <p:nvPr/>
        </p:nvSpPr>
        <p:spPr>
          <a:xfrm>
            <a:off x="8064500" y="1727199"/>
            <a:ext cx="35179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3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humanSkin
</a:t>
            </a:r>
            <a:r>
              <a:rPr lang="zh-CN" altLang="en-US" sz="23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通讯数量网络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9D91930-796C-3F2A-1664-79591990B398}"/>
              </a:ext>
            </a:extLst>
          </p:cNvPr>
          <p:cNvSpPr txBox="1"/>
          <p:nvPr/>
        </p:nvSpPr>
        <p:spPr>
          <a:xfrm>
            <a:off x="8064500" y="2984499"/>
            <a:ext cx="3517900" cy="196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148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 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PNG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
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147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张字节一致。
唯一差异为 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NL / LS
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气泡图的部分列顺序。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06DE016-C96C-419B-8881-3148A2E24CAE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图来自本次开发版教程运行。核心概率和网络聚合通过数组核对。</a:t>
            </a:r>
          </a:p>
        </p:txBody>
      </p:sp>
    </p:spTree>
    <p:extLst>
      <p:ext uri="{BB962C8B-B14F-4D97-AF65-F5344CB8AC3E}">
        <p14:creationId xmlns:p14="http://schemas.microsoft.com/office/powerpoint/2010/main" val="1926969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4F08660-5F2A-4E8F-AD72-2FD0A67E98B7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验证中发现的兼容性问题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701EA161-7015-170D-55F4-96D5FB48160D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D63B0CE9-29C7-5884-B092-E13B09FEC452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CA95AAE-638E-2A00-5CAA-8D1C79A8AEF4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Visium 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手工断言边界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78007AC-FE67-F130-014A-616E5F8D350A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原断言清除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&gt; 0.05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，应按包内规则清除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≥ 0.05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A6BF656-739E-3C38-FD63-E75799916747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两版本使用同一教程修订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45E01BA-418D-E8F0-9E86-570BEB773FB9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只修复手工验证断言，推断和聚合的显著性定义保持原样。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560F568-95D6-2F2D-DAC8-9B481D55B75E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H5AD </a:t>
            </a: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保存后的矩阵顺序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72AC0EFB-8AC3-97D2-D7C1-5033533937B6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显式保存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matrix_order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，避免字典键排序使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轴错位。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432915DC-6EEE-AF9F-EABC-0582A56A2766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图像排序差异单独说明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D961E7C9-224D-8EAE-3C6B-B5CA95CBA693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NL / LS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气泡图并列排序缺少样本键，绘图源码未修改。</a:t>
            </a:r>
          </a:p>
        </p:txBody>
      </p:sp>
    </p:spTree>
    <p:extLst>
      <p:ext uri="{BB962C8B-B14F-4D97-AF65-F5344CB8AC3E}">
        <p14:creationId xmlns:p14="http://schemas.microsoft.com/office/powerpoint/2010/main" val="241314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2CBC63B-0411-7A00-A548-87F9DBE6AC7F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性能实验的比较口径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82E45C71-F74F-C490-EA00-06EEB4AB33CD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EE8A545E-1807-319A-F009-A99C935185D1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results/benchmarks/REPORT.md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FF645CBA-3F1D-1CB8-16BC-ABF50ADC0762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固定对照条件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30C8AEB-BE2B-46FA-F2CE-28DEA4647B9E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同一输入与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seed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、同一候选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，单线程独立进程。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B09B5B3-7ABF-B8E1-4379-6806965B7414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内核时间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60AD40-8ED3-AB3B-A183-E03F8387DEDC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通讯概率函数的耗时，包含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JIT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初始化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缓存读取。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5F145CF-2253-6297-960E-8279F4BA40C9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进程时间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3335FB92-94C3-5456-6B82-B67A8210B9D3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导入、加载、对象准备、推断和保存，不含外部下载及预处理。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B70CEC7-0F06-55A2-AA07-E4D5D7FF697D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内存与重复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D6574654-1AF3-44E3-2D44-8EAEC0FDA832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RSS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ms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采样。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PBMC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每配置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对，合成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千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10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万各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对。</a:t>
            </a:r>
          </a:p>
        </p:txBody>
      </p:sp>
    </p:spTree>
    <p:extLst>
      <p:ext uri="{BB962C8B-B14F-4D97-AF65-F5344CB8AC3E}">
        <p14:creationId xmlns:p14="http://schemas.microsoft.com/office/powerpoint/2010/main" val="1100262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FAC3446-7A44-CB89-650A-194D710D5AE2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 </a:t>
            </a: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PBMC 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数据与实验输入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136AC7CB-31BD-5DD5-76A6-0F5ECBBC504A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CDBF9DED-55A9-EF88-26ED-336DA923C74A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data/pbmc68k_signaling/manifest.json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9EC089-D432-F47B-392F-581789E9D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779527"/>
              </p:ext>
            </p:extLst>
          </p:nvPr>
        </p:nvGraphicFramePr>
        <p:xfrm>
          <a:off x="609600" y="1524000"/>
          <a:ext cx="109728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256489429"/>
                    </a:ext>
                  </a:extLst>
                </a:gridCol>
                <a:gridCol w="8178800">
                  <a:extLst>
                    <a:ext uri="{9D8B030D-6E8A-4147-A177-3AD203B41FA5}">
                      <a16:colId xmlns:a16="http://schemas.microsoft.com/office/drawing/2014/main" val="2754259643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98658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原始表达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68,579 cells × 32,738 genes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27277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推断输入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1,404 signaling genes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1,523,308 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非零项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97844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群体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SVD 30 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维 </a:t>
                      </a: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 MiniBatchKMeans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 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33238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候选 </a:t>
                      </a: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LR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3,072 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对，完整表达可用性筛选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83471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置换次数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主结果 </a:t>
                      </a: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 = 100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，补充 </a:t>
                      </a: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 = 10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632290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71843B61-E238-9081-09D8-F1BF65A04ECD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群体是计算基准标签，不能直接解释为经过生物学验证的细胞类型。</a:t>
            </a:r>
          </a:p>
        </p:txBody>
      </p:sp>
    </p:spTree>
    <p:extLst>
      <p:ext uri="{BB962C8B-B14F-4D97-AF65-F5344CB8AC3E}">
        <p14:creationId xmlns:p14="http://schemas.microsoft.com/office/powerpoint/2010/main" val="2516929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3ADEBE5-8B98-DF73-C7DF-F82E4D0E0549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 </a:t>
            </a: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PBMC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：内核与进程时间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209932D7-45E9-1FA2-8F23-E00FF4CECABF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203D270F-3B28-69FA-9FED-909B6CBCB674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results/benchmarks/REPORT.md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991468FC-D65B-EBE9-7251-B41181BC4A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6321628"/>
              </p:ext>
            </p:extLst>
          </p:nvPr>
        </p:nvGraphicFramePr>
        <p:xfrm>
          <a:off x="609600" y="1498600"/>
          <a:ext cx="7239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7DF18955-97BE-BCC8-5B5E-34548CA19A80}"/>
              </a:ext>
            </a:extLst>
          </p:cNvPr>
          <p:cNvSpPr txBox="1"/>
          <p:nvPr/>
        </p:nvSpPr>
        <p:spPr>
          <a:xfrm>
            <a:off x="8318500" y="1904999"/>
            <a:ext cx="32639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35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82.18 </a:t>
            </a:r>
            <a:r>
              <a:rPr lang="zh-CN" altLang="en-US" sz="35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3A37C7C-6756-0C65-6677-4992F3AAC4BE}"/>
              </a:ext>
            </a:extLst>
          </p:cNvPr>
          <p:cNvSpPr txBox="1"/>
          <p:nvPr/>
        </p:nvSpPr>
        <p:spPr>
          <a:xfrm>
            <a:off x="8318500" y="2628899"/>
            <a:ext cx="32639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推断内核加速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8955333-AF7A-F670-8D78-0E807C9AE5A5}"/>
              </a:ext>
            </a:extLst>
          </p:cNvPr>
          <p:cNvSpPr txBox="1"/>
          <p:nvPr/>
        </p:nvSpPr>
        <p:spPr>
          <a:xfrm>
            <a:off x="8318500" y="3632199"/>
            <a:ext cx="32639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30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21.98 </a:t>
            </a:r>
            <a:r>
              <a:rPr lang="zh-CN" altLang="en-US" sz="30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B47BC1F-08E1-665C-67FC-AFF051638424}"/>
              </a:ext>
            </a:extLst>
          </p:cNvPr>
          <p:cNvSpPr txBox="1"/>
          <p:nvPr/>
        </p:nvSpPr>
        <p:spPr>
          <a:xfrm>
            <a:off x="8318500" y="4254499"/>
            <a:ext cx="32639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基准进程加速
各版本 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次运行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A5DED46-30A5-6A73-46F1-D91FBE6A91E6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概率与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值均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array_equal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。基准进程不等于完整生物学分析流程。</a:t>
            </a:r>
          </a:p>
        </p:txBody>
      </p:sp>
    </p:spTree>
    <p:extLst>
      <p:ext uri="{BB962C8B-B14F-4D97-AF65-F5344CB8AC3E}">
        <p14:creationId xmlns:p14="http://schemas.microsoft.com/office/powerpoint/2010/main" val="110446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1DC6F83-1A59-458F-7E92-FCAD429D3723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进程峰值 </a:t>
            </a: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RSS 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的变化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C04675C8-97EA-A0AF-0963-229E7F5780BC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1D741D52-1526-9354-46C4-EF6CEB290C94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results/benchmarks/REPORT.md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38B9F8C2-E57C-0AFF-2EDF-460B108F6F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335881"/>
              </p:ext>
            </p:extLst>
          </p:nvPr>
        </p:nvGraphicFramePr>
        <p:xfrm>
          <a:off x="609600" y="1498600"/>
          <a:ext cx="7239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D7FF6D96-3715-EB8B-1E19-DCE73E94B37E}"/>
              </a:ext>
            </a:extLst>
          </p:cNvPr>
          <p:cNvSpPr txBox="1"/>
          <p:nvPr/>
        </p:nvSpPr>
        <p:spPr>
          <a:xfrm>
            <a:off x="8318500" y="1917699"/>
            <a:ext cx="3263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8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下降 </a:t>
            </a:r>
            <a:r>
              <a:rPr lang="en-US" altLang="zh-CN" sz="28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75.80%</a:t>
            </a:r>
            <a:endParaRPr lang="zh-CN" altLang="en-US" sz="2800" b="1">
              <a:solidFill>
                <a:srgbClr val="244B6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CA10A4E-7830-4685-614E-D90B3E22EEA1}"/>
              </a:ext>
            </a:extLst>
          </p:cNvPr>
          <p:cNvSpPr txBox="1"/>
          <p:nvPr/>
        </p:nvSpPr>
        <p:spPr>
          <a:xfrm>
            <a:off x="8318500" y="2679699"/>
            <a:ext cx="32639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PBMC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对运行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88D759E8-4735-61D5-4F9B-19049BEC5AEE}"/>
              </a:ext>
            </a:extLst>
          </p:cNvPr>
          <p:cNvSpPr txBox="1"/>
          <p:nvPr/>
        </p:nvSpPr>
        <p:spPr>
          <a:xfrm>
            <a:off x="8318500" y="3682999"/>
            <a:ext cx="32639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8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下降 </a:t>
            </a:r>
            <a:r>
              <a:rPr lang="en-US" altLang="zh-CN" sz="28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57.19%</a:t>
            </a:r>
            <a:endParaRPr lang="zh-CN" altLang="en-US" sz="2800" b="1">
              <a:solidFill>
                <a:srgbClr val="244B6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26F29615-562F-1A9B-9C29-E2A6BBF3BDC5}"/>
              </a:ext>
            </a:extLst>
          </p:cNvPr>
          <p:cNvSpPr txBox="1"/>
          <p:nvPr/>
        </p:nvSpPr>
        <p:spPr>
          <a:xfrm>
            <a:off x="8318500" y="4419599"/>
            <a:ext cx="3263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万细胞
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次运行的中位数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91E9B66-9593-C534-82FF-258AC0F38312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进程树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RSS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ms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采样。真实数据和合成数据分开解释。</a:t>
            </a:r>
          </a:p>
        </p:txBody>
      </p:sp>
    </p:spTree>
    <p:extLst>
      <p:ext uri="{BB962C8B-B14F-4D97-AF65-F5344CB8AC3E}">
        <p14:creationId xmlns:p14="http://schemas.microsoft.com/office/powerpoint/2010/main" val="4169310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EEE1A96-D3D5-5E73-882F-D4FA2C9D9B2F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万合成细胞：三个独立重复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31BBE93A-5828-5F27-46A1-6D620697E023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2D53FF8B-6452-B11B-D23F-1607E115AE33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results/benchmarks/REPORT.md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D1C69AB-B34A-3F62-A264-12CF502B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97718"/>
              </p:ext>
            </p:extLst>
          </p:nvPr>
        </p:nvGraphicFramePr>
        <p:xfrm>
          <a:off x="609600" y="1524000"/>
          <a:ext cx="109728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453266284"/>
                    </a:ext>
                  </a:extLst>
                </a:gridCol>
                <a:gridCol w="3111500">
                  <a:extLst>
                    <a:ext uri="{9D8B030D-6E8A-4147-A177-3AD203B41FA5}">
                      <a16:colId xmlns:a16="http://schemas.microsoft.com/office/drawing/2014/main" val="2780922274"/>
                    </a:ext>
                  </a:extLst>
                </a:gridCol>
                <a:gridCol w="3111500">
                  <a:extLst>
                    <a:ext uri="{9D8B030D-6E8A-4147-A177-3AD203B41FA5}">
                      <a16:colId xmlns:a16="http://schemas.microsoft.com/office/drawing/2014/main" val="1932432745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1369798544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重复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基线内核 </a:t>
                      </a:r>
                      <a:r>
                        <a:rPr lang="en-US" altLang="zh-CN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新内核 </a:t>
                      </a:r>
                      <a:r>
                        <a:rPr lang="en-US" altLang="zh-CN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概率与 </a:t>
                      </a:r>
                      <a:r>
                        <a:rPr lang="en-US" altLang="zh-CN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 </a:t>
                      </a: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值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929509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182.439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1.574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精确一致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981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179.789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1.530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精确一致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7408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180.537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1.987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精确一致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89165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中位数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180.537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1.574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精确一致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873493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B042D0B7-0240-FAB4-B096-DBA06ECA6522}"/>
              </a:ext>
            </a:extLst>
          </p:cNvPr>
          <p:cNvSpPr txBox="1"/>
          <p:nvPr/>
        </p:nvSpPr>
        <p:spPr>
          <a:xfrm>
            <a:off x="609600" y="53466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中位数比值 </a:t>
            </a:r>
            <a:r>
              <a:rPr lang="en-US" altLang="zh-CN" sz="21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114.67 </a:t>
            </a:r>
            <a:r>
              <a:rPr lang="zh-CN" altLang="en-US" sz="21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倍，基准进程中位数 </a:t>
            </a:r>
            <a:r>
              <a:rPr lang="en-US" altLang="zh-CN" sz="21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204.30 / 24.52 </a:t>
            </a:r>
            <a:r>
              <a:rPr lang="zh-CN" altLang="en-US" sz="21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EDCAB05-EBB7-F1A6-C87B-C4F86D0A63F9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配置：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100,000 cells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256 genes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groups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LR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permutations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1541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6A4812C-BBE5-2580-FBE8-F4E8FFD9B518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百万合成细胞：容量测试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0F4E446D-989D-2018-4CAC-494B91E843E5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14EDEC26-1F67-5633-74C1-8EF795BBB76A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results/benchmarks/REPORT.md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6B9DF2A-6827-89E1-7F3F-8CD70A03C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510491"/>
              </p:ext>
            </p:extLst>
          </p:nvPr>
        </p:nvGraphicFramePr>
        <p:xfrm>
          <a:off x="609600" y="1524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4003182102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32502318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结果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58654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输入规模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1,000,000 cells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256 genes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 LR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 = 100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544967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新引擎内核 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进程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29.903 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 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60.719 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51052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新引擎内存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nb-NO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RSS 1,543.160 MiB</a:t>
                      </a:r>
                      <a:r>
                        <a:rPr lang="zh-CN" altLang="nb-NO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nb-NO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private 1,873.898 MiB</a:t>
                      </a:r>
                      <a:endParaRPr lang="zh-CN" altLang="en-US" sz="20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83018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基线状态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58.937 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秒触及 </a:t>
                      </a:r>
                      <a:r>
                        <a:rPr lang="en-US" altLang="zh-CN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 GiB private-memory </a:t>
                      </a:r>
                      <a:r>
                        <a:rPr lang="zh-CN" altLang="en-US" sz="20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预算后停止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529559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A17C6CBB-AADF-7B20-1B4F-DC71CBC854E9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无完整基线输出：未建立该规模的成对数值一致性，也不报告加速比。</a:t>
            </a:r>
          </a:p>
        </p:txBody>
      </p:sp>
    </p:spTree>
    <p:extLst>
      <p:ext uri="{BB962C8B-B14F-4D97-AF65-F5344CB8AC3E}">
        <p14:creationId xmlns:p14="http://schemas.microsoft.com/office/powerpoint/2010/main" val="316818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CB4E7F3-A0BD-FA9F-CC2D-0B86E0766FAA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消融实验：主要收益来自排序复用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86ED34C0-029D-F2F1-1A63-0B801824CC07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26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0F374C9D-481E-AF68-7379-8F8291B2C0F5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validation/ablation.json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9FB1C52-E29F-6094-EFCE-68ADB8FB3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178295"/>
              </p:ext>
            </p:extLst>
          </p:nvPr>
        </p:nvGraphicFramePr>
        <p:xfrm>
          <a:off x="609600" y="1524000"/>
          <a:ext cx="109728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000">
                  <a:extLst>
                    <a:ext uri="{9D8B030D-6E8A-4147-A177-3AD203B41FA5}">
                      <a16:colId xmlns:a16="http://schemas.microsoft.com/office/drawing/2014/main" val="3515168623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3429459540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134712401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配置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内核中位数 </a:t>
                      </a:r>
                      <a:r>
                        <a:rPr lang="en-US" altLang="zh-CN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相对完整方案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44536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全部启用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0.227188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1.000 × 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59624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关闭依赖裁剪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0.203059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0.894 × 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17267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关闭稀疏排序计划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1.488311</a:t>
                      </a:r>
                      <a:endParaRPr lang="zh-CN" altLang="en-US" sz="21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6.551 × </a:t>
                      </a:r>
                      <a:r>
                        <a:rPr lang="zh-CN" altLang="en-US" sz="21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783864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B3FD1CA5-B234-003A-BFE1-B561B23129B3}"/>
              </a:ext>
            </a:extLst>
          </p:cNvPr>
          <p:cNvSpPr txBox="1"/>
          <p:nvPr/>
        </p:nvSpPr>
        <p:spPr>
          <a:xfrm>
            <a:off x="609600" y="5118099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此小规模案例中，裁剪没有提速。</a:t>
            </a:r>
            <a:r>
              <a:rPr lang="en-US" altLang="zh-CN" sz="21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 </a:t>
            </a:r>
            <a:r>
              <a:rPr lang="zh-CN" altLang="en-US" sz="21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份消融输出均精确一致。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586C8A3-9C9A-9FDC-25EA-89BFC4D1F7E7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5,000 cells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256 genes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LR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= 20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。各配置先预热，再计时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次。</a:t>
            </a:r>
          </a:p>
        </p:txBody>
      </p:sp>
    </p:spTree>
    <p:extLst>
      <p:ext uri="{BB962C8B-B14F-4D97-AF65-F5344CB8AC3E}">
        <p14:creationId xmlns:p14="http://schemas.microsoft.com/office/powerpoint/2010/main" val="2638320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57A6D02-CACB-7DF5-6F13-DE1623B1A7E4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当前结果的解释边界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17C4591B-557E-7A19-B86E-989565A60CA8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27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01D77F8C-7997-3822-FF66-76D1C340CDED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results/benchmarks/REPORT.md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038547A-E7A4-6431-E33E-E232C56ADB19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基线与重复仍需扩展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45C5F90-2500-3E61-EC1F-F068FD3943D8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尚无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版和其他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工具实测，真实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PBMC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主实验仅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1147814-5F51-3D13-06C9-80D16F00D8BC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并非全部流程等比例加速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807F0738-17D6-865A-62D0-877550900E7F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spot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、可视化和其他下游步骤可能主导完整教程时间。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A7D7C6B-3B5F-A238-8D68-2A5FA1306D53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运行环境影响绝对时间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FD7E4E3-7D62-95C6-64E7-AB320F735A8A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JIT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缓存、后台内存压力、分页与采样间隔需要更严格控制。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D3C97DB-3855-1CC8-6929-1080AB6AE5EA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正确性与生物学有效性分开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A6657484-23C9-6DAD-9845-27A272853DA2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保持旧定义不意味着解决旧模型的统计或生物学局限。</a:t>
            </a:r>
          </a:p>
        </p:txBody>
      </p:sp>
    </p:spTree>
    <p:extLst>
      <p:ext uri="{BB962C8B-B14F-4D97-AF65-F5344CB8AC3E}">
        <p14:creationId xmlns:p14="http://schemas.microsoft.com/office/powerpoint/2010/main" val="3785933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7A449C4-02E2-9188-93BB-25E1AFD9BC62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可以形成的论文贡献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C2505A3C-C44C-30AB-F590-E6BF04A15EE1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37AE8B57-DC58-885F-E989-14487BB243C1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RESEARCH_POSITIONING.md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D992DEC-3AE6-56CB-53C9-8460A6C6C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586041"/>
              </p:ext>
            </p:extLst>
          </p:nvPr>
        </p:nvGraphicFramePr>
        <p:xfrm>
          <a:off x="609600" y="1524000"/>
          <a:ext cx="109728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24218307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293151425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822480456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拟贡献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当前支持证据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投稿前仍需补充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8072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复用精确稀疏顺序统计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实现、边界测试、消融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与已有算法系统比较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78056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流式置换及分块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复杂度分析、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RSS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实测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多维规模曲线与预算测试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14776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原计算语义兼容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303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测试、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本教程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直接 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对照与跨平台验证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87335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可复现实用实现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固定提交、数据来源、日志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公开基准和独立复现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072971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4EACF94C-1F51-017F-9E71-4F669BCCB94E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适合发展为算法工程或软件方法论文，创新性与投稿定位仍需文献比较。</a:t>
            </a:r>
          </a:p>
        </p:txBody>
      </p:sp>
    </p:spTree>
    <p:extLst>
      <p:ext uri="{BB962C8B-B14F-4D97-AF65-F5344CB8AC3E}">
        <p14:creationId xmlns:p14="http://schemas.microsoft.com/office/powerpoint/2010/main" val="4128493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3A5C718-F9E0-4A04-97D8-EE6CAB29DA5E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下一阶段最值得补的实验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941F7F14-0CE5-A65D-9793-4EFC32C4BB7B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D152D4EC-966F-44FF-7684-ADDBAB91317A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RESEARCH_POSITIONING.md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3B974D03-7C80-EDA6-C74E-CD8C38A2242D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优先一：公平基线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0839E33-FDBE-6283-7877-F69AB5CCB308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版、现有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工具，统一参数、硬件和输出对齐规则。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117D30B-9C4F-38B2-F6BA-3483734C4C11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优先二：稳健性能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F11E7BBE-F96F-CEB6-72F3-8B9D43E4CD36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多次交替重复，分别报告冷启动与预热，记录分页及内存压力。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3E8F3F9-E0D7-A01D-7882-BCDE08C0988F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优先三：系统规模曲线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3C0B62BD-5710-3A9A-4833-65D715AABDC9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分别改变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数和稀疏度，确认收益与瓶颈。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B06EF7A-B3AA-E59C-7577-F4EF4A5FEA21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优先四：真实应用范围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35B36B31-8199-DBD0-106C-BC2DEA8DBD3C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更多组织与空间数据，真实大规模图谱及完整下游结果检查。</a:t>
            </a:r>
          </a:p>
        </p:txBody>
      </p:sp>
    </p:spTree>
    <p:extLst>
      <p:ext uri="{BB962C8B-B14F-4D97-AF65-F5344CB8AC3E}">
        <p14:creationId xmlns:p14="http://schemas.microsoft.com/office/powerpoint/2010/main" val="2738266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FA06D09-B6D1-8F50-7739-7F0FD8497C8F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结论与讨论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706FF515-9514-271B-52EA-177F59E63DC5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FA3C8730-2C0B-3CE5-AAFC-E489C3C0B84B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C3060CE-BD89-9A42-EDE1-EA586B09015A}"/>
              </a:ext>
            </a:extLst>
          </p:cNvPr>
          <p:cNvSpPr txBox="1"/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方法已经落地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467E23A-9281-E77E-38DB-9209030DEF35}"/>
              </a:ext>
            </a:extLst>
          </p:cNvPr>
          <p:cNvSpPr txBox="1"/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在固定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GitHub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版上实现保持计算定义的低内存推断引擎。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D2072D0-25AB-5289-A41A-927E14020EAA}"/>
              </a:ext>
            </a:extLst>
          </p:cNvPr>
          <p:cNvSpPr txBox="1"/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一致性有多层证据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C792218-7E19-418E-430D-E321BBDCAE71}"/>
              </a:ext>
            </a:extLst>
          </p:cNvPr>
          <p:cNvSpPr txBox="1"/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303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项测试、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本教程及完成的大数据成对结果支持兼容性。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80FC23D-8BC8-9966-295F-207973045ADE}"/>
              </a:ext>
            </a:extLst>
          </p:cNvPr>
          <p:cNvSpPr txBox="1"/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性能改善已实测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2472DEA-A862-833A-03BF-65D189672D6D}"/>
              </a:ext>
            </a:extLst>
          </p:cNvPr>
          <p:cNvSpPr txBox="1"/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PBMC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内核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82.18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倍，进程峰值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RSS 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下降 </a:t>
            </a: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75.80%</a:t>
            </a: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5639A167-BF52-834E-CB88-5C66DCE1E05F}"/>
              </a:ext>
            </a:extLst>
          </p:cNvPr>
          <p:cNvSpPr txBox="1"/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100" b="1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论文主线明确</a:t>
            </a: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8ADC983F-AB2E-19A5-4666-3570CC1CB73E}"/>
              </a:ext>
            </a:extLst>
          </p:cNvPr>
          <p:cNvSpPr txBox="1"/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围绕精确计算的规模扩展，继续补齐基线、重复和真实应用证据。</a:t>
            </a:r>
          </a:p>
        </p:txBody>
      </p:sp>
    </p:spTree>
    <p:extLst>
      <p:ext uri="{BB962C8B-B14F-4D97-AF65-F5344CB8AC3E}">
        <p14:creationId xmlns:p14="http://schemas.microsoft.com/office/powerpoint/2010/main" val="3190526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EC8C879-6025-AC7A-3385-ACBFA9644E96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：完整教程的运行时间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17DE1B99-8620-E724-C1CE-3A8F0B85F88A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1FD8EE42-4FEA-6172-4751-7E6CF7AF6135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validation/tutorial_comparison_reference_development.json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59D3259-ADFB-463E-338F-1AAF69E1F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622222"/>
              </p:ext>
            </p:extLst>
          </p:nvPr>
        </p:nvGraphicFramePr>
        <p:xfrm>
          <a:off x="609600" y="1524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91725338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3333098474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910838539"/>
                    </a:ext>
                  </a:extLst>
                </a:gridCol>
                <a:gridCol w="3987800">
                  <a:extLst>
                    <a:ext uri="{9D8B030D-6E8A-4147-A177-3AD203B41FA5}">
                      <a16:colId xmlns:a16="http://schemas.microsoft.com/office/drawing/2014/main" val="19697601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教程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基线总秒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新总秒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基线 </a:t>
                      </a:r>
                      <a:r>
                        <a:rPr lang="en-US" altLang="zh-CN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新群推断秒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0085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 humanSkin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298.95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106.91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182.60 / 3.79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6505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02 NL / LS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423.36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153.09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280.80 / 3.36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2287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03 E13 / E14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585.48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110.31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492.21 / 7.58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8207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04 Visium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68.64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55.03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11.22 / 1.67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7013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05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多空间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468.90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415.22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11.08 / 7.83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47634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06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多组学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42.18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41.52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0.84 / 0.20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0733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07 psoriasis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118.83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122.07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spot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工作流未改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529002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0386C47A-A342-4407-0D48-62BF8817F7EB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完整教程时间与推断核时间分别报告。每版本每教程执行一次。</a:t>
            </a:r>
          </a:p>
        </p:txBody>
      </p:sp>
    </p:spTree>
    <p:extLst>
      <p:ext uri="{BB962C8B-B14F-4D97-AF65-F5344CB8AC3E}">
        <p14:creationId xmlns:p14="http://schemas.microsoft.com/office/powerpoint/2010/main" val="1203219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C0C21F6-0527-5CA4-5E26-17DD195FE5E5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：全部规模实验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0A8F9C17-FBC5-3F1D-5DBB-BE44F12D7C69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FB2E4910-CD90-B575-0951-AF086341C7A6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results/benchmarks/REPORT.md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5919931-99EE-E634-D84E-30FC8BCBF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207804"/>
              </p:ext>
            </p:extLst>
          </p:nvPr>
        </p:nvGraphicFramePr>
        <p:xfrm>
          <a:off x="609600" y="1524000"/>
          <a:ext cx="109728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>
                  <a:extLst>
                    <a:ext uri="{9D8B030D-6E8A-4147-A177-3AD203B41FA5}">
                      <a16:colId xmlns:a16="http://schemas.microsoft.com/office/drawing/2014/main" val="219296192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43686702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20957651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7897465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810127575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 </a:t>
                      </a:r>
                      <a:r>
                        <a:rPr lang="en-US" altLang="zh-CN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B</a:t>
                      </a:r>
                      <a:endParaRPr lang="zh-CN" altLang="en-US" sz="1700" b="1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基因 </a:t>
                      </a:r>
                      <a:r>
                        <a:rPr lang="en-US" altLang="zh-CN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LR</a:t>
                      </a:r>
                      <a:endParaRPr lang="zh-CN" altLang="en-US" sz="1700" b="1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内核秒：旧 </a:t>
                      </a:r>
                      <a:r>
                        <a:rPr lang="en-US" altLang="zh-CN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倍数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重复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51913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PBMC 68,579 / 10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1,404 / 3,072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95.589 / 5.759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16.60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 </a:t>
                      </a: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47252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PBMC 68,579 / 100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1,404 / 3,072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678.768 / 8.260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82.18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 </a:t>
                      </a: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40696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合成 </a:t>
                      </a: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5,000 / 20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256 / 100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14.649 / 0.233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62.94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29571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合成 </a:t>
                      </a: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100,000 / 100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256 / 100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180.537 / 1.574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114.67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63666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合成 </a:t>
                      </a: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1,000,000 / 100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256 / 100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未完成 </a:t>
                      </a: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29.903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 </a:t>
                      </a: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 </a:t>
                      </a: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195013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26025A1B-4B35-33D6-36E2-8F36647BA5DE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全部为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群体。完成的成对实验中，概率与 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值均精确一致。</a:t>
            </a:r>
          </a:p>
        </p:txBody>
      </p:sp>
    </p:spTree>
    <p:extLst>
      <p:ext uri="{BB962C8B-B14F-4D97-AF65-F5344CB8AC3E}">
        <p14:creationId xmlns:p14="http://schemas.microsoft.com/office/powerpoint/2010/main" val="2983458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FF37C27-256D-DB6D-B1C5-789F7C23C7D3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：精确计算的边界条件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04BC615F-17C3-0574-A42D-C30760C939CD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33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30CAD497-B2A0-52E7-10D5-EA82A02860E0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045519A-1C75-01F7-89FC-D09A9F1D0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195829"/>
              </p:ext>
            </p:extLst>
          </p:nvPr>
        </p:nvGraphicFramePr>
        <p:xfrm>
          <a:off x="609600" y="1524000"/>
          <a:ext cx="109728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920853062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692686567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边界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保持的语义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904078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稀疏零与重复索引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显式 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隐式零一致，重复索引先求和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7813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NaN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与缺失群标签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沿用 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reducer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与原标签置换、分母规则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88375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分位数与中位数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保持原插值及中位值计算顺序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1996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外部置换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逐列校验与使用，不集中转换全部矩阵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4887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值与随机状态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严格超越，零观测 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值为 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RNG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状态一致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410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1291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CBC4C19-BE87-7A91-CCEA-938A6CA3C3FE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：复现入口与文件位置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E075F654-CE29-3532-EA2B-CA4E642046D7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34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A13F5F81-32E8-694A-E47C-6025BBCE64F2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README.md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BEF5904-FE80-B84C-C7A1-31EBEA6C2F9A}"/>
              </a:ext>
            </a:extLst>
          </p:cNvPr>
          <p:cNvSpPr txBox="1"/>
          <p:nvPr/>
        </p:nvSpPr>
        <p:spPr>
          <a:xfrm>
            <a:off x="609600" y="1409699"/>
            <a:ext cx="109728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900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1900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cellchat10.20 </a:t>
            </a:r>
            <a:r>
              <a:rPr lang="zh-CN" altLang="en-US" sz="1900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目录运行：
</a:t>
            </a:r>
            <a:r>
              <a:rPr lang="en-US" altLang="zh-CN" sz="1900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-m pip install ".\development[accelerate]"
.\run_checks.ps1
.\run_checks.ps1 -Tutorials
.\run_checks.ps1 -LargeBenchmarks</a:t>
            </a:r>
            <a:endParaRPr lang="zh-CN" altLang="en-US" sz="1900">
              <a:solidFill>
                <a:srgbClr val="244B6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5CE9C40-C9C2-0EB1-A014-02C73D48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804662"/>
              </p:ext>
            </p:extLst>
          </p:nvPr>
        </p:nvGraphicFramePr>
        <p:xfrm>
          <a:off x="609600" y="3556000"/>
          <a:ext cx="109728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1581061817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7715408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路径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内容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6026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upstream / development</a:t>
                      </a:r>
                      <a:endParaRPr lang="zh-CN" altLang="en-US" sz="19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冻结基线 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开发版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8164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validation / results</a:t>
                      </a:r>
                      <a:endParaRPr lang="zh-CN" altLang="en-US" sz="19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回归与核验 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教程与性能结果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08579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provenance / data</a:t>
                      </a:r>
                      <a:endParaRPr lang="zh-CN" altLang="en-US" sz="19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版本及环境记录 </a:t>
                      </a:r>
                      <a:r>
                        <a:rPr lang="en-US" altLang="zh-CN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9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数据与来源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919936"/>
                  </a:ext>
                </a:extLst>
              </a:tr>
            </a:tbl>
          </a:graphicData>
        </a:graphic>
      </p:graphicFrame>
      <p:sp>
        <p:nvSpPr>
          <p:cNvPr id="7" name="Text 7">
            <a:extLst>
              <a:ext uri="{FF2B5EF4-FFF2-40B4-BE49-F238E27FC236}">
                <a16:creationId xmlns:a16="http://schemas.microsoft.com/office/drawing/2014/main" id="{7F65779F-9CFB-B4CC-C4D5-887A51F4DA42}"/>
              </a:ext>
            </a:extLst>
          </p:cNvPr>
          <p:cNvSpPr txBox="1"/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证据检查：</a:t>
            </a:r>
            <a:r>
              <a:rPr lang="en-US" altLang="zh-CN" sz="16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.venv\Scripts\python.exe -B scripts/validate_delivery.py</a:t>
            </a:r>
            <a:endParaRPr lang="zh-CN" altLang="en-US" sz="16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79115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5475526-20A8-1B8B-0F68-2D36F0BB4A77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：可能被问到的问题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BA343F20-8FF1-A650-2DC8-C07AFCBE244E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35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4B619AC8-C0C0-8B08-8680-8F70F17FD218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METHOD.md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0808A18-16C9-ED0D-6D49-E46DCAAD5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687914"/>
              </p:ext>
            </p:extLst>
          </p:nvPr>
        </p:nvGraphicFramePr>
        <p:xfrm>
          <a:off x="609600" y="152400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411394341"/>
                    </a:ext>
                  </a:extLst>
                </a:gridCol>
                <a:gridCol w="7289800">
                  <a:extLst>
                    <a:ext uri="{9D8B030D-6E8A-4147-A177-3AD203B41FA5}">
                      <a16:colId xmlns:a16="http://schemas.microsoft.com/office/drawing/2014/main" val="277157418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问题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建议回答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0157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是不是又验证了一遍翻译？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本次固定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Python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基线，验证计算重组的兼容性。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35223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创新点在哪里？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稀疏排序复用与流式计算，文献差异还需确认。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95283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pt-BR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 </a:t>
                      </a:r>
                      <a:r>
                        <a:rPr lang="pt-BR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 </a:t>
                      </a:r>
                      <a:r>
                        <a:rPr lang="zh-CN" altLang="pt-BR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和其他工具快多少？</a:t>
                      </a:r>
                      <a:endParaRPr lang="zh-CN" altLang="en-US" sz="18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尚无直接实测，倍数只相对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GitHub Python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版。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44547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能处理任意百万细胞数据吗？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已完成特定合成配置，真实图谱仍待验证。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71752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整个流程都快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倍吗？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82.18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倍为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PBMC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内核，基准进程约 </a:t>
                      </a:r>
                      <a:r>
                        <a:rPr lang="en-US" altLang="zh-CN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21.98 </a:t>
                      </a:r>
                      <a:r>
                        <a:rPr lang="zh-CN" altLang="en-US" sz="18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倍。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123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255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9967B67-F157-14DC-C82D-83C94DE78FAD}"/>
              </a:ext>
            </a:extLst>
          </p:cNvPr>
          <p:cNvSpPr txBox="1"/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en-US" sz="3200" b="1">
                <a:solidFill>
                  <a:srgbClr val="244B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：参考文献与证据索引</a:t>
            </a:r>
          </a:p>
        </p:txBody>
      </p:sp>
      <p:sp>
        <p:nvSpPr>
          <p:cNvPr id="3" name="Page 3">
            <a:extLst>
              <a:ext uri="{FF2B5EF4-FFF2-40B4-BE49-F238E27FC236}">
                <a16:creationId xmlns:a16="http://schemas.microsoft.com/office/drawing/2014/main" id="{DDB0C21D-DB71-C2BF-63F3-F12C00142B0B}"/>
              </a:ext>
            </a:extLst>
          </p:cNvPr>
          <p:cNvSpPr txBox="1"/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ource 4">
            <a:extLst>
              <a:ext uri="{FF2B5EF4-FFF2-40B4-BE49-F238E27FC236}">
                <a16:creationId xmlns:a16="http://schemas.microsoft.com/office/drawing/2014/main" id="{C4A73809-D6B0-ABE2-B570-83E32B391554}"/>
              </a:ext>
            </a:extLst>
          </p:cNvPr>
          <p:cNvSpPr txBox="1"/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来源：</a:t>
            </a:r>
            <a:r>
              <a:rPr lang="en-US" altLang="zh-CN" sz="1000">
                <a:solidFill>
                  <a:srgbClr val="606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https://doi.org/10.1038/s41467-021-21246-9</a:t>
            </a:r>
            <a:endParaRPr lang="zh-CN" altLang="en-US" sz="1000">
              <a:solidFill>
                <a:srgbClr val="606A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8B8F083-D0BF-B26D-E312-DC8205405679}"/>
              </a:ext>
            </a:extLst>
          </p:cNvPr>
          <p:cNvSpPr txBox="1"/>
          <p:nvPr/>
        </p:nvSpPr>
        <p:spPr>
          <a:xfrm>
            <a:off x="609600" y="1409699"/>
            <a:ext cx="10972800" cy="1206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zh-CN" sz="19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Jin et al. (2021). Inference and analysis of cell-cell
communication using CellChat. Nature Communications, 12, 1088.
doi: 10.1038/s41467-021-21246-9</a:t>
            </a:r>
            <a:endParaRPr lang="zh-CN" altLang="en-US" sz="1900">
              <a:solidFill>
                <a:srgbClr val="2227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BD2A8B6-4386-A362-C6A4-63B5EEE4D4CD}"/>
              </a:ext>
            </a:extLst>
          </p:cNvPr>
          <p:cNvSpPr txBox="1"/>
          <p:nvPr/>
        </p:nvSpPr>
        <p:spPr>
          <a:xfrm>
            <a:off x="609600" y="2832099"/>
            <a:ext cx="10972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软件：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github.com/wyuanhang03-web/CellChatPy
</a:t>
            </a:r>
            <a:r>
              <a:rPr lang="zh-CN" altLang="en-US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教程：</a:t>
            </a:r>
            <a:r>
              <a:rPr lang="en-US" altLang="zh-CN" sz="2000">
                <a:solidFill>
                  <a:srgbClr val="2227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cellchatpy.readthedocs.io/en/latest/</a:t>
            </a:r>
            <a:endParaRPr lang="zh-CN" altLang="en-US" sz="2000">
              <a:solidFill>
                <a:srgbClr val="2227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DE892D-8938-0771-5BBB-9B82538DC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388057"/>
              </p:ext>
            </p:extLst>
          </p:nvPr>
        </p:nvGraphicFramePr>
        <p:xfrm>
          <a:off x="609600" y="4076700"/>
          <a:ext cx="109728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968196333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38529264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证据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位置（相对 </a:t>
                      </a:r>
                      <a:r>
                        <a:rPr lang="en-US" altLang="zh-CN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cellchat10.20</a:t>
                      </a:r>
                      <a:r>
                        <a:rPr lang="zh-CN" altLang="en-US" sz="1700" b="1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7367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方法与研究定位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METHOD.md / RESEARCH_POSITIONING.md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90742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性能与原始记录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results/benchmarks/REPORT.md </a:t>
                      </a: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与各 </a:t>
                      </a: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summary.json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6145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回归与教程核验</a:t>
                      </a: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validation/combined_regression.xml </a:t>
                      </a:r>
                      <a:r>
                        <a:rPr lang="zh-CN" altLang="en-US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1700" b="0">
                          <a:solidFill>
                            <a:srgbClr val="22272E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tutorial_*.json</a:t>
                      </a:r>
                      <a:endParaRPr lang="zh-CN" altLang="en-US" sz="1700" b="0">
                        <a:solidFill>
                          <a:srgbClr val="22272E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936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5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10810</Words>
  <Application>Microsoft Office PowerPoint</Application>
  <PresentationFormat>宽屏</PresentationFormat>
  <Paragraphs>616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远航 王</dc:creator>
  <cp:lastModifiedBy>远航 王</cp:lastModifiedBy>
  <cp:revision>2</cp:revision>
  <dcterms:created xsi:type="dcterms:W3CDTF">2026-10-20T18:26:21Z</dcterms:created>
  <dcterms:modified xsi:type="dcterms:W3CDTF">2026-10-20T18:29:45Z</dcterms:modified>
</cp:coreProperties>
</file>