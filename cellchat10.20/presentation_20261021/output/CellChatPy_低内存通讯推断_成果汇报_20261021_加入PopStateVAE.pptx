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重建 L1</c:f>
              <c:strCache>
                <c:ptCount val="1"/>
                <c:pt idx="0">
                  <c:v>重建 L1</c:v>
                </c:pt>
              </c:strCache>
            </c:strRef>
          </c:tx>
          <c:spPr>
            <a:solidFill>
              <a:srgbClr val="5B82A6"/>
            </a:solidFill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{"152418 counts","152418 TPM","157103 counts","157103 TPM"}</c:f>
              <c:strCache>
                <c:ptCount val="4"/>
                <c:pt idx="0">
                  <c:v>152418 counts</c:v>
                </c:pt>
                <c:pt idx="1">
                  <c:v>152418 TPM</c:v>
                </c:pt>
                <c:pt idx="2">
                  <c:v>157103 counts</c:v>
                </c:pt>
                <c:pt idx="3">
                  <c:v>157103 TPM</c:v>
                </c:pt>
              </c:strCache>
            </c:strRef>
          </c:cat>
          <c:val>
            <c:numRef>
              <c:f>{0.6525,1.1448,0.6343,1.0175}</c:f>
              <c:numCache>
                <c:formatCode>General</c:formatCode>
                <c:ptCount val="4"/>
                <c:pt idx="0">
                  <c:v>0.6525</c:v>
                </c:pt>
                <c:pt idx="1">
                  <c:v>1.1448</c:v>
                </c:pt>
                <c:pt idx="2">
                  <c:v>0.6343</c:v>
                </c:pt>
                <c:pt idx="3">
                  <c:v>1.0175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CE4EA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C9D4D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D4D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c323149-e817-4aa2-a0a7-80397cfa7955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运行时间（秒，越低越好）</a:t>
            </a:r>
            <a:endParaRPr sz="17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GitHub Python</c:f>
              <c:strCache>
                <c:ptCount val="1"/>
                <c:pt idx="0">
                  <c:v>GitHub Python</c:v>
                </c:pt>
              </c:strCache>
            </c:strRef>
          </c:tx>
          <c:spPr>
            <a:solidFill>
              <a:srgbClr val="9BA3A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{"推断内核","基准进程"}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{678.767612800002,710.25}</c:f>
              <c:numCache>
                <c:formatCode>General</c:formatCode>
                <c:ptCount val="2"/>
                <c:pt idx="0">
                  <c:v>678.767612800002</c:v>
                </c:pt>
                <c:pt idx="1">
                  <c:v>710.25</c:v>
                </c:pt>
              </c:numCache>
            </c:numRef>
          </c:val>
        </c:ser>
        <c:ser>
          <c:idx val="1"/>
          <c:order val="1"/>
          <c:tx>
            <c:strRef>
              <c:f>streaming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244B69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{"推断内核","基准进程"}</c:f>
              <c:strCache>
                <c:ptCount val="2"/>
                <c:pt idx="0">
                  <c:v>推断内核</c:v>
                </c:pt>
                <c:pt idx="1">
                  <c:v>基准进程</c:v>
                </c:pt>
              </c:strCache>
            </c:strRef>
          </c:cat>
          <c:val>
            <c:numRef>
              <c:f>{8.26002349995542,32.3130000000237}</c:f>
              <c:numCache>
                <c:formatCode>General</c:formatCode>
                <c:ptCount val="2"/>
                <c:pt idx="0">
                  <c:v>8.26002349995542</c:v>
                </c:pt>
                <c:pt idx="1">
                  <c:v>32.3130000000237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D4D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w="9525">
              <a:solidFill>
                <a:srgbClr val="C9D4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50" b="0" i="0" u="none" strike="noStrike" kern="1200" baseline="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cd1758-0fee-454a-bfc0-7a5f8483d087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7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 RSS（MiB，越低越好）</a:t>
            </a:r>
            <a:endParaRPr sz="17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GitHub Python</c:f>
              <c:strCache>
                <c:ptCount val="1"/>
                <c:pt idx="0">
                  <c:v>GitHub Python</c:v>
                </c:pt>
              </c:strCache>
            </c:strRef>
          </c:tx>
          <c:spPr>
            <a:solidFill>
              <a:srgbClr val="9BA3AC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{"真实 PBMC","10 万合成细胞"}</c:f>
              <c:strCache>
                <c:ptCount val="2"/>
                <c:pt idx="0">
                  <c:v>真实 PBMC</c:v>
                </c:pt>
                <c:pt idx="1">
                  <c:v>10 万合成细胞</c:v>
                </c:pt>
              </c:strCache>
            </c:strRef>
          </c:cat>
          <c:val>
            <c:numRef>
              <c:f>{3219.99609375,1787.88671875}</c:f>
              <c:numCache>
                <c:formatCode>General</c:formatCode>
                <c:ptCount val="2"/>
                <c:pt idx="0">
                  <c:v>3219.99609375</c:v>
                </c:pt>
                <c:pt idx="1">
                  <c:v>1787.88671875</c:v>
                </c:pt>
              </c:numCache>
            </c:numRef>
          </c:val>
        </c:ser>
        <c:ser>
          <c:idx val="1"/>
          <c:order val="1"/>
          <c:tx>
            <c:strRef>
              <c:f>streaming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244B69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{"真实 PBMC","10 万合成细胞"}</c:f>
              <c:strCache>
                <c:ptCount val="2"/>
                <c:pt idx="0">
                  <c:v>真实 PBMC</c:v>
                </c:pt>
                <c:pt idx="1">
                  <c:v>10 万合成细胞</c:v>
                </c:pt>
              </c:strCache>
            </c:strRef>
          </c:cat>
          <c:val>
            <c:numRef>
              <c:f>{779.2265625,765.4609375}</c:f>
              <c:numCache>
                <c:formatCode>General</c:formatCode>
                <c:ptCount val="2"/>
                <c:pt idx="0">
                  <c:v>779.2265625</c:v>
                </c:pt>
                <c:pt idx="1">
                  <c:v>765.4609375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D4D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w="9525">
              <a:solidFill>
                <a:srgbClr val="C9D4D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50" b="0" i="0" u="none" strike="noStrike" kern="1200" baseline="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50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50" b="0" i="0" u="none" strike="noStrike" kern="1200" baseline="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6cb0624-2ee3-43bf-97cb-1bcf3eafb22c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这一部分介绍 PopStateVAE 的方法和真实数据实验。核心问题是 bulk 表达同时混合了细胞组成与细胞状态，模型尝试把两部分拆开，再用于患者表型预测和通信线索定位。</a:t>
            </a:r>
          </a:p>
          <a:p>
            <a:r>
              <a:t>汇报时先强调当前结论边界。模型已经表现出比例以外的预测信息，但尚未证明真实细胞状态可以被准确恢复。</a:t>
            </a:r>
          </a:p>
          <a:p/>
          <a:p>
            <a:r>
              <a:t>数据与资料来源</a:t>
            </a:r>
          </a:p>
          <a:p>
            <a:r>
              <a:t>E:\class\PopStateVAE\README.md</a:t>
            </a:r>
          </a:p>
          <a:p>
            <a:r>
              <a:t>E:\class\PopStateVAE\experiments\covid_comparison_20261020\README.md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在单细胞原始计数上训练条件 VAE。B 冻结 A 的解码器，用同供者人工混合物学习患者 bulk 的 RNA 贡献与类型状态。</a:t>
            </a:r>
          </a:p>
          <a:p>
            <a:r>
              <a:t>C 用状态与组成预测表型。D 在训练患者中筛选配体受体候选。E1 把 C 学到的表型方向投回独立参考细胞，E2 再检查候选通信与下游转录因子证据。</a:t>
            </a:r>
          </a:p>
          <a:p>
            <a:r>
              <a:t>本次实验使用仓库现有核心，没有为了追求更好结果改写模型。</a:t>
            </a:r>
          </a:p>
          <a:p/>
          <a:p>
            <a:r>
              <a:t>数据与资料来源</a:t>
            </a:r>
          </a:p>
          <a:p>
            <a:r>
              <a:t>E:\class\PopStateVAE\MODEL.md</a:t>
            </a:r>
          </a:p>
          <a:p>
            <a:r>
              <a:t>E:\class\PopStateVAE\STATE_MAPPING.md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单细胞参考按供者划分，避免同一供者同时进入训练和独立测试。患者预测采用五折 OOF，每位患者只接受未使用其标签拟合的模型预测。</a:t>
            </a:r>
          </a:p>
          <a:p>
            <a:r>
              <a:t>五个种子用于观察 A/B 初始化稳定性。置信区间对固定预测进行患者级分层 bootstrap，没有覆盖重新训练或重新抽取参考供者的不确定性。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E:\class\PopStateVAE\experiments\covid_comparison_20261020\README.md</a:t>
            </a:r>
          </a:p>
          <a:p>
            <a:r>
              <a:t>E:\class\PopStateVAE\experiments\covid_comparison_20261020\protocol.json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完整模型在两个队列中都优于仅比例消融，说明状态特征提供了额外预测信息。GSE157103 的 AUROC 提升约 0.042。</a:t>
            </a:r>
          </a:p>
          <a:p>
            <a:r>
              <a:t>直接 bulk 在两个队列的 log loss 都更低，在 GSE157103 的 AUROC 也更高。因此如果目标只是疾病分类，目前没有必要选择更复杂的拆分模型。</a:t>
            </a:r>
          </a:p>
          <a:p>
            <a:r>
              <a:t>GSE152418 只有 31 人，多个方法 AUROC 都为 1。这里的主要差异来自概率置信度，而不是排序。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E:\class\PopStateVAE\experiments\covid_comparison_20261020\results\summary\oof_metrics.csv</a:t>
            </a:r>
          </a:p>
          <a:p>
            <a:r>
              <a:t>E:\class\PopStateVAE\experiments\covid_comparison_20261020\results\summary\oof_paired_differences.csv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跨队列迁移出现明显方向差异。从 GSE157103 迁移到 GSE152418 时，仅比例优于完整模型。反方向完整模型优于仅比例，但概率校准仍然较差。</a:t>
            </a:r>
          </a:p>
          <a:p>
            <a:r>
              <a:t>在六位独立单细胞供者的人工混合物中，PopStateVAE 改善了 RNA 比例和类型表达误差，但整体混合表达重建反而稍差。</a:t>
            </a:r>
          </a:p>
          <a:p>
            <a:r>
              <a:t>这些结果支持部分同平台泛化，但不支持全面优于 NNLS。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E:\class\PopStateVAE\experiments\covid_comparison_20261020\results\summary\transfer_metrics.csv</a:t>
            </a:r>
          </a:p>
          <a:p>
            <a:r>
              <a:t>E:\class\PopStateVAE\experiments\covid_comparison_20261020\results\summary\reference_test_summary.csv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最重要的失败信号是真实 bulk 重建偏移。无论使用 TPM 还是计数，所有患者都超过单细胞验证混合物的 95% 残差阈值。</a:t>
            </a:r>
          </a:p>
          <a:p>
            <a:r>
              <a:t>这意味着 B 输出可以作为预测特征，但暂时不能解释成真实细胞比例或真实类型状态的准确测量。</a:t>
            </a:r>
          </a:p>
          <a:p>
            <a:r>
              <a:t>机制模块 D 在当前样本规模下发生 logistic 分离，两个队列的所有候选都不可检验。E2 因此没有实际候选。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E:\class\PopStateVAE\experiments\covid_comparison_20261020\results\summary\real_bulk_qc_summary.csv</a:t>
            </a:r>
          </a:p>
          <a:p>
            <a:r>
              <a:t>E:\class\PopStateVAE\experiments\covid_comparison_20261020\results\mechanism\GSE152418\D_summary.json</a:t>
            </a:r>
          </a:p>
          <a:p>
            <a:r>
              <a:t>E:\class\PopStateVAE\experiments\covid_comparison_20261020\results\mechanism\GSE157103\D_summary.json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结论应分为预测价值和生物学解释两部分。预测层面，状态特征提供了比例以外的信息。解释层面，真实 bulk 重建偏移仍然阻止我们把潜在状态当作可靠的细胞状态测量。</a:t>
            </a:r>
          </a:p>
          <a:p>
            <a:r>
              <a:t>下一步优先解决观测模型和真值验证，再扩展通信机制推断。若用于论文，当前更适合定位为预测增益与失败模式明确的基准研究。</a:t>
            </a:r>
          </a:p>
          <a:p>
            <a:r>
              <a:t>接下来进入 CellChatPy 的低内存通信推断部分。</a:t>
            </a:r>
          </a:p>
          <a:p/>
          <a:p>
            <a:r>
              <a:t>数据与资料来源</a:t>
            </a:r>
          </a:p>
          <a:p>
            <a:r>
              <a:t>E:\class\PopStateVAE\experiments\covid_comparison_20261020\README.md</a:t>
            </a:r>
          </a:p>
          <a:p>
            <a:r>
              <a:t>E:\class\PopStateVAE\experiments\covid_comparison_20261020\results\verification\benchmark_audit.json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今天汇报在已有 </a:t>
            </a:r>
            <a:r>
              <a:t>CellChatPy </a:t>
            </a:r>
            <a:r>
              <a:t>翻译工作基础上，探索保持计算定义的加速方法。此前教程已经提供 </a:t>
            </a:r>
            <a:r>
              <a:t>Python </a:t>
            </a:r>
            <a:r>
              <a:t>与 </a:t>
            </a:r>
            <a:r>
              <a:t>R </a:t>
            </a:r>
            <a:r>
              <a:t>原版的一致性证据，本次工作进一步聚焦 </a:t>
            </a:r>
            <a:r>
              <a:t>Python </a:t>
            </a:r>
            <a:r>
              <a:t>发布版内部的计算重组。汇报按研究目标、方法、验证、性能结果和论文推进展开。正文约</a:t>
            </a:r>
            <a:r>
              <a:t>25</a:t>
            </a:r>
            <a:r>
              <a:t>至</a:t>
            </a:r>
            <a:r>
              <a:t>30</a:t>
            </a:r>
            <a:r>
              <a:t>分钟，附录用于回答细节问题。</a:t>
            </a:r>
            <a:br/>
            <a:br/>
            <a:r>
              <a:t>数据与资料来源</a:t>
            </a:r>
            <a:br/>
            <a:r>
              <a:t>E:\Jin\cellchat.python_new\cellchat10.20\README.md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本页给出四项成果。实现方面可以直接替换原计算路径。验证方面建立了独立对照、回归测试和教程重跑的证据。真实</a:t>
            </a:r>
            <a:r>
              <a:t>PBMC</a:t>
            </a:r>
            <a:r>
              <a:t>在相同参数下取得</a:t>
            </a:r>
            <a:r>
              <a:t>82.18</a:t>
            </a:r>
            <a:r>
              <a:t>倍内核加速。百万合成细胞只完成了新引擎容量测试，不能报告该规模的成对加速倍数或数值一致性。后面分别说明每个数字对应的测量范围。</a:t>
            </a:r>
            <a:br/>
            <a:br/>
            <a:r>
              <a:t>数据与资料来源</a:t>
            </a:r>
            <a:br/>
            <a:r>
              <a:t>E:\Jin\cellchat.python_new\cellchat10.20\RESULTS.md</a:t>
            </a:r>
            <a:br/>
            <a:r>
              <a:t>E:\Jin\cellchat.python_new\cellchat10.20\results\benchmarks\REPORT.md</a:t>
            </a:r>
            <a:br/>
            <a:r>
              <a:t>E:\Jin\cellchat.python_new\cellchat10.20\validation\combined_regression.xml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CellChat </a:t>
            </a:r>
            <a:r>
              <a:t>原论文为 </a:t>
            </a:r>
            <a:r>
              <a:t>Jin </a:t>
            </a:r>
            <a:r>
              <a:t>等人在 </a:t>
            </a:r>
            <a:r>
              <a:t>Nature Communications 2021 </a:t>
            </a:r>
            <a:r>
              <a:t>年发表的 </a:t>
            </a:r>
            <a:r>
              <a:t>Inference and analysis of cell-cell communication using CellChat</a:t>
            </a:r>
            <a:r>
              <a:t>。本次研究起点是已完成的</a:t>
            </a:r>
            <a:r>
              <a:t>Python</a:t>
            </a:r>
            <a:r>
              <a:t>版本及教程验证。论文问题放在精确计算的可扩展性：相同表达矩阵、分组、数据库和随机置换，能否以更少的重复计算和临时内存得到同一结果。本次没有提出新的生物学通讯模型。</a:t>
            </a:r>
            <a:br/>
            <a:br/>
            <a:r>
              <a:t>数据与资料来源</a:t>
            </a:r>
            <a:br/>
            <a:r>
              <a:t>https://doi.org/10.1038/s41467-021-21246-9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本地存在多个源码目录，仅看仓库名称不能确认与线上一致。本次核对</a:t>
            </a:r>
            <a:r>
              <a:t>GitHub</a:t>
            </a:r>
            <a:r>
              <a:t>提交和本地</a:t>
            </a:r>
            <a:r>
              <a:t>Git</a:t>
            </a:r>
            <a:r>
              <a:t>对象，从提交对象提取冻结基线，避免把已修改工作树当作对照。原始根目录源码与线上在</a:t>
            </a:r>
            <a:r>
              <a:t>4</a:t>
            </a:r>
            <a:r>
              <a:t>个模块有差异，</a:t>
            </a:r>
            <a:r>
              <a:t>work2</a:t>
            </a:r>
            <a:r>
              <a:t>有</a:t>
            </a:r>
            <a:r>
              <a:t>9</a:t>
            </a:r>
            <a:r>
              <a:t>个模块差异。这些差异并未混入基线。所有新实现、数据、验证和结果保存在</a:t>
            </a:r>
            <a:r>
              <a:t>cellchat10.20</a:t>
            </a:r>
            <a:r>
              <a:t>。</a:t>
            </a:r>
            <a:br/>
            <a:br/>
            <a:r>
              <a:t>数据与资料来源</a:t>
            </a:r>
            <a:br/>
            <a:r>
              <a:t>E:\Jin\cellchat.python_new\cellchat10.20\README.md</a:t>
            </a:r>
            <a:br/>
            <a:r>
              <a:t>E:\Jin\cellchat.python_new\cellchat10.20\provenance\source_comparison.json</a:t>
            </a:r>
            <a:br/>
            <a:r>
              <a:t>E:\Jin\cellchat.python_new\cellchat10.20\provenance\github_commit.json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保持定义需要覆盖公式之外的语义。分位数插值、缺失标签、</a:t>
            </a:r>
            <a:r>
              <a:t>categorical</a:t>
            </a:r>
            <a:r>
              <a:t>类别顺序、随机序列以及浮点操作顺序都可能影响</a:t>
            </a:r>
            <a:r>
              <a:t>P</a:t>
            </a:r>
            <a:r>
              <a:t>值。原版使用严格大于零的超越计数，没有加一校正。因此本次不加入</a:t>
            </a:r>
            <a:r>
              <a:t>epsilon</a:t>
            </a:r>
            <a:r>
              <a:t>、不改成大于等于，也不采用提前停止。这样性能差异才能主要归因于执行方式变化。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本页来自源码结构分析，不是带耗时百分比的</a:t>
            </a:r>
            <a:r>
              <a:t>profiler</a:t>
            </a:r>
            <a:r>
              <a:t>结论，因此不把任何一项说成占总耗时多少。优化机会来自置换中的不变量：表达矩阵固定，变化的是标签。可以复用表达值顺序、逐次处理随机标签，并复用复合物表达。原实现末尾还有不返回的长格式表，新引擎省去这段构造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E:\Jin\cellchat.python_new\cellchat10.20\upstream\CellChatPy\modeling.py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先在完整</a:t>
            </a:r>
            <a:r>
              <a:t>signaling</a:t>
            </a:r>
            <a:r>
              <a:t>表达上确定归一化尺度，再构造依赖闭包并预排序所需基因的非零表达。观测标签下概率先计算一次。随后每次只生成一份置换标签，得到群体统计，按</a:t>
            </a:r>
            <a:r>
              <a:t>LR</a:t>
            </a:r>
            <a:r>
              <a:t>块计算概率，更新超过观测值的计数。最终计数除以置换次数，写回原有网络结构。公开结果仍含所有请求的</a:t>
            </a:r>
            <a:r>
              <a:t>LR</a:t>
            </a:r>
            <a:r>
              <a:t>和群体对。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</a:t>
            </a:r>
            <a:r>
              <a:t>8</a:t>
            </a:r>
            <a:r>
              <a:t>个细胞说明关键性质。表达为</a:t>
            </a:r>
            <a:r>
              <a:t>0</a:t>
            </a:r>
            <a:r>
              <a:t>、</a:t>
            </a:r>
            <a:r>
              <a:t>2</a:t>
            </a:r>
            <a:r>
              <a:t>、</a:t>
            </a:r>
            <a:r>
              <a:t>0</a:t>
            </a:r>
            <a:r>
              <a:t>、</a:t>
            </a:r>
            <a:r>
              <a:t>5</a:t>
            </a:r>
            <a:r>
              <a:t>、</a:t>
            </a:r>
            <a:r>
              <a:t>1</a:t>
            </a:r>
            <a:r>
              <a:t>、</a:t>
            </a:r>
            <a:r>
              <a:t>0</a:t>
            </a:r>
            <a:r>
              <a:t>、</a:t>
            </a:r>
            <a:r>
              <a:t>3</a:t>
            </a:r>
            <a:r>
              <a:t>、</a:t>
            </a:r>
            <a:r>
              <a:t>0</a:t>
            </a:r>
            <a:r>
              <a:t>，只保存一次非零表达全局排序及细胞编号。新标签下筛选属于</a:t>
            </a:r>
            <a:r>
              <a:t>A</a:t>
            </a:r>
            <a:r>
              <a:t>群的条目，顺序自然仍从小到大。补上该组隐式零即可确定完整向量分位数秩，无需真正创建完整向量。</a:t>
            </a:r>
            <a:r>
              <a:t>B</a:t>
            </a:r>
            <a:r>
              <a:t>群同理。示例是解释算法的构造数据，并非实际实验结果。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上一页</a:t>
            </a:r>
            <a:r>
              <a:t>A</a:t>
            </a:r>
            <a:r>
              <a:t>群三项分位数为</a:t>
            </a:r>
            <a:r>
              <a:t>0.75</a:t>
            </a:r>
            <a:r>
              <a:t>、</a:t>
            </a:r>
            <a:r>
              <a:t>1.5</a:t>
            </a:r>
            <a:r>
              <a:t>和</a:t>
            </a:r>
            <a:r>
              <a:t>2.75</a:t>
            </a:r>
            <a:r>
              <a:t>，</a:t>
            </a:r>
            <a:r>
              <a:t>triMean</a:t>
            </a:r>
            <a:r>
              <a:t>为</a:t>
            </a:r>
            <a:r>
              <a:t>1.625</a:t>
            </a:r>
            <a:r>
              <a:t>。</a:t>
            </a:r>
            <a:r>
              <a:t>B</a:t>
            </a:r>
            <a:r>
              <a:t>群上四分位数为</a:t>
            </a:r>
            <a:r>
              <a:t>0.75</a:t>
            </a:r>
            <a:r>
              <a:t>，</a:t>
            </a:r>
            <a:r>
              <a:t>triMean</a:t>
            </a:r>
            <a:r>
              <a:t>为</a:t>
            </a:r>
            <a:r>
              <a:t>0.1875</a:t>
            </a:r>
            <a:r>
              <a:t>。实现不只得到数学等价的近似值，还保持插值分支和必要的浮点操作顺序。置换检验比较严格超越，微小舍入变化可能改变是否计数。</a:t>
            </a:r>
            <a:r>
              <a:t>Numba</a:t>
            </a:r>
            <a:r>
              <a:t>路径关闭</a:t>
            </a:r>
            <a:r>
              <a:t>fastmath</a:t>
            </a:r>
            <a:r>
              <a:t>，</a:t>
            </a:r>
            <a:r>
              <a:t>median</a:t>
            </a:r>
            <a:r>
              <a:t>也单独保留原计算方式。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E:\Jin\cellchat.python_new\cellchat10.20\development\CellChatPy\_sparse_quantiles.py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每次处理一个置换，只保留当前标签、群体统计及超越次数。一百万细胞、一百次置换和</a:t>
            </a:r>
            <a:r>
              <a:t>int64</a:t>
            </a:r>
            <a:r>
              <a:t>索引下，全部置换索引约</a:t>
            </a:r>
            <a:r>
              <a:t>763MiB</a:t>
            </a:r>
            <a:r>
              <a:t>，单个置换约</a:t>
            </a:r>
            <a:r>
              <a:t>7.63MiB</a:t>
            </a:r>
            <a:r>
              <a:t>。这只说明索引一项的理论容量，不能当成整个进程内存减少</a:t>
            </a:r>
            <a:r>
              <a:t>100</a:t>
            </a:r>
            <a:r>
              <a:t>倍。表达矩阵、排序计划、输出和解释器仍占内存，最终通过</a:t>
            </a:r>
            <a:r>
              <a:t>RSS</a:t>
            </a:r>
            <a:r>
              <a:t>测量检验收益。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裁剪只省去当前交互不使用的群体统计，不修改候选交互定义。容易出错的是全局归一化顺序：不参与</a:t>
            </a:r>
            <a:r>
              <a:t>LR</a:t>
            </a:r>
            <a:r>
              <a:t>的基因仍可能决定最大表达。示例中若先删掉表达</a:t>
            </a:r>
            <a:r>
              <a:t>100</a:t>
            </a:r>
            <a:r>
              <a:t>的基因，会把</a:t>
            </a:r>
            <a:r>
              <a:t>10</a:t>
            </a:r>
            <a:r>
              <a:t>归一化成</a:t>
            </a:r>
            <a:r>
              <a:t>1</a:t>
            </a:r>
            <a:r>
              <a:t>，正确值是</a:t>
            </a:r>
            <a:r>
              <a:t>0.1</a:t>
            </a:r>
            <a:r>
              <a:t>。真实</a:t>
            </a:r>
            <a:r>
              <a:t>PBMC</a:t>
            </a:r>
            <a:r>
              <a:t>的</a:t>
            </a:r>
            <a:r>
              <a:t>1404</a:t>
            </a:r>
            <a:r>
              <a:t>个</a:t>
            </a:r>
            <a:r>
              <a:t>signaling</a:t>
            </a:r>
            <a:r>
              <a:t>基因中</a:t>
            </a:r>
            <a:r>
              <a:t>1379</a:t>
            </a:r>
            <a:r>
              <a:t>个仍需统计，裁剪很少，所以不能简单把主要加速归因于少算很多基因。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</a:t>
            </a:r>
            <a:r>
              <a:t>为细胞数，</a:t>
            </a:r>
            <a:r>
              <a:t>G</a:t>
            </a:r>
            <a:r>
              <a:t>为依赖闭包内基因数，</a:t>
            </a:r>
            <a:r>
              <a:t>K</a:t>
            </a:r>
            <a:r>
              <a:t>为群体数，</a:t>
            </a:r>
            <a:r>
              <a:t>Z</a:t>
            </a:r>
            <a:r>
              <a:t>为这些基因非零数，</a:t>
            </a:r>
            <a:r>
              <a:t>L</a:t>
            </a:r>
            <a:r>
              <a:t>为</a:t>
            </a:r>
            <a:r>
              <a:t>LR</a:t>
            </a:r>
            <a:r>
              <a:t>数，</a:t>
            </a:r>
            <a:r>
              <a:t>B</a:t>
            </a:r>
            <a:r>
              <a:t>为置换数。一次预排序后，稀疏</a:t>
            </a:r>
            <a:r>
              <a:t>triMean</a:t>
            </a:r>
            <a:r>
              <a:t>或</a:t>
            </a:r>
            <a:r>
              <a:t>median</a:t>
            </a:r>
            <a:r>
              <a:t>主要扫描非零项、构造群统计并计算</a:t>
            </a:r>
            <a:r>
              <a:t>LR</a:t>
            </a:r>
            <a:r>
              <a:t>群体对。工作内存不再含</a:t>
            </a:r>
            <a:r>
              <a:t>B</a:t>
            </a:r>
            <a:r>
              <a:t>倍内部张量，但不能忽略裁剪前完整</a:t>
            </a:r>
            <a:r>
              <a:t>signaling</a:t>
            </a:r>
            <a:r>
              <a:t>表达提取和归一化。外部置换逐列唯一性检查也包含排序成本。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原教程的主体调用方式可以延续。默认</a:t>
            </a:r>
            <a:r>
              <a:t>streaming</a:t>
            </a:r>
            <a:r>
              <a:t>，也可显式选择引擎。</a:t>
            </a:r>
            <a:r>
              <a:t>gene_batch_size</a:t>
            </a:r>
            <a:r>
              <a:t>约束回退计算临时数据，</a:t>
            </a:r>
            <a:r>
              <a:t>lr_batch_size</a:t>
            </a:r>
            <a:r>
              <a:t>约束</a:t>
            </a:r>
            <a:r>
              <a:t>LR</a:t>
            </a:r>
            <a:r>
              <a:t>概率块。</a:t>
            </a:r>
            <a:r>
              <a:t>accelerate</a:t>
            </a:r>
            <a:r>
              <a:t>依赖提供</a:t>
            </a:r>
            <a:r>
              <a:t>Numba</a:t>
            </a:r>
            <a:r>
              <a:t>编译，没有</a:t>
            </a:r>
            <a:r>
              <a:t>Numba</a:t>
            </a:r>
            <a:r>
              <a:t>保留纯</a:t>
            </a:r>
            <a:r>
              <a:t>Python</a:t>
            </a:r>
            <a:r>
              <a:t>正确性回退，但大规模性能下降。开发包</a:t>
            </a:r>
            <a:r>
              <a:t>legacy</a:t>
            </a:r>
            <a:r>
              <a:t>分支用于诊断，正式实验另加载冻结</a:t>
            </a:r>
            <a:r>
              <a:t>upstream</a:t>
            </a:r>
            <a:r>
              <a:t>，避免只比较程序内部两分支。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E:\Jin\cellchat.python_new\cellchat10.20\development\docs\streaming_engine.md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回归测试负责边界条件，完整教程负责实际路径，大数据对照负责规模变化后是否仍得到相同结果。概率预设接受误差</a:t>
            </a:r>
            <a:r>
              <a:t>1e-12</a:t>
            </a:r>
            <a:r>
              <a:t>，</a:t>
            </a:r>
            <a:r>
              <a:t>P</a:t>
            </a:r>
            <a:r>
              <a:t>值和显著性判定精确一致。实际上已完成大数据成对测试的概率和</a:t>
            </a:r>
            <a:r>
              <a:t>P</a:t>
            </a:r>
            <a:r>
              <a:t>值都达到</a:t>
            </a:r>
            <a:r>
              <a:t>array_equal</a:t>
            </a:r>
            <a:r>
              <a:t>。正确性指对固定</a:t>
            </a:r>
            <a:r>
              <a:t>Python</a:t>
            </a:r>
            <a:r>
              <a:t>基线的兼容，不等同于验证真实生物学通讯。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E:\Jin\cellchat.python_new\cellchat10.20\validation\regression_provenance.json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303</a:t>
            </a:r>
            <a:r>
              <a:t>项测试全部通过，没有跳过项。覆盖稀疏重复索引和显式零、分位数边界、缺失标签、外部置换等易静默出错情况。模型测试检查复合物、辅因子和空间条件。执行记录绑定源码指纹。交付另进行了</a:t>
            </a:r>
            <a:r>
              <a:t>217</a:t>
            </a:r>
            <a:r>
              <a:t>项保存证据审计，它和</a:t>
            </a:r>
            <a:r>
              <a:t>303</a:t>
            </a:r>
            <a:r>
              <a:t>项算法及发行测试不同，不将二者相加作为测试数量。</a:t>
            </a:r>
            <a:br/>
            <a:br/>
            <a:r>
              <a:t>数据与资料来源</a:t>
            </a:r>
            <a:br/>
            <a:r>
              <a:t>E:\Jin\cellchat.python_new\cellchat10.20\validation\combined_regression.xml</a:t>
            </a:r>
            <a:br/>
            <a:r>
              <a:t>E:\Jin\cellchat.python_new\cellchat10.20\validation\regression_provenance.json</a:t>
            </a:r>
            <a:br/>
            <a:r>
              <a:t>E:\Jin\cellchat.python_new\cellchat10.20\validation\delivery_audit.json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Docs</a:t>
            </a:r>
            <a:r>
              <a:t>七本公开</a:t>
            </a:r>
            <a:r>
              <a:t>notebook</a:t>
            </a:r>
            <a:r>
              <a:t>与冻结</a:t>
            </a:r>
            <a:r>
              <a:t>GitHub</a:t>
            </a:r>
            <a:r>
              <a:t>代码单元已核对。每版执行</a:t>
            </a:r>
            <a:r>
              <a:t>123</a:t>
            </a:r>
            <a:r>
              <a:t>个原始代码单元，合计</a:t>
            </a:r>
            <a:r>
              <a:t>14</a:t>
            </a:r>
            <a:r>
              <a:t>次完整执行通过。工作流还包含降维、绘图、空间分析和保存，完整教程加速幅度因此不同，不能期待每一本都达到内核倍数。没有通过跳过失败单元取得完成状态。</a:t>
            </a:r>
            <a:br/>
            <a:br/>
            <a:r>
              <a:t>数据与资料来源</a:t>
            </a:r>
            <a:br/>
            <a:r>
              <a:t>E:\Jin\cellchat.python_new\cellchat10.20\validation\tutorial_comparison_reference_development.json</a:t>
            </a:r>
            <a:br/>
            <a:r>
              <a:t>https://cellchatpy.readthedocs.io/en/latest/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进一步核对四本教程新保存对象，共</a:t>
            </a:r>
            <a:r>
              <a:t>48178</a:t>
            </a:r>
            <a:r>
              <a:t>个数组。</a:t>
            </a:r>
            <a:r>
              <a:t>47867</a:t>
            </a:r>
            <a:r>
              <a:t>个精确相同，</a:t>
            </a:r>
            <a:r>
              <a:t>311</a:t>
            </a:r>
            <a:r>
              <a:t>个满足预设</a:t>
            </a:r>
            <a:r>
              <a:t>1e-12</a:t>
            </a:r>
            <a:r>
              <a:t>容差，最大绝对差</a:t>
            </a:r>
            <a:r>
              <a:t>1.5543e-14</a:t>
            </a:r>
            <a:r>
              <a:t>。差异全属</a:t>
            </a:r>
            <a:r>
              <a:t>psoriasis</a:t>
            </a:r>
            <a:r>
              <a:t>通路网络</a:t>
            </a:r>
            <a:r>
              <a:t>hub</a:t>
            </a:r>
            <a:r>
              <a:t>、</a:t>
            </a:r>
            <a:r>
              <a:t>authority</a:t>
            </a:r>
            <a:r>
              <a:t>、</a:t>
            </a:r>
            <a:r>
              <a:t>eigen</a:t>
            </a:r>
            <a:r>
              <a:t>中心性。中心性源码一致，与谱迭代数值波动相容，但未做专门因果实验。核心概率、</a:t>
            </a:r>
            <a:r>
              <a:t>P</a:t>
            </a:r>
            <a:r>
              <a:t>值、聚合和</a:t>
            </a:r>
            <a:r>
              <a:t>spot</a:t>
            </a:r>
            <a:r>
              <a:t>概率一致。三个空间教程默认未导出完整对象，其通路结果由执行和图像覆盖。</a:t>
            </a:r>
            <a:br/>
            <a:br/>
            <a:r>
              <a:t>数据与资料来源</a:t>
            </a:r>
            <a:br/>
            <a:r>
              <a:t>E:\Jin\cellchat.python_new\cellchat10.20\validation\tutorial_saved_object_comparison.json</a:t>
            </a:r>
            <a:br/>
            <a:r>
              <a:t>E:\Jin\cellchat.python_new\cellchat10.20\validation\tutorial_tolerance_differences.md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展示本次开发版完整运行</a:t>
            </a:r>
            <a:r>
              <a:t>humanSkin</a:t>
            </a:r>
            <a:r>
              <a:t>教程产生的通讯数量网络。图像说明下游绘图正常衔接，不能替代数值核验。每版</a:t>
            </a:r>
            <a:r>
              <a:t>148</a:t>
            </a:r>
            <a:r>
              <a:t>张</a:t>
            </a:r>
            <a:r>
              <a:t>PNG</a:t>
            </a:r>
            <a:r>
              <a:t>中</a:t>
            </a:r>
            <a:r>
              <a:t>147</a:t>
            </a:r>
            <a:r>
              <a:t>张字节一致。唯一不同的</a:t>
            </a:r>
            <a:r>
              <a:t>NL/LS</a:t>
            </a:r>
            <a:r>
              <a:t>气泡图，部分并列类别列顺序变化，列标签与对应数据匹配。已有绘图排序键未纳入样本，虚线分隔假定样本块连续，因此应按显式列标签读取。</a:t>
            </a:r>
            <a:br/>
            <a:br/>
            <a:r>
              <a:t>数据与资料来源</a:t>
            </a:r>
            <a:br/>
            <a:r>
              <a:t>E:\Jin\cellchat.python_new\cellchat10.20\validation\tutorial_comparison_reference_development.json</a:t>
            </a:r>
            <a:br/>
            <a:r>
              <a:t>E:\Jin\cellchat.python_new\cellchat10.20\validation\figure_difference_notes.md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这些问题在严格重跑中发现，需要透明记录。</a:t>
            </a:r>
            <a:r>
              <a:t>Visium</a:t>
            </a:r>
            <a:r>
              <a:t>差异出在教程手算断言的</a:t>
            </a:r>
            <a:r>
              <a:t>0.05</a:t>
            </a:r>
            <a:r>
              <a:t>边界，修订同时用于两版执行，没有改变算法阈值。</a:t>
            </a:r>
            <a:r>
              <a:t>H5AD</a:t>
            </a:r>
            <a:r>
              <a:t>保存后字典顺序可能变化，新版增加矩阵轴顺序元数据，属于可靠性修复。旧</a:t>
            </a:r>
            <a:r>
              <a:t>pathway</a:t>
            </a:r>
            <a:r>
              <a:t>文件若无顺序元数据及恢复依据，不能凭空重建历史插入顺序。这些修复不计入算法加速创新。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E:\Jin\cellchat.python_new\cellchat10.20\validation\figure_difference_notes.md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基线为冻结</a:t>
            </a:r>
            <a:r>
              <a:t>GitHub Python</a:t>
            </a:r>
            <a:r>
              <a:t>版，尚无</a:t>
            </a:r>
            <a:r>
              <a:t>R</a:t>
            </a:r>
            <a:r>
              <a:t>版或其他工具实测。候选</a:t>
            </a:r>
            <a:r>
              <a:t>LR</a:t>
            </a:r>
            <a:r>
              <a:t>固定，差异表达筛选不计入内核。新进程首次调用包含</a:t>
            </a:r>
            <a:r>
              <a:t>JIT</a:t>
            </a:r>
            <a:r>
              <a:t>初始化或缓存读取，但不保证无缓存冷编译。最终刷新保留已完成</a:t>
            </a:r>
            <a:r>
              <a:t>upstream</a:t>
            </a:r>
            <a:r>
              <a:t>结果，仅重跑开发版，应进一步补交替重复。主机内存</a:t>
            </a:r>
            <a:r>
              <a:t>15.71GiB</a:t>
            </a:r>
            <a:r>
              <a:t>，有后台压力，未测分页</a:t>
            </a:r>
            <a:r>
              <a:t>I/O</a:t>
            </a:r>
            <a:r>
              <a:t>。进程计时包括本进程对象准备，但不包括此前外部下载及数据预处理。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E:\Jin\cellchat.python_new\cellchat10.20\provenance\environment.json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</a:t>
            </a:r>
            <a:r>
              <a:t>10x fresh68k donorA</a:t>
            </a:r>
            <a:r>
              <a:t>的</a:t>
            </a:r>
            <a:r>
              <a:t>68579</a:t>
            </a:r>
            <a:r>
              <a:t>个细胞和</a:t>
            </a:r>
            <a:r>
              <a:t>32738</a:t>
            </a:r>
            <a:r>
              <a:t>个原始基因。先按全库归一化，再提取</a:t>
            </a:r>
            <a:r>
              <a:t>1404</a:t>
            </a:r>
            <a:r>
              <a:t>个</a:t>
            </a:r>
            <a:r>
              <a:t>signaling</a:t>
            </a:r>
            <a:r>
              <a:t>基因，共</a:t>
            </a:r>
            <a:r>
              <a:t>1523308</a:t>
            </a:r>
            <a:r>
              <a:t>个非零条目。旧官方标签仅覆盖约四万细胞，因此采用</a:t>
            </a:r>
            <a:r>
              <a:t>30</a:t>
            </a:r>
            <a:r>
              <a:t>维</a:t>
            </a:r>
            <a:r>
              <a:t>SVD</a:t>
            </a:r>
            <a:r>
              <a:t>和</a:t>
            </a:r>
            <a:r>
              <a:t>MiniBatchKMeans</a:t>
            </a:r>
            <a:r>
              <a:t>为全部细胞构造</a:t>
            </a:r>
            <a:r>
              <a:t>10</a:t>
            </a:r>
            <a:r>
              <a:t>个计算分组。这些不是经验证的细胞类型。</a:t>
            </a:r>
            <a:r>
              <a:t>3072</a:t>
            </a:r>
            <a:r>
              <a:t>对</a:t>
            </a:r>
            <a:r>
              <a:t>LR</a:t>
            </a:r>
            <a:r>
              <a:t>由配体受体可用性确定，没有差异表达筛选。</a:t>
            </a:r>
            <a:br/>
            <a:br/>
            <a:r>
              <a:t>数据与资料来源</a:t>
            </a:r>
            <a:br/>
            <a:r>
              <a:t>E:\Jin\cellchat.python_new\cellchat10.20\data\pbmc68k_signaling\manifest.json</a:t>
            </a:r>
            <a:br/>
            <a:r>
              <a:t>E:\Jin\cellchat.python_new\cellchat10.20\data\pbmc68k_download_manifest.json</a:t>
            </a:r>
            <a:br/>
            <a:r>
              <a:t>E:\Jin\cellchat.python_new\cellchat10.20\results\benchmarks\REPORT.md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</a:t>
            </a:r>
            <a:r>
              <a:t>PBMC</a:t>
            </a:r>
            <a:r>
              <a:t>、</a:t>
            </a:r>
            <a:r>
              <a:t>3072</a:t>
            </a:r>
            <a:r>
              <a:t>对候选</a:t>
            </a:r>
            <a:r>
              <a:t>LR</a:t>
            </a:r>
            <a:r>
              <a:t>和</a:t>
            </a:r>
            <a:r>
              <a:t>100</a:t>
            </a:r>
            <a:r>
              <a:t>次置换，内核</a:t>
            </a:r>
            <a:r>
              <a:t>678.77</a:t>
            </a:r>
            <a:r>
              <a:t>秒降至</a:t>
            </a:r>
            <a:r>
              <a:t>8.26</a:t>
            </a:r>
            <a:r>
              <a:t>秒，为</a:t>
            </a:r>
            <a:r>
              <a:t>82.18</a:t>
            </a:r>
            <a:r>
              <a:t>倍。包含导入、保存等成本的基准进程</a:t>
            </a:r>
            <a:r>
              <a:t>710.25</a:t>
            </a:r>
            <a:r>
              <a:t>秒降至</a:t>
            </a:r>
            <a:r>
              <a:t>32.31</a:t>
            </a:r>
            <a:r>
              <a:t>秒，为</a:t>
            </a:r>
            <a:r>
              <a:t>21.98</a:t>
            </a:r>
            <a:r>
              <a:t>倍。汇报应说内核</a:t>
            </a:r>
            <a:r>
              <a:t>82</a:t>
            </a:r>
            <a:r>
              <a:t>倍，不能说完整流程</a:t>
            </a:r>
            <a:r>
              <a:t>82</a:t>
            </a:r>
            <a:r>
              <a:t>倍。该配置仅一组成对运行，没有置信区间。所有概率与</a:t>
            </a:r>
            <a:r>
              <a:t>P</a:t>
            </a:r>
            <a:r>
              <a:t>值逐元素精确一致。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E:\Jin\cellchat.python_new\cellchat10.20\results\benchmarks\pbmc68579_b100\summary.json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RSS</a:t>
            </a:r>
            <a:r>
              <a:t>采用同一外部</a:t>
            </a:r>
            <a:r>
              <a:t>100</a:t>
            </a:r>
            <a:r>
              <a:t>毫秒采样口径。</a:t>
            </a:r>
            <a:r>
              <a:t>PBMC</a:t>
            </a:r>
            <a:r>
              <a:t>约</a:t>
            </a:r>
            <a:r>
              <a:t>3220MiB</a:t>
            </a:r>
            <a:r>
              <a:t>降至</a:t>
            </a:r>
            <a:r>
              <a:t>779MiB</a:t>
            </a:r>
            <a:r>
              <a:t>，下降</a:t>
            </a:r>
            <a:r>
              <a:t>75.80%</a:t>
            </a:r>
            <a:r>
              <a:t>。十万合成细胞取三次中位数，</a:t>
            </a:r>
            <a:r>
              <a:t>1788MiB</a:t>
            </a:r>
            <a:r>
              <a:t>降至</a:t>
            </a:r>
            <a:r>
              <a:t>765MiB</a:t>
            </a:r>
            <a:r>
              <a:t>，下降</a:t>
            </a:r>
            <a:r>
              <a:t>57.19%</a:t>
            </a:r>
            <a:r>
              <a:t>。</a:t>
            </a:r>
            <a:r>
              <a:t>RSS</a:t>
            </a:r>
            <a:r>
              <a:t>是驻留物理内存，和</a:t>
            </a:r>
            <a:r>
              <a:t>private memory</a:t>
            </a:r>
            <a:r>
              <a:t>不是同一量。采样可能漏掉短暂峰值，因此报告观测峰值，不是严格分配上界。理论索引容量不替代此实测。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配置为十万细胞、</a:t>
            </a:r>
            <a:r>
              <a:t>256</a:t>
            </a:r>
            <a:r>
              <a:t>基因、</a:t>
            </a:r>
            <a:r>
              <a:t>10</a:t>
            </a:r>
            <a:r>
              <a:t>群体、</a:t>
            </a:r>
            <a:r>
              <a:t>100</a:t>
            </a:r>
            <a:r>
              <a:t>对</a:t>
            </a:r>
            <a:r>
              <a:t>LR</a:t>
            </a:r>
            <a:r>
              <a:t>和</a:t>
            </a:r>
            <a:r>
              <a:t>100</a:t>
            </a:r>
            <a:r>
              <a:t>次置换。开发版三个独立进程分别为</a:t>
            </a:r>
            <a:r>
              <a:t>1.574</a:t>
            </a:r>
            <a:r>
              <a:t>、</a:t>
            </a:r>
            <a:r>
              <a:t>1.530</a:t>
            </a:r>
            <a:r>
              <a:t>和</a:t>
            </a:r>
            <a:r>
              <a:t>1.987</a:t>
            </a:r>
            <a:r>
              <a:t>秒。两版各取中位数后比值</a:t>
            </a:r>
            <a:r>
              <a:t>114.67</a:t>
            </a:r>
            <a:r>
              <a:t>，采用的是中位数之比。每次成对结果概率和</a:t>
            </a:r>
            <a:r>
              <a:t>P</a:t>
            </a:r>
            <a:r>
              <a:t>值精确一致。合成实验有利于控制规模，但不代表真实生物学分布。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E:\Jin\cellchat.python_new\cellchat10.20\results\benchmarks\synthetic100000_b100\summary.json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百万规模测试资源预算下是否可完成。输入百万合成细胞、</a:t>
            </a:r>
            <a:r>
              <a:t>256</a:t>
            </a:r>
            <a:r>
              <a:t>基因、</a:t>
            </a:r>
            <a:r>
              <a:t>10</a:t>
            </a:r>
            <a:r>
              <a:t>群体、</a:t>
            </a:r>
            <a:r>
              <a:t>100</a:t>
            </a:r>
            <a:r>
              <a:t>对</a:t>
            </a:r>
            <a:r>
              <a:t>LR</a:t>
            </a:r>
            <a:r>
              <a:t>和</a:t>
            </a:r>
            <a:r>
              <a:t>100</a:t>
            </a:r>
            <a:r>
              <a:t>次置换，闭包</a:t>
            </a:r>
            <a:r>
              <a:t>59</a:t>
            </a:r>
            <a:r>
              <a:t>基因。新内核</a:t>
            </a:r>
            <a:r>
              <a:t>29.903</a:t>
            </a:r>
            <a:r>
              <a:t>秒，进程</a:t>
            </a:r>
            <a:r>
              <a:t>60.719</a:t>
            </a:r>
            <a:r>
              <a:t>秒，峰值</a:t>
            </a:r>
            <a:r>
              <a:t>RSS1543.160MiB</a:t>
            </a:r>
            <a:r>
              <a:t>。基线</a:t>
            </a:r>
            <a:r>
              <a:t>58.937</a:t>
            </a:r>
            <a:r>
              <a:t>秒触及</a:t>
            </a:r>
            <a:r>
              <a:t>4GiB</a:t>
            </a:r>
            <a:r>
              <a:t>私有内存预算而停止，没有参考输出。因此只能报告容量可行性，不能报告该规模一致性或倍数，也不能外推任意全</a:t>
            </a:r>
            <a:r>
              <a:t>LR</a:t>
            </a:r>
            <a:r>
              <a:t>真实百万图谱。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E:\Jin\cellchat.python_new\cellchat10.20\results\benchmarks\synthetic1000000_b100\summary.json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5000</a:t>
            </a:r>
            <a:r>
              <a:t>细胞、</a:t>
            </a:r>
            <a:r>
              <a:t>256</a:t>
            </a:r>
            <a:r>
              <a:t>基因、</a:t>
            </a:r>
            <a:r>
              <a:t>100</a:t>
            </a:r>
            <a:r>
              <a:t>对</a:t>
            </a:r>
            <a:r>
              <a:t>LR</a:t>
            </a:r>
            <a:r>
              <a:t>和</a:t>
            </a:r>
            <a:r>
              <a:t>20</a:t>
            </a:r>
            <a:r>
              <a:t>置换，每配置预热</a:t>
            </a:r>
            <a:r>
              <a:t>1</a:t>
            </a:r>
            <a:r>
              <a:t>次，再计时</a:t>
            </a:r>
            <a:r>
              <a:t>3</a:t>
            </a:r>
            <a:r>
              <a:t>次，轮换执行顺序。完整方案中位数</a:t>
            </a:r>
            <a:r>
              <a:t>0.227</a:t>
            </a:r>
            <a:r>
              <a:t>秒。关闭稀疏排序计划为</a:t>
            </a:r>
            <a:r>
              <a:t>1.488</a:t>
            </a:r>
            <a:r>
              <a:t>秒，即</a:t>
            </a:r>
            <a:r>
              <a:t>6.55</a:t>
            </a:r>
            <a:r>
              <a:t>倍时间，支持本例中排序复用的贡献。关闭裁剪反而略快，为</a:t>
            </a:r>
            <a:r>
              <a:t>0.203</a:t>
            </a:r>
            <a:r>
              <a:t>秒，所以裁剪不是所有规模都提速。九个输出全部精确一致。预热消融不能与独立新进程时间直接混用。</a:t>
            </a:r>
            <a:br/>
            <a:br/>
            <a:r>
              <a:t>数据与资料来源</a:t>
            </a:r>
            <a:br/>
            <a:r>
              <a:t>E:\Jin\cellchat.python_new\cellchat10.20\validation\ablation.json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证据支持固定</a:t>
            </a:r>
            <a:r>
              <a:t>Python</a:t>
            </a:r>
            <a:r>
              <a:t>基线上的兼容性和性能改善，尚不能宣称优于全部实现或保证发表。真实数据重复、基线选择和环境控制要补强。全流程受其他步骤影响，</a:t>
            </a:r>
            <a:r>
              <a:t>psoriasis</a:t>
            </a:r>
            <a:r>
              <a:t>教程甚至稍慢。百万规模是合成数据，基线未完成。保留原始</a:t>
            </a:r>
            <a:r>
              <a:t>P</a:t>
            </a:r>
            <a:r>
              <a:t>值含零</a:t>
            </a:r>
            <a:r>
              <a:t>P</a:t>
            </a:r>
            <a:r>
              <a:t>值语义，是兼容研究的选择，不是统计修正。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  <a:br/>
            <a:r>
              <a:t>E:\Jin\cellchat.python_new\cellchat10.20\METHOD.md</a:t>
            </a:r>
            <a:br/>
            <a:r>
              <a:t>E:\Jin\cellchat.python_new\cellchat10.20\RESEARCH_POSITIONING.md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建议定位为保持计算语义的可扩展推断方法。方法贡献是可复用稀疏顺序统计和不随置换数增长的内部存储组织，结合依赖分析。工程贡献是接入既有</a:t>
            </a:r>
            <a:r>
              <a:t>API</a:t>
            </a:r>
            <a:r>
              <a:t>并提供独立基线、完整教程和规模验证。投稿前需检索稀疏顺序统计、分组分位数及置换算法文献，确认差异。不能直接把算法部件宣称首创。</a:t>
            </a:r>
            <a:br/>
            <a:br/>
            <a:r>
              <a:t>数据与资料来源</a:t>
            </a:r>
            <a:br/>
            <a:r>
              <a:t>E:\Jin\cellchat.python_new\cellchat10.20\RESEARCH_POSITIONING.md</a:t>
            </a:r>
            <a:br/>
            <a:r>
              <a:t>E:\Jin\cellchat.python_new\cellchat10.20\METHOD.md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最优先补论文证据链。先确认与</a:t>
            </a:r>
            <a:r>
              <a:t>R</a:t>
            </a:r>
            <a:r>
              <a:t>和已有</a:t>
            </a:r>
            <a:r>
              <a:t>Python</a:t>
            </a:r>
            <a:r>
              <a:t>实现的公平对照，再把真实数据重复做稳。随后用单因素规模曲线说明何时排序复用有效、何时输出张量主导内存。最后扩展组织和空间应用，记录完整流程时间。这些实验能帮助明确相对已有工作的价值和适用边界。</a:t>
            </a:r>
            <a:br/>
            <a:br/>
            <a:r>
              <a:t>数据与资料来源</a:t>
            </a:r>
            <a:br/>
            <a:r>
              <a:t>E:\Jin\cellchat.python_new\cellchat10.20\RESEARCH_POSITIONING.md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本次已从语言迁移推进到有明确算法结构、实现和验证证据的加速原型。核心是利用表达固定的不变量复用稀疏排序，逐次处理置换。真实</a:t>
            </a:r>
            <a:r>
              <a:t>PBMC</a:t>
            </a:r>
            <a:r>
              <a:t>和教程结果支持继续发展。讨论可聚焦目标期刊更看重算法分析还是软件实用性，以及首先补哪些比较实验。现场需要时再打开附录。</a:t>
            </a:r>
            <a:br/>
            <a:br/>
            <a:r>
              <a:t>数据与资料来源</a:t>
            </a:r>
            <a:br/>
            <a:r>
              <a:t>E:\Jin\cellchat.python_new\cellchat10.20\RESULTS.md</a:t>
            </a:r>
            <a:br/>
            <a:r>
              <a:t>E:\Jin\cellchat.python_new\cellchat10.20\results\benchmarks\REPORT.md</a:t>
            </a:r>
            <a:br/>
            <a:r>
              <a:t>E:\Jin\cellchat.python_new\cellchat10.20\RESEARCH_POSITIONING.md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总时间包含</a:t>
            </a:r>
            <a:r>
              <a:t>notebook</a:t>
            </a:r>
            <a:r>
              <a:t>其他处理与绘图，推断列只统计捕获到的细胞群推断调用。前三教程内核明显下降，多空间其他操作占比较大。</a:t>
            </a:r>
            <a:r>
              <a:t>psoriasis</a:t>
            </a:r>
            <a:r>
              <a:t>主要是未修改的</a:t>
            </a:r>
            <a:r>
              <a:t>spot</a:t>
            </a:r>
            <a:r>
              <a:t>工作流，总时间</a:t>
            </a:r>
            <a:r>
              <a:t>118.83</a:t>
            </a:r>
            <a:r>
              <a:t>秒到</a:t>
            </a:r>
            <a:r>
              <a:t>122.07</a:t>
            </a:r>
            <a:r>
              <a:t>秒，无重复置信区间，不能把这点变化解释成稳定退化。各教程以描述性结果报告。</a:t>
            </a:r>
            <a:br/>
            <a:br/>
            <a:r>
              <a:t>数据与资料来源</a:t>
            </a:r>
            <a:br/>
            <a:r>
              <a:t>E:\Jin\cellchat.python_new\cellchat10.20\validation\tutorial_comparison_reference_development.json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汇总五个规模配置。</a:t>
            </a:r>
            <a:r>
              <a:t>PBMC</a:t>
            </a:r>
            <a:r>
              <a:t>十次和百次置换各一对，五千和十万合成各三对，报告中位数。百万合成只有新引擎完成，基线和倍数留空。输出、进程记录与源码指纹在对应</a:t>
            </a:r>
            <a:r>
              <a:t>summary.json</a:t>
            </a:r>
            <a:r>
              <a:t>和</a:t>
            </a:r>
            <a:r>
              <a:t>worker</a:t>
            </a:r>
            <a:r>
              <a:t>文件中。内核比值不代表全流程加速，合成与真实数据不应合并解释为生物学扩展曲线。</a:t>
            </a:r>
            <a:br/>
            <a:br/>
            <a:r>
              <a:t>数据与资料来源</a:t>
            </a:r>
            <a:br/>
            <a:r>
              <a:t>E:\Jin\cellchat.python_new\cellchat10.20\results\benchmarks\REPORT.md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本表解释为什么单纯批量化不等于计算等价。缺失标签细胞虽不参与当前群统计，仍参与完整标签置换及</a:t>
            </a:r>
            <a:r>
              <a:t>population</a:t>
            </a:r>
            <a:r>
              <a:t>分母。稀疏重复索引先求和，显式与隐式零等价。外部置换逐列验证，避免额外分配整张矩阵。严格大于条件敏感，不用容差代替。详细案例保存在回归测试和</a:t>
            </a:r>
            <a:r>
              <a:t>METHOD</a:t>
            </a:r>
            <a:r>
              <a:t>中。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E:\Jin\cellchat.python_new\cellchat10.20\validation\combined_regression.xml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工作目录为</a:t>
            </a:r>
            <a:r>
              <a:t>cellchat10.20</a:t>
            </a:r>
            <a:r>
              <a:t>。安装</a:t>
            </a:r>
            <a:r>
              <a:t>development</a:t>
            </a:r>
            <a:r>
              <a:t>的</a:t>
            </a:r>
            <a:r>
              <a:t>accelerate</a:t>
            </a:r>
            <a:r>
              <a:t>依赖。</a:t>
            </a:r>
            <a:r>
              <a:t>run_checks.ps1</a:t>
            </a:r>
            <a:r>
              <a:t>执行基线完整性、原发行和新算法测试，附加</a:t>
            </a:r>
            <a:r>
              <a:t>Tutorials</a:t>
            </a:r>
            <a:r>
              <a:t>或</a:t>
            </a:r>
            <a:r>
              <a:t>LargeBenchmarks</a:t>
            </a:r>
            <a:r>
              <a:t>可重跑相关任务。</a:t>
            </a:r>
            <a:r>
              <a:t>validate_delivery</a:t>
            </a:r>
            <a:r>
              <a:t>仅核验已有证据。迁移机器需重建</a:t>
            </a:r>
            <a:r>
              <a:t>Python3.11</a:t>
            </a:r>
            <a:r>
              <a:t>环境并使用</a:t>
            </a:r>
            <a:r>
              <a:t>provenance</a:t>
            </a:r>
            <a:r>
              <a:t>依赖记录，本机</a:t>
            </a:r>
            <a:r>
              <a:t>venv</a:t>
            </a:r>
            <a:r>
              <a:t>复用已有环境，不能假定复制即用。</a:t>
            </a:r>
            <a:br/>
            <a:br/>
            <a:r>
              <a:t>数据与资料来源</a:t>
            </a:r>
            <a:br/>
            <a:r>
              <a:t>E:\Jin\cellchat.python_new\cellchat10.20\README.md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一致性回答区分此前</a:t>
            </a:r>
            <a:r>
              <a:t>R/Python</a:t>
            </a:r>
            <a:r>
              <a:t>验证与本次固定</a:t>
            </a:r>
            <a:r>
              <a:t>Python</a:t>
            </a:r>
            <a:r>
              <a:t>发布版对照。创新回答强调排序不变量、精确顺序统计和流式存储，承认还需文献比较。百万规模回答为合成容量，旧版触及预算，没有成对倍数。</a:t>
            </a:r>
            <a:r>
              <a:t>82</a:t>
            </a:r>
            <a:r>
              <a:t>倍回答明确内核范围和真实数据仅一对。这样能说明已完成成果及后续论文证据缺口。</a:t>
            </a:r>
            <a:br/>
            <a:br/>
            <a:r>
              <a:t>数据与资料来源</a:t>
            </a:r>
            <a:br/>
            <a:r>
              <a:t>E:\Jin\cellchat.python_new\cellchat10.20\METHOD.md</a:t>
            </a:r>
            <a:br/>
            <a:r>
              <a:t>E:\Jin\cellchat.python_new\cellchat10.20\results\benchmarks\REPORT.md</a:t>
            </a:r>
            <a:br/>
            <a:r>
              <a:t>E:\Jin\cellchat.python_new\cellchat10.20\RESEARCH_POSITIONING.md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原模型引用</a:t>
            </a:r>
            <a:r>
              <a:t>Jin</a:t>
            </a:r>
            <a:r>
              <a:t>等</a:t>
            </a:r>
            <a:r>
              <a:t>2021</a:t>
            </a:r>
            <a:r>
              <a:t>年</a:t>
            </a:r>
            <a:r>
              <a:t>CellChat</a:t>
            </a:r>
            <a:r>
              <a:t>论文，软件和教程引用项目</a:t>
            </a:r>
            <a:r>
              <a:t>GitHub</a:t>
            </a:r>
            <a:r>
              <a:t>及</a:t>
            </a:r>
            <a:r>
              <a:t>Read the Docs</a:t>
            </a:r>
            <a:r>
              <a:t>。方法、性能、数值证据按相对</a:t>
            </a:r>
            <a:r>
              <a:t>cellchat10.20</a:t>
            </a:r>
            <a:r>
              <a:t>路径列出。每页备注保留完整来源。后续论文应增加算法相关文献和竞品正式引用，目前资料支持实现验证报告，不代表已完成系统文献综述。</a:t>
            </a:r>
            <a:br/>
            <a:br/>
            <a:r>
              <a:t>数据与资料来源</a:t>
            </a:r>
            <a:br/>
            <a:r>
              <a:t>https://doi.org/10.1038/s41467-021-21246-9</a:t>
            </a:r>
            <a:br/>
            <a:r>
              <a:t>https://github.com/wyuanhang03-web/CellChatPy</a:t>
            </a:r>
            <a:br/>
            <a:r>
              <a:t>https://cellchatpy.readthedocs.io/en/latest/</a:t>
            </a:r>
            <a:br/>
            <a:r>
              <a:t>E:\Jin\cellchat.python_new\cellchat10.20\METHOD.md</a:t>
            </a:r>
            <a:br/>
            <a:r>
              <a:t>E:\Jin\cellchat.python_new\cellchat10.20\results\benchmarks\REPORT.md</a:t>
            </a:r>
            <a:br/>
            <a:r>
              <a:t>E:\Jin\cellchat.python_new\cellchat10.20\validation\tutorial_comparison_reference_development.json</a:t>
            </a:r>
            <a:br/>
            <a:r>
              <a:t>E:\Jin\cellchat.python_new\cellchat10.20\validation\tutorial_saved_object_comparison.json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F63EF7-3BE5-49C6-AB0F-83A7AB6CBEE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9BBA9-DF48-44B0-8D86-3D80ECA1EC8F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63EF7-3BE5-49C6-AB0F-83A7AB6CBEE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Cover label"/>
          <p:cNvSpPr>
            <a:spLocks noGrp="1"/>
          </p:cNvSpPr>
          <p:nvPr/>
        </p:nvSpPr>
        <p:spPr>
          <a:xfrm>
            <a:off x="609600" y="933450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PopStateVAE</a:t>
            </a:r>
            <a:endParaRPr sz="1500" b="1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 title"/>
          <p:cNvSpPr>
            <a:spLocks noGrp="1"/>
          </p:cNvSpPr>
          <p:nvPr/>
        </p:nvSpPr>
        <p:spPr>
          <a:xfrm>
            <a:off x="609600" y="1562100"/>
            <a:ext cx="10972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群体细胞状态建模</a:t>
            </a:r>
            <a:endParaRPr sz="40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 subtitle"/>
          <p:cNvSpPr>
            <a:spLocks noGrp="1"/>
          </p:cNvSpPr>
          <p:nvPr/>
        </p:nvSpPr>
        <p:spPr>
          <a:xfrm>
            <a:off x="609600" y="24574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 COVID-19 真实数据验证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 description"/>
          <p:cNvSpPr>
            <a:spLocks noGrp="1"/>
          </p:cNvSpPr>
          <p:nvPr/>
        </p:nvSpPr>
        <p:spPr>
          <a:xfrm>
            <a:off x="609600" y="36957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从单细胞参考到 bulk 患者表型与通讯证据</a:t>
            </a:r>
            <a:endParaRPr sz="23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PopStateVAE 方法流程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来源：MODEL.md / STATE_MAPPING.md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"/>
          <p:cNvSpPr>
            <a:spLocks noGrp="1"/>
          </p:cNvSpPr>
          <p:nvPr/>
        </p:nvSpPr>
        <p:spPr>
          <a:xfrm>
            <a:off x="609600" y="1619250"/>
            <a:ext cx="3067050" cy="10668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单细胞 VAE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学习表达与潜在状态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B arrow"/>
          <p:cNvSpPr>
            <a:spLocks noGrp="1"/>
          </p:cNvSpPr>
          <p:nvPr/>
        </p:nvSpPr>
        <p:spPr>
          <a:xfrm>
            <a:off x="3781425" y="2019300"/>
            <a:ext cx="457200" cy="22860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6" name="B"/>
          <p:cNvSpPr>
            <a:spLocks noGrp="1"/>
          </p:cNvSpPr>
          <p:nvPr/>
        </p:nvSpPr>
        <p:spPr>
          <a:xfrm>
            <a:off x="4343400" y="1619250"/>
            <a:ext cx="3067050" cy="10668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bulk 分解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RNA 贡献 + 类型状态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C arrow"/>
          <p:cNvSpPr>
            <a:spLocks noGrp="1"/>
          </p:cNvSpPr>
          <p:nvPr/>
        </p:nvSpPr>
        <p:spPr>
          <a:xfrm>
            <a:off x="7515225" y="2019300"/>
            <a:ext cx="457200" cy="22860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8" name="C"/>
          <p:cNvSpPr>
            <a:spLocks noGrp="1"/>
          </p:cNvSpPr>
          <p:nvPr/>
        </p:nvSpPr>
        <p:spPr>
          <a:xfrm>
            <a:off x="8077200" y="1619250"/>
            <a:ext cx="3505200" cy="10668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表型模型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 + 组成预测结局</a:t>
            </a:r>
            <a:endParaRPr sz="1725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"/>
          <p:cNvSpPr>
            <a:spLocks noGrp="1"/>
          </p:cNvSpPr>
          <p:nvPr/>
        </p:nvSpPr>
        <p:spPr>
          <a:xfrm>
            <a:off x="1314450" y="3886200"/>
            <a:ext cx="2762250" cy="990600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通信候选</a:t>
            </a:r>
            <a:endParaRPr sz="165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患者层面 LR 关联</a:t>
            </a:r>
            <a:endParaRPr sz="165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E arrow"/>
          <p:cNvSpPr>
            <a:spLocks noGrp="1"/>
          </p:cNvSpPr>
          <p:nvPr/>
        </p:nvSpPr>
        <p:spPr>
          <a:xfrm>
            <a:off x="4210050" y="4267200"/>
            <a:ext cx="457200" cy="228600"/>
          </a:xfrm>
          <a:prstGeom prst="rightArrow">
            <a:avLst/>
          </a:prstGeom>
          <a:solidFill>
            <a:srgbClr val="5B82A6"/>
          </a:solidFill>
          <a:ln w="0">
            <a:solidFill>
              <a:srgbClr val="5B82A6"/>
            </a:solidFill>
            <a:prstDash val="solid"/>
          </a:ln>
        </p:spPr>
      </p:sp>
      <p:sp>
        <p:nvSpPr>
          <p:cNvPr id="11" name="E1"/>
          <p:cNvSpPr>
            <a:spLocks noGrp="1"/>
          </p:cNvSpPr>
          <p:nvPr/>
        </p:nvSpPr>
        <p:spPr>
          <a:xfrm>
            <a:off x="4800600" y="3886200"/>
            <a:ext cx="2762250" cy="9906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 w="14288">
            <a:solidFill>
              <a:srgbClr val="C96A1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状态定位</a:t>
            </a:r>
            <a:endParaRPr sz="1650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参考细胞高低分群</a:t>
            </a:r>
            <a:endParaRPr sz="1650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12 arrow"/>
          <p:cNvSpPr>
            <a:spLocks noGrp="1"/>
          </p:cNvSpPr>
          <p:nvPr/>
        </p:nvSpPr>
        <p:spPr>
          <a:xfrm>
            <a:off x="7696200" y="4267200"/>
            <a:ext cx="457200" cy="228600"/>
          </a:xfrm>
          <a:prstGeom prst="rightArrow">
            <a:avLst/>
          </a:prstGeom>
          <a:solidFill>
            <a:srgbClr val="C96A16"/>
          </a:solidFill>
          <a:ln w="0">
            <a:solidFill>
              <a:srgbClr val="C96A16"/>
            </a:solidFill>
            <a:prstDash val="solid"/>
          </a:ln>
        </p:spPr>
      </p:sp>
      <p:sp>
        <p:nvSpPr>
          <p:cNvPr id="13" name="E2"/>
          <p:cNvSpPr>
            <a:spLocks noGrp="1"/>
          </p:cNvSpPr>
          <p:nvPr/>
        </p:nvSpPr>
        <p:spPr>
          <a:xfrm>
            <a:off x="8286750" y="3886200"/>
            <a:ext cx="2762250" cy="990600"/>
          </a:xfrm>
          <a:prstGeom prst="roundRect">
            <a:avLst>
              <a:gd name="adj" fmla="val 7692"/>
            </a:avLst>
          </a:prstGeom>
          <a:solidFill>
            <a:srgbClr val="FFF1E3"/>
          </a:solidFill>
          <a:ln w="14288">
            <a:solidFill>
              <a:srgbClr val="C96A1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候选验证</a:t>
            </a:r>
            <a:endParaRPr sz="1650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与下游 TF 证据</a:t>
            </a:r>
            <a:endParaRPr sz="1650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Input A"/>
          <p:cNvSpPr>
            <a:spLocks noGrp="1"/>
          </p:cNvSpPr>
          <p:nvPr/>
        </p:nvSpPr>
        <p:spPr>
          <a:xfrm>
            <a:off x="609600" y="12573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单细胞原始计数</a:t>
            </a:r>
            <a:endParaRPr sz="14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Input B"/>
          <p:cNvSpPr>
            <a:spLocks noGrp="1"/>
          </p:cNvSpPr>
          <p:nvPr/>
        </p:nvSpPr>
        <p:spPr>
          <a:xfrm>
            <a:off x="4343400" y="12573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 bulk 表达</a:t>
            </a:r>
            <a:endParaRPr sz="14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nput C"/>
          <p:cNvSpPr>
            <a:spLocks noGrp="1"/>
          </p:cNvSpPr>
          <p:nvPr/>
        </p:nvSpPr>
        <p:spPr>
          <a:xfrm>
            <a:off x="8077200" y="125730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患者标签</a:t>
            </a:r>
            <a:endParaRPr sz="14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ranch note"/>
          <p:cNvSpPr>
            <a:spLocks noGrp="1"/>
          </p:cNvSpPr>
          <p:nvPr/>
        </p:nvSpPr>
        <p:spPr>
          <a:xfrm>
            <a:off x="1314450" y="5219700"/>
            <a:ext cx="973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的类型表达进入 D。A 的细胞编码与 C 的状态权重进入 E1。D 和 E1 共同决定 E2。</a:t>
            </a:r>
            <a:endParaRPr sz="165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实验设计与比较范围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来源：COVID benchmark README / protocol.json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66850"/>
          <a:ext cx="10972800" cy="2171700"/>
        </p:xfrm>
        <a:graphic>
          <a:graphicData uri="http://schemas.openxmlformats.org/drawingml/2006/table">
            <a:tbl>
              <a:tblPr/>
              <a:tblGrid>
                <a:gridCol w="2381250"/>
                <a:gridCol w="2667000"/>
                <a:gridCol w="1905000"/>
                <a:gridCol w="4019550"/>
              </a:tblGrid>
              <a:tr h="542925">
                <a:tc>
                  <a:txBody>
                    <a:bodyPr/>
                    <a:lstStyle/>
                    <a:p>
                      <a:r>
                        <a:t>数据集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独立样本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用途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GSE150728 + C6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单细胞参考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 供者 / 44,721 细胞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 训练、2 验证、6 独立测试供者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GSE152418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PBMC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 人：14 / 17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COVID 与健康对照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GSE157103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白细胞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126 人：100 / 26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COVID 与非 COVID 住院对照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Design heading"/>
          <p:cNvSpPr>
            <a:spLocks noGrp="1"/>
          </p:cNvSpPr>
          <p:nvPr/>
        </p:nvSpPr>
        <p:spPr>
          <a:xfrm>
            <a:off x="609600" y="39814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评价设计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esign body"/>
          <p:cNvSpPr>
            <a:spLocks noGrp="1"/>
          </p:cNvSpPr>
          <p:nvPr/>
        </p:nvSpPr>
        <p:spPr>
          <a:xfrm>
            <a:off x="609600" y="4419600"/>
            <a:ext cx="4953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五个随机种子完整重训 A/B。每个 bulk 队列进行固定五折患者验证。测试患者标签不参与拟合。</a:t>
            </a:r>
            <a:endParaRPr sz="1725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mpare heading"/>
          <p:cNvSpPr>
            <a:spLocks noGrp="1"/>
          </p:cNvSpPr>
          <p:nvPr/>
        </p:nvSpPr>
        <p:spPr>
          <a:xfrm>
            <a:off x="6381750" y="39814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比较对象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mpare body"/>
          <p:cNvSpPr>
            <a:spLocks noGrp="1"/>
          </p:cNvSpPr>
          <p:nvPr/>
        </p:nvSpPr>
        <p:spPr>
          <a:xfrm>
            <a:off x="6381750" y="4419600"/>
            <a:ext cx="52006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完整模型、仅比例消融、直接 bulk、PopCILA graph 与 PopCILA NMF。另做跨队列迁移和 counts 敏感性分析。</a:t>
            </a:r>
            <a:endParaRPr sz="1725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esign caveat"/>
          <p:cNvSpPr>
            <a:spLocks noGrp="1"/>
          </p:cNvSpPr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固定参数保证流程一致，但没有为每种方法单独进行嵌套调参。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状态特征提高队列内预测，但直接 bulk 仍更强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来源：results/summary/oof_metrics.csv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466850"/>
          <a:ext cx="10972800" cy="2781300"/>
        </p:xfrm>
        <a:graphic>
          <a:graphicData uri="http://schemas.openxmlformats.org/drawingml/2006/table">
            <a:tbl>
              <a:tblPr/>
              <a:tblGrid>
                <a:gridCol w="2524125"/>
                <a:gridCol w="2095500"/>
                <a:gridCol w="2095500"/>
                <a:gridCol w="2095500"/>
                <a:gridCol w="2162175"/>
              </a:tblGrid>
              <a:tr h="556260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152418 AUROC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152418 log loss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157103 AUROC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157103 log loss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t>PopStateVAE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0.084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0.929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0.266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t>仅比例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0.171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0.887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0.356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t>直接 bulk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0.011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0.981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0.150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t>PopCILA NMF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0.191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0.881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0.356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ain 1"/>
          <p:cNvSpPr>
            <a:spLocks noGrp="1"/>
          </p:cNvSpPr>
          <p:nvPr/>
        </p:nvSpPr>
        <p:spPr>
          <a:xfrm>
            <a:off x="609600" y="46101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GSE152418</a:t>
            </a:r>
            <a:endParaRPr sz="18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Gain 1 value"/>
          <p:cNvSpPr>
            <a:spLocks noGrp="1"/>
          </p:cNvSpPr>
          <p:nvPr/>
        </p:nvSpPr>
        <p:spPr>
          <a:xfrm>
            <a:off x="609600" y="50101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状态相对比例：log loss 下降 0.0875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Gain 2"/>
          <p:cNvSpPr>
            <a:spLocks noGrp="1"/>
          </p:cNvSpPr>
          <p:nvPr/>
        </p:nvSpPr>
        <p:spPr>
          <a:xfrm>
            <a:off x="6191250" y="46101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GSE157103</a:t>
            </a:r>
            <a:endParaRPr sz="18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Gain 2 value"/>
          <p:cNvSpPr>
            <a:spLocks noGrp="1"/>
          </p:cNvSpPr>
          <p:nvPr/>
        </p:nvSpPr>
        <p:spPr>
          <a:xfrm>
            <a:off x="6191250" y="5010150"/>
            <a:ext cx="5391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状态相对比例：AUROC +0.0415，log loss 下降 0.0902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sult caveat"/>
          <p:cNvSpPr>
            <a:spLocks noGrp="1"/>
          </p:cNvSpPr>
          <p:nvPr/>
        </p:nvSpPr>
        <p:spPr>
          <a:xfrm>
            <a:off x="609600" y="5810250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完整模型证明了比例以外的预测信息，但复杂拆分并非获得最佳分类性能的必要条件。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跨队列泛化不稳定，人工混合物只获得部分改善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来源：transfer_metrics.csv / reference_test_summary.csv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ransfer heading"/>
          <p:cNvSpPr>
            <a:spLocks noGrp="1"/>
          </p:cNvSpPr>
          <p:nvPr/>
        </p:nvSpPr>
        <p:spPr>
          <a:xfrm>
            <a:off x="609600" y="12954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跨队列迁移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733550"/>
          <a:ext cx="5505450" cy="3333750"/>
        </p:xfrm>
        <a:graphic>
          <a:graphicData uri="http://schemas.openxmlformats.org/drawingml/2006/table">
            <a:tbl>
              <a:tblPr/>
              <a:tblGrid>
                <a:gridCol w="1714500"/>
                <a:gridCol w="1809750"/>
                <a:gridCol w="990600"/>
                <a:gridCol w="990600"/>
              </a:tblGrid>
              <a:tr h="476250">
                <a:tc>
                  <a:txBody>
                    <a:bodyPr/>
                    <a:lstStyle/>
                    <a:p>
                      <a:r>
                        <a:t>来源到目标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AUROC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log loss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157103 到 152418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PopStateVAE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0.895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0.544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/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仅比例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0.983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0.403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/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直接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0.803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0.849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152418 到 157103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PopStateVAE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0.765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0.867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/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仅比例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0.670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1.163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/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直接 bulk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0.400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6.697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Reference heading"/>
          <p:cNvSpPr>
            <a:spLocks noGrp="1"/>
          </p:cNvSpPr>
          <p:nvPr/>
        </p:nvSpPr>
        <p:spPr>
          <a:xfrm>
            <a:off x="6572250" y="12954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独立供者人工混合物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572250" y="1733550"/>
          <a:ext cx="5010150" cy="1714500"/>
        </p:xfrm>
        <a:graphic>
          <a:graphicData uri="http://schemas.openxmlformats.org/drawingml/2006/table">
            <a:tbl>
              <a:tblPr/>
              <a:tblGrid>
                <a:gridCol w="1476375"/>
                <a:gridCol w="1143000"/>
                <a:gridCol w="1190625"/>
                <a:gridCol w="1200150"/>
              </a:tblGrid>
              <a:tr h="571500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RNA 比例 MAE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类型表达 L1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混合重建 L1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T w="7144">
                      <a:solidFill>
                        <a:srgbClr val="C9D4DD"/>
                      </a:solidFill>
                      <a:prstDash val="solid"/>
                    </a:lnT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NNLS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0.0537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0.5913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0.2578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PopStateVAE</a:t>
                      </a:r>
                    </a:p>
                  </a:txBody>
                  <a:tcPr>
                    <a:lnL w="7144">
                      <a:solidFill>
                        <a:srgbClr val="C9D4DD"/>
                      </a:solidFill>
                      <a:prstDash val="solid"/>
                    </a:lnL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0.0438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0.5765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0.2680</a:t>
                      </a:r>
                    </a:p>
                  </a:txBody>
                  <a:tcPr>
                    <a:lnR w="7144">
                      <a:solidFill>
                        <a:srgbClr val="C9D4DD"/>
                      </a:solidFill>
                      <a:prstDash val="solid"/>
                    </a:lnR>
                    <a:lnB w="7144">
                      <a:solidFill>
                        <a:srgbClr val="C9D4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ference result"/>
          <p:cNvSpPr>
            <a:spLocks noGrp="1"/>
          </p:cNvSpPr>
          <p:nvPr/>
        </p:nvSpPr>
        <p:spPr>
          <a:xfrm>
            <a:off x="6572250" y="3790950"/>
            <a:ext cx="50101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比例误差下降 18.4%</a:t>
            </a:r>
            <a:endParaRPr sz="1875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类型表达误差下降 2.5%</a:t>
            </a:r>
            <a:endParaRPr sz="1875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混合重建误差增加 3.9%</a:t>
            </a:r>
            <a:endParaRPr sz="1875" b="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ransfer caveat"/>
          <p:cNvSpPr>
            <a:spLocks noGrp="1"/>
          </p:cNvSpPr>
          <p:nvPr/>
        </p:nvSpPr>
        <p:spPr>
          <a:xfrm>
            <a:off x="609600" y="5543550"/>
            <a:ext cx="10972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状态增益没有在两个迁移方向中保持一致。同平台人工混合测试不能替代真实 bulk 拆分验证。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bulk 重建与机制推断仍未过关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来源：real_bulk_qc_summary.csv / mechanism results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QC heading"/>
          <p:cNvSpPr>
            <a:spLocks noGrp="1"/>
          </p:cNvSpPr>
          <p:nvPr/>
        </p:nvSpPr>
        <p:spPr>
          <a:xfrm>
            <a:off x="609600" y="1314450"/>
            <a:ext cx="581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bulk 重建 L1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609600" y="1714500"/>
          <a:ext cx="5810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Mechanism heading"/>
          <p:cNvSpPr>
            <a:spLocks noGrp="1"/>
          </p:cNvSpPr>
          <p:nvPr/>
        </p:nvSpPr>
        <p:spPr>
          <a:xfrm>
            <a:off x="7105650" y="13144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机制候选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andidates"/>
          <p:cNvSpPr>
            <a:spLocks noGrp="1"/>
          </p:cNvSpPr>
          <p:nvPr/>
        </p:nvSpPr>
        <p:spPr>
          <a:xfrm>
            <a:off x="7391400" y="1924050"/>
            <a:ext cx="3905250" cy="819150"/>
          </a:xfrm>
          <a:prstGeom prst="roundRect">
            <a:avLst>
              <a:gd name="adj" fmla="val 9302"/>
            </a:avLst>
          </a:prstGeom>
          <a:solidFill>
            <a:srgbClr val="E8EFF4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每队列 485,368</a:t>
            </a:r>
            <a:endParaRPr sz="195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候选</a:t>
            </a:r>
            <a:endParaRPr sz="195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unnel arrow 1"/>
          <p:cNvSpPr>
            <a:spLocks noGrp="1"/>
          </p:cNvSpPr>
          <p:nvPr/>
        </p:nvSpPr>
        <p:spPr>
          <a:xfrm rot="5400000">
            <a:off x="9048750" y="2876550"/>
            <a:ext cx="590550" cy="228600"/>
          </a:xfrm>
          <a:prstGeom prst="rightArrow">
            <a:avLst/>
          </a:prstGeom>
          <a:solidFill>
            <a:srgbClr val="C96A16"/>
          </a:solidFill>
          <a:ln w="0">
            <a:solidFill>
              <a:srgbClr val="C96A16"/>
            </a:solidFill>
            <a:prstDash val="solid"/>
          </a:ln>
        </p:spPr>
      </p:sp>
      <p:sp>
        <p:nvSpPr>
          <p:cNvPr id="9" name="Eligible"/>
          <p:cNvSpPr>
            <a:spLocks noGrp="1"/>
          </p:cNvSpPr>
          <p:nvPr/>
        </p:nvSpPr>
        <p:spPr>
          <a:xfrm>
            <a:off x="7753350" y="3333750"/>
            <a:ext cx="3181350" cy="704850"/>
          </a:xfrm>
          <a:prstGeom prst="roundRect">
            <a:avLst>
              <a:gd name="adj" fmla="val 10811"/>
            </a:avLst>
          </a:prstGeom>
          <a:solidFill>
            <a:srgbClr val="FFF1E3"/>
          </a:solidFill>
          <a:ln w="14288">
            <a:solidFill>
              <a:srgbClr val="C96A1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96A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个可检验候选</a:t>
            </a:r>
            <a:endParaRPr sz="1875" b="1">
              <a:solidFill>
                <a:srgbClr val="C96A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Funnel arrow 2"/>
          <p:cNvSpPr>
            <a:spLocks noGrp="1"/>
          </p:cNvSpPr>
          <p:nvPr/>
        </p:nvSpPr>
        <p:spPr>
          <a:xfrm rot="5400000">
            <a:off x="9048750" y="4171950"/>
            <a:ext cx="590550" cy="228600"/>
          </a:xfrm>
          <a:prstGeom prst="rightArrow">
            <a:avLst/>
          </a:prstGeom>
          <a:solidFill>
            <a:srgbClr val="A23B35"/>
          </a:solidFill>
          <a:ln w="0">
            <a:solidFill>
              <a:srgbClr val="A23B35"/>
            </a:solidFill>
            <a:prstDash val="solid"/>
          </a:ln>
        </p:spPr>
      </p:sp>
      <p:sp>
        <p:nvSpPr>
          <p:cNvPr id="11" name="E2"/>
          <p:cNvSpPr>
            <a:spLocks noGrp="1"/>
          </p:cNvSpPr>
          <p:nvPr/>
        </p:nvSpPr>
        <p:spPr>
          <a:xfrm>
            <a:off x="8096250" y="4629150"/>
            <a:ext cx="2495550" cy="647700"/>
          </a:xfrm>
          <a:prstGeom prst="roundRect">
            <a:avLst>
              <a:gd name="adj" fmla="val 11765"/>
            </a:avLst>
          </a:prstGeom>
          <a:solidFill>
            <a:srgbClr val="F9EAE8"/>
          </a:solidFill>
          <a:ln w="14288">
            <a:solidFill>
              <a:srgbClr val="A23B35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个 E2 候选</a:t>
            </a:r>
            <a:endParaRPr sz="1875" b="1">
              <a:solidFill>
                <a:srgbClr val="A23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QC note"/>
          <p:cNvSpPr>
            <a:spLocks noGrp="1"/>
          </p:cNvSpPr>
          <p:nvPr/>
        </p:nvSpPr>
        <p:spPr>
          <a:xfrm>
            <a:off x="609600" y="5410200"/>
            <a:ext cx="581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两个队列、两种输入、全部患者均超过验证混合物的 q95 重建阈值。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echanism note"/>
          <p:cNvSpPr>
            <a:spLocks noGrp="1"/>
          </p:cNvSpPr>
          <p:nvPr/>
        </p:nvSpPr>
        <p:spPr>
          <a:xfrm>
            <a:off x="7105650" y="541020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因小样本与分离问题全部 not_testable。当前结果不能解释为生物学上不存在通信。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"/>
          <p:cNvSpPr>
            <a:spLocks noGrp="1"/>
          </p:cNvSpPr>
          <p:nvPr/>
        </p:nvSpPr>
        <p:spPr>
          <a:xfrm>
            <a:off x="609600" y="381000"/>
            <a:ext cx="10972800" cy="73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当前结论与下一步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ource"/>
          <p:cNvSpPr>
            <a:spLocks noGrp="1"/>
          </p:cNvSpPr>
          <p:nvPr/>
        </p:nvSpPr>
        <p:spPr>
          <a:xfrm>
            <a:off x="609600" y="6477000"/>
            <a:ext cx="107949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来源：COVID benchmark README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633168" y="6489668"/>
            <a:ext cx="355568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pported heading"/>
          <p:cNvSpPr>
            <a:spLocks noGrp="1"/>
          </p:cNvSpPr>
          <p:nvPr/>
        </p:nvSpPr>
        <p:spPr>
          <a:xfrm>
            <a:off x="609600" y="14287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970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当前证据支持</a:t>
            </a:r>
            <a:endParaRPr sz="2100" b="1">
              <a:solidFill>
                <a:srgbClr val="3970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pported body"/>
          <p:cNvSpPr>
            <a:spLocks noGrp="1"/>
          </p:cNvSpPr>
          <p:nvPr/>
        </p:nvSpPr>
        <p:spPr>
          <a:xfrm>
            <a:off x="609600" y="1952625"/>
            <a:ext cx="5334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状态特征包含比例之外的疾病相关信息。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队列内预测稳定，五个种子结果方向一致。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实验流程具备供者隔离、患者 OOF 与冻结审计。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Unsupported heading"/>
          <p:cNvSpPr>
            <a:spLocks noGrp="1"/>
          </p:cNvSpPr>
          <p:nvPr/>
        </p:nvSpPr>
        <p:spPr>
          <a:xfrm>
            <a:off x="6629400" y="14287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A23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当前证据尚未支持</a:t>
            </a:r>
            <a:endParaRPr sz="2100" b="1">
              <a:solidFill>
                <a:srgbClr val="A23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Unsupported body"/>
          <p:cNvSpPr>
            <a:spLocks noGrp="1"/>
          </p:cNvSpPr>
          <p:nvPr/>
        </p:nvSpPr>
        <p:spPr>
          <a:xfrm>
            <a:off x="6629400" y="1952625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复杂拆分优于直接 bulk 分类。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真实细胞状态能够被准确恢复。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PopStateVAE 已发现可靠或因果的通信机制。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Next heading"/>
          <p:cNvSpPr>
            <a:spLocks noGrp="1"/>
          </p:cNvSpPr>
          <p:nvPr/>
        </p:nvSpPr>
        <p:spPr>
          <a:xfrm>
            <a:off x="609600" y="39433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下一步实验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ext body"/>
          <p:cNvSpPr>
            <a:spLocks noGrp="1"/>
          </p:cNvSpPr>
          <p:nvPr/>
        </p:nvSpPr>
        <p:spPr>
          <a:xfrm>
            <a:off x="609600" y="4400550"/>
            <a:ext cx="10972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解决单细胞与真实 bulk 的观测分布偏移。使用已知配比或匹配 bulk 与单细胞的数据验证状态真值。重新设计适用于小样本的 D 推断，并增加锁定的第三方外部队列。</a:t>
            </a:r>
            <a:endParaRPr sz="18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ositioning"/>
          <p:cNvSpPr>
            <a:spLocks noGrp="1"/>
          </p:cNvSpPr>
          <p:nvPr/>
        </p:nvSpPr>
        <p:spPr>
          <a:xfrm>
            <a:off x="1428750" y="5676900"/>
            <a:ext cx="9334500" cy="552450"/>
          </a:xfrm>
          <a:prstGeom prst="roundRect">
            <a:avLst>
              <a:gd name="adj" fmla="val 13793"/>
            </a:avLst>
          </a:prstGeom>
          <a:solidFill>
            <a:srgbClr val="E8EFF4"/>
          </a:solidFill>
          <a:ln w="14288">
            <a:solidFill>
              <a:srgbClr val="5B82A6"/>
            </a:solidFill>
            <a:prstDash val="solid"/>
          </a:ln>
        </p:spPr>
        <p:txBody>
          <a:bodyPr lIns="114300" tIns="76200" rIns="114300" bIns="76200" anchor="ctr">
            <a:normAutofit/>
          </a:bodyPr>
          <a:lstStyle>
            <a:def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当前定位：有预测信号的研究原型，可用于方法开发与真实数据基准</a:t>
            </a:r>
            <a:endParaRPr sz="18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 2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ource 3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609600" y="13334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6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 </a:t>
            </a:r>
            <a:r>
              <a:rPr sz="36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 </a:t>
            </a:r>
            <a:r>
              <a:rPr sz="36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计算定义的</a:t>
            </a:r>
            <a:endParaRPr sz="36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22224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4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大规模、低内存通讯推断</a:t>
            </a:r>
            <a:endParaRPr sz="40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36575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5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CellChatPy </a:t>
            </a:r>
            <a:r>
              <a:rPr sz="25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开发与验证汇报</a:t>
            </a:r>
            <a:endParaRPr sz="25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4635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5333999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研究对象：细胞群层面通讯概率与置换检验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本次完成的工作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实现：保持计算定义的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streaming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复用稀疏排序、流式置换、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分块和基因依赖裁剪。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验证：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303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项回归测试通过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本教程在两版本中完整执行，核心概率和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值一致。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性能：真实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推断内核加速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82.18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68,579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个细胞，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3,072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次置换。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容量：百万合成细胞完成推断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29.90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秒，进程峰值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RSS 1,543.16 MiB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3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性能基线为固定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Python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版。百万细胞为合成容量测试。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研究背景与目标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https://doi.org/10.1038/s41467-021-21246-9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已有工作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原文提出通讯推断方法，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CellChatPy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当前问题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细胞数和置换次数增加时，重复统计及中间数据占用成为负担。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本次目标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保持模型、置换次数和显著性规则，降低计算时间与工作内存。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研究范围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优化细胞群推断函数，空间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推断沿用原实现。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基线来源与开发版本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986bf7ef909f1e15059aad8a9a9ee31ac675ffc3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本地文件不能直接视为发布版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CellChatPy_GitHub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相同，但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modeling.py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存在未提交改动。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独立提取与核对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对象提取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upstream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，核验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393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个基线文件。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开发交付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development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1.1.0+streaming.20261020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，尚未公开发布。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必须保持的计算定义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表达统计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triMean / median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等原定义，保持群体顺序与缺失标签语义。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概率模型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保留复合物、共受体、激动剂、拮抗剂及空间约束的原公式。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归一化与随机性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先用完整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signaling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基因确定尺度，保持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RNG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序列与调用后状态。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置换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= count(Pboot − Pobs &gt; 0) / B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Pobs = 0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= 1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原实现中可重组的计算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重复计算群体表达统计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每次置换重新按群体提取表达并计算分位数。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集中保留置换中间数据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置换索引和统计结果的储存量随置换次数增长。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重复解析相同依赖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与辅因子存在共享基因和复合物。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构造未返回的长格式表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省去无输出副作用的末尾构造，公开表格接口保留。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新引擎的计算流程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5257800"/>
                <a:gridCol w="3937000"/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执行内容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保留的数据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一次准备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完整归一化、依赖闭包、稀疏排序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表达及可复用排序计划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观测统计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群体表达与观测通讯概率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Pobs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与结果轴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逐次置换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一份标签、一份群体统计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当前置换工作区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LR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分块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计算当前概率并累计严格超越次数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计数器与受限临时张量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结果写回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计数除以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，保留网络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概率、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值及执行信息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主要复用对象是表达值的排序。置换仍按原规则完整执行。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稀疏排序复用：一个具体例子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223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表达：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[0, 2, 0, 5, 1, 0, 3, 0]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，对应细胞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c8</a:t>
            </a:r>
            <a:endParaRPr sz="21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2070099"/>
            <a:ext cx="10972800" cy="482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一次排序：</a:t>
            </a:r>
            <a:r>
              <a:rPr sz="2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1(c5), 2(c2), 3(c7), 5(c4)</a:t>
            </a:r>
            <a:endParaRPr sz="2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2870200"/>
          <a:ext cx="109728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581400"/>
                <a:gridCol w="3581400"/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本次置换标签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非零有序子序列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含隐式零的完整顺序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c2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c4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c5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c8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1(c5), 2(c2), 5(c4)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[0, 1, 2, 5]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c1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c3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c6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c7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3(c7)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[0, 0, 0, 3]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置换改变细胞所属群体，不改变表达值的大小关系。完整零向量无需物化。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分位数与严格比较的数值细节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22399"/>
            <a:ext cx="10972800" cy="571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6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triMean = (Q25 + 2 × Q50 + Q75) / 4</a:t>
            </a:r>
            <a:endParaRPr sz="26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2987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1905000"/>
                <a:gridCol w="1905000"/>
                <a:gridCol w="1905000"/>
                <a:gridCol w="1905000"/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群体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Q25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Q50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Q75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triMean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0, 1, 2, 5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2.75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1.625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0, 0, 0, 3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0.1875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>
            <a:spLocks noGrp="1"/>
          </p:cNvSpPr>
          <p:nvPr/>
        </p:nvSpPr>
        <p:spPr>
          <a:xfrm>
            <a:off x="609600" y="4698999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实现保留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插值规则与严格超越比较。</a:t>
            </a:r>
            <a:b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不启用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fastmath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，不用误差容忍值替代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值判定。</a:t>
            </a:r>
            <a:endParaRPr sz="21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示例仅用于算法说明。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median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另保留原始中位值计算方式。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流式置换的内存收益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49400"/>
          <a:ext cx="109728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/>
                <a:gridCol w="2286000"/>
                <a:gridCol w="3225800"/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 = 1,000,000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= 100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索引数量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理论索引内存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集中存储全部置换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 × B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762.94 MiB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每次保留一个置换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7.63 MiB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4216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统计量和概率同步流式处理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46227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不保存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× G × K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统计量或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× L × K²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概率张量。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5003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固定输出仍然保留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54101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观测概率、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值和计数器的规模仍由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× K²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上述为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int64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索引的理论容量，不能替代进程峰值内存实测。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依赖裁剪与归一化顺序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依赖闭包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由候选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、复合物和全部辅因子追踪所需基因。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复用共享结果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每次置换只解析一份相同复合物或辅因子表达。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归一化必须先于裁剪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不参与当前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的基因，其最大表达仍可能影响全局尺度。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示例：活跃基因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，未使用基因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先归一化得到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。先裁剪再归一化会错误变成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复杂度与低内存结论的范围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22399"/>
            <a:ext cx="10972800" cy="4699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细胞，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基因，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非零项，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置换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133600"/>
          <a:ext cx="109728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/>
                <a:gridCol w="7670800"/>
              </a:tblGrid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23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稀疏 </a:t>
                      </a:r>
                      <a:r>
                        <a:rPr sz="23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triMean / median </a:t>
                      </a:r>
                      <a:r>
                        <a:rPr sz="23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23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一次排序准备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Σg O(zg log zg)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全部置换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O(B × (Z + G K + N + L K²))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主要工作内存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3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O(Z + N + G K + L K²)</a:t>
                      </a:r>
                      <a:endParaRPr sz="23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>
            <a:spLocks noGrp="1"/>
          </p:cNvSpPr>
          <p:nvPr/>
        </p:nvSpPr>
        <p:spPr>
          <a:xfrm>
            <a:off x="609600" y="5308599"/>
            <a:ext cx="10972800" cy="812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适用条件：内部生成置换。密集输入和均值回退有不同成本。</a:t>
            </a:r>
            <a:b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裁剪前归一化峰值、外部置换输入和固定输出仍需单独考虑。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实现与调用方式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22399"/>
            <a:ext cx="10972800" cy="203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 = cc.compute_communication_probability(</a:t>
            </a:r>
            <a:b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cellchat, engine="streaming",</a:t>
            </a:r>
            <a:b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n_boot=100, seed_use=1,</a:t>
            </a:r>
            <a:b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gene_batch_size=64, lr_batch_size=64,</a:t>
            </a:r>
            <a:b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2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220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3987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兼容原有网络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43941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执行信息写入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settings["execution"]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，保留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engine="legacy"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49021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Numba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53085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无编译器仍可计算，大规模性能需安装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accelerate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一致性验证的层次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独立基线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动态加载冻结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upstream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源码，不只比较开发包内部两条路径。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数值与随机状态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对齐基因、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和群体轴，核对概率、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值及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RNG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完整教程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重跑全部代码单元，比较输出数组、保存对象与图像。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真实与合成规模实验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完成的成对实验逐项比对结果，再报告加速倍数。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303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项回归测试通过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validation/combined_regression.xml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总体结果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303 tests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failures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errors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skipped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统计与输入边界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稀疏零、重复索引、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NaN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、不同统计量、群体缺失标签。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模型与置换边界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复合物及辅因子、空间约束、外部置换验证、随机序列。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存储和兼容性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原发行测试与新算法测试合并，记录源码指纹与执行结果。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本公开教程完整重跑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validation/tutorial_comparison_reference_development.json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  <a:gridCol w="2032000"/>
                <a:gridCol w="2844800"/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教程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代码单元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 </a:t>
                      </a: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开发版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01 humanSkin LS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02 NL / LS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对比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03 E13 / E14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对比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04 Visium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05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多空间样本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06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多组学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07 psoriasis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每版本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个代码单元、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148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PNG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。核心导出概率与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值一致。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保存对象的深度核验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validation/tutorial_saved_object_comparison.json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514600"/>
                <a:gridCol w="2514600"/>
                <a:gridCol w="2514600"/>
              </a:tblGrid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对象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比较数组数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精确一致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容差内差异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humanSkin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3,033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3,033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NL / LS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10,380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10,380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E13 / E14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14,268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14,268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psoriasis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20,497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20,186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311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48,178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47,867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311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最大绝对差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1.55 × 10⁻¹⁴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，均为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psoriasis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中心性。预设容差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10⁻¹²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教程网络输出示例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validation/tutorial_comparison_reference_development.json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750" y="1320800"/>
            <a:ext cx="4536200" cy="4635500"/>
          </a:xfrm>
          <a:prstGeom prst="rect">
            <a:avLst/>
          </a:prstGeom>
        </p:spPr>
      </p:pic>
      <p:sp>
        <p:nvSpPr>
          <p:cNvPr id="7" name="Text 7"/>
          <p:cNvSpPr>
            <a:spLocks noGrp="1"/>
          </p:cNvSpPr>
          <p:nvPr/>
        </p:nvSpPr>
        <p:spPr>
          <a:xfrm>
            <a:off x="8064500" y="1727199"/>
            <a:ext cx="3517900" cy="889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3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humanSkin</a:t>
            </a:r>
            <a:br>
              <a:rPr sz="23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3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通讯数量网络</a:t>
            </a:r>
            <a:endParaRPr sz="23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8064500" y="2984499"/>
            <a:ext cx="3517900" cy="1968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148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PNG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147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张字节一致。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唯一差异为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 / LS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气泡图的部分列顺序。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图来自本次开发版教程运行。核心概率和网络聚合通过数组核对。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验证中发现的兼容性问题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Visium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手工断言边界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原断言清除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&gt; 0.05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，应按包内规则清除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≥ 0.05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两版本使用同一教程修订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只修复手工验证断言，推断和聚合的显著性定义保持原样。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H5AD </a:t>
            </a: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保存后的矩阵顺序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显式保存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matrix_order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，避免字典键排序使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轴错位。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图像排序差异单独说明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 / LS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气泡图并列排序缺少样本键，绘图源码未修改。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性能实验的比较口径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固定对照条件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同一输入与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、同一候选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，单线程独立进程。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内核时间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通讯概率函数的耗时，包含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缓存读取。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进程时间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导入、加载、对象准备、推断和保存，不含外部下载及预处理。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内存与重复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RSS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ms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采样。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每配置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对，合成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10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万各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数据与实验输入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data/pbmc68k_signaling/manifest.json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8178800"/>
              </a:tblGrid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原始表达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68,579 cells × 32,738 genes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推断输入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1,404 signaling genes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1,523,308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非零项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群体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SVD 30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MiniBatchKMeans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LR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3,072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对，完整表达可用性筛选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置换次数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主结果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= 100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，补充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= 10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群体是计算基准标签，不能直接解释为经过生物学验证的细胞类型。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：内核与进程时间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8318500" y="1904999"/>
            <a:ext cx="3263900" cy="584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5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82.18 </a:t>
            </a:r>
            <a:r>
              <a:rPr sz="35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sz="35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8318500" y="26288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推断内核加速</a:t>
            </a:r>
            <a:endParaRPr sz="21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8318500" y="3632199"/>
            <a:ext cx="3263900" cy="508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21.98 </a:t>
            </a:r>
            <a:r>
              <a:rPr sz="30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sz="30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8318500" y="4254499"/>
            <a:ext cx="3263900" cy="762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基准进程加速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各版本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次运行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概率与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值均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array_equal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。基准进程不等于完整生物学分析流程。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609600" y="1498568"/>
          <a:ext cx="7239000" cy="4064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进程峰值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RSS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的变化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8318500" y="1917699"/>
            <a:ext cx="3263900" cy="698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 </a:t>
            </a:r>
            <a:r>
              <a:rPr sz="2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75.80%</a:t>
            </a:r>
            <a:endParaRPr sz="28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8318500" y="26796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对运行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8318500" y="3682999"/>
            <a:ext cx="32639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 </a:t>
            </a:r>
            <a:r>
              <a:rPr sz="28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57.19%</a:t>
            </a:r>
            <a:endParaRPr sz="28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8318500" y="4419599"/>
            <a:ext cx="3263900" cy="698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万细胞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次运行的中位数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进程树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RSS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ms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采样。真实数据和合成数据分开解释。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609600" y="1498568"/>
          <a:ext cx="7239000" cy="4064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万合成细胞：三个独立重复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3111500"/>
                <a:gridCol w="3111500"/>
                <a:gridCol w="3098800"/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基线内核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新内核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概率与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182.439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1.574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精确一致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179.789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1.530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精确一致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180.537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1.987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精确一致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中位数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180.537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1.574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精确一致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3466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中位数比值 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114.67 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倍，基准进程中位数 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204.30 / 24.52 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秒。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配置：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100,000 cells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 genes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groups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LR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permutations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百万合成细胞：容量测试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/>
                <a:gridCol w="7670800"/>
              </a:tblGrid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20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输入规模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1,000,000 cells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genes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 LR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= 100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新引擎内核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进程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29.903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60.719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新引擎内存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RSS 1,543.160 MiB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private 1,873.898 MiB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基线状态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58.937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秒触及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GiB private-memory </a:t>
                      </a:r>
                      <a:r>
                        <a:rPr sz="20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预算后停止</a:t>
                      </a:r>
                      <a:endParaRPr sz="20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无完整基线输出：未建立该规模的成对数值一致性，也不报告加速比。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消融实验：主要收益来自排序复用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validation/ablation.json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0"/>
                <a:gridCol w="2984500"/>
                <a:gridCol w="3289300"/>
              </a:tblGrid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内核中位数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秒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相对完整方案</a:t>
                      </a:r>
                      <a:endParaRPr sz="21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全部启用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0.227188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 ×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关闭依赖裁剪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0.203059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0.894 ×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关闭稀疏排序计划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1.488311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6.551 × </a:t>
                      </a:r>
                      <a:r>
                        <a:rPr sz="21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21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118099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此小规模案例中，裁剪没有提速。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21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份消融输出均精确一致。</a:t>
            </a:r>
            <a:endParaRPr sz="21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5,000 cells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 genes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LR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= 20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。各配置先预热，再计时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当前结果的解释边界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基线与重复仍需扩展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尚无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版和其他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工具实测，真实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主实验仅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并非全部流程等比例加速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spot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、可视化和其他下游步骤可能主导完整教程时间。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运行环境影响绝对时间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缓存、后台内存压力、分页与采样间隔需要更严格控制。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正确性与生物学有效性分开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保持旧定义不意味着解决旧模型的统计或生物学局限。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可以形成的论文贡献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RESEARCH_POSITIONING.md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810000"/>
                <a:gridCol w="3733800"/>
              </a:tblGrid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拟贡献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当前支持证据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投稿前仍需补充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复用精确稀疏顺序统计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实现、边界测试、消融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与已有算法系统比较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流式置换及分块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复杂度分析、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RSS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实测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多维规模曲线与预算测试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原计算语义兼容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测试、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本教程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对照与跨平台验证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可复现实用实现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固定提交、数据来源、日志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公开基准和独立复现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适合发展为算法工程或软件方法论文，创新性与投稿定位仍需文献比较。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下一阶段最值得补的实验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RESEARCH_POSITIONING.md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优先一：公平基线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版、现有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工具，统一参数、硬件和输出对齐规则。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优先二：稳健性能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多次交替重复，分别报告冷启动与预热，记录分页及内存压力。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优先三：系统规模曲线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分别改变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数和稀疏度，确认收益与瓶颈。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优先四：真实应用范围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更多组织与空间数据，真实大规模图谱及完整下游结果检查。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结论与讨论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985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方法已经落地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19049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在固定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版上实现保持计算定义的低内存推断引擎。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09600" y="2539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一致性有多层证据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609600" y="29463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303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项测试、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本教程及完成的大数据成对结果支持兼容性。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09600" y="35813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性能改善已实测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609600" y="39877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PBMC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82.18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倍，进程峰值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RSS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 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75.80%</a:t>
            </a: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09600" y="46227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100" b="1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论文主线明确</a:t>
            </a:r>
            <a:endParaRPr sz="2100" b="1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609600" y="5029199"/>
            <a:ext cx="10972800" cy="6223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围绕精确计算的规模扩展，继续补齐基线、重复和真实应用证据。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：完整教程的运行时间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validation/tutorial_comparison_reference_development.json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1968500"/>
                <a:gridCol w="1968500"/>
                <a:gridCol w="3987800"/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教程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基线总秒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新总秒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 </a:t>
                      </a: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新群推断秒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01 humanSkin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298.95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106.91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182.60 / 3.79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02 NL / LS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423.36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153.09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280.80 / 3.36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03 E13 / E14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585.48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110.31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492.21 / 7.58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04 Visium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68.64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55.03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11.22 / 1.67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05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多空间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468.90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415.22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11.08 / 7.83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06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多组学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42.18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41.52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0.84 / 0.20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07 psoriasis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118.83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122.07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spot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工作流未改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完整教程时间与推断核时间分别报告。每版本每教程执行一次。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：全部规模实验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results/benchmarks/REPORT.md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1968500"/>
                <a:gridCol w="3238500"/>
                <a:gridCol w="1333500"/>
                <a:gridCol w="1320800"/>
              </a:tblGrid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 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B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基因 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LR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内核秒：旧 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倍数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PBMC 68,579 / 10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1,404 / 3,072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95.589 / 5.759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PBMC 68,579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1,404 / 3,072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678.768 / 8.260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82.18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5,000 / 20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14.649 / 0.233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62.94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100,000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180.537 / 1.574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114.67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1,000,000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/ 100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未完成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29.903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全部为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群体。完成的成对实验中，概率与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值均精确一致。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：精确计算的边界条件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/>
                <a:gridCol w="7670800"/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边界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保持的语义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稀疏零与重复索引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隐式零一致，重复索引先求和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NaN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与缺失群标签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沿用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reducer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与原标签置换、分母规则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分位数与中位数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保持原插值及中位值计算顺序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外部置换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逐列校验与使用，不集中转换全部矩阵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值与随机状态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严格超越，零观测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值为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RNG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状态一致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：复现入口与文件位置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README.md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09699"/>
            <a:ext cx="10972800" cy="1854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cellchat10.20 </a:t>
            </a: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目录运行：</a:t>
            </a:r>
            <a:b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-m pip install ".\development[accelerate]"</a:t>
            </a:r>
            <a:b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.\run_checks.ps1</a:t>
            </a:r>
            <a:b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.\run_checks.ps1 -Tutorials</a:t>
            </a:r>
            <a:b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.\run_checks.ps1 -LargeBenchmarks</a:t>
            </a:r>
            <a:endParaRPr sz="1900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3556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6781800"/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19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upstream / development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冻结基线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开发版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validation / results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回归与核验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教程与性能结果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provenance / data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版本及环境记录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sz="19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数据与来源</a:t>
                      </a:r>
                      <a:endParaRPr sz="19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>
            <a:spLocks noGrp="1"/>
          </p:cNvSpPr>
          <p:nvPr/>
        </p:nvSpPr>
        <p:spPr>
          <a:xfrm>
            <a:off x="609600" y="58165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证据检查：</a:t>
            </a:r>
            <a:r>
              <a:rPr sz="16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.venv\Scripts\python.exe -B scripts/validate_delivery.py</a:t>
            </a:r>
            <a:endParaRPr sz="16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：可能被问到的问题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METHOD.md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524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/>
                <a:gridCol w="7289800"/>
              </a:tblGrid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建议回答</a:t>
                      </a:r>
                      <a:endParaRPr sz="18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是不是又验证了一遍翻译？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本次固定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基线，验证计算重组的兼容性。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创新点在哪里？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稀疏排序复用与流式计算，文献差异还需确认。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和其他工具快多少？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尚无直接实测，倍数只相对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GitHub Python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版。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能处理任意百万细胞数据吗？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已完成特定合成配置，真实图谱仍待验证。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整个流程都快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倍吗？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82.18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倍为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PBMC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内核，基准进程约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21.98 </a:t>
                      </a:r>
                      <a:r>
                        <a:rPr sz="18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倍。</a:t>
                      </a:r>
                      <a:endParaRPr sz="18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/>
        </p:nvSpPr>
        <p:spPr>
          <a:xfrm>
            <a:off x="609600" y="380999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sz="3200" b="1">
                <a:solidFill>
                  <a:srgbClr val="244B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：参考文献与证据索引</a:t>
            </a:r>
            <a:endParaRPr sz="3200" b="1">
              <a:solidFill>
                <a:srgbClr val="244B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age 3"/>
          <p:cNvSpPr>
            <a:spLocks noGrp="1"/>
          </p:cNvSpPr>
          <p:nvPr/>
        </p:nvSpPr>
        <p:spPr>
          <a:xfrm>
            <a:off x="11633200" y="648970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ource 4"/>
          <p:cNvSpPr>
            <a:spLocks noGrp="1"/>
          </p:cNvSpPr>
          <p:nvPr/>
        </p:nvSpPr>
        <p:spPr>
          <a:xfrm>
            <a:off x="609600" y="64770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sz="1000">
                <a:solidFill>
                  <a:srgbClr val="60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https://doi.org/10.1038/s41467-021-21246-9</a:t>
            </a:r>
            <a:endParaRPr sz="1000">
              <a:solidFill>
                <a:srgbClr val="60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09600" y="1409699"/>
            <a:ext cx="10972800" cy="12065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Jin et al. (2021). Inference and analysis of cell-cell</a:t>
            </a:r>
            <a:b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communication using CellChat. Nature Communications, 12, 1088.</a:t>
            </a:r>
            <a:b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9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10.1038/s41467-021-21246-9</a:t>
            </a:r>
            <a:endParaRPr sz="19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609600" y="2832099"/>
            <a:ext cx="10972800" cy="889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软件：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github.com/wyuanhang03-web/CellChatPy</a:t>
            </a:r>
            <a:b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教程：</a:t>
            </a:r>
            <a:r>
              <a:rPr sz="2000">
                <a:solidFill>
                  <a:srgbClr val="2227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cellchatpy.readthedocs.io/en/latest/</a:t>
            </a:r>
            <a:endParaRPr sz="2000">
              <a:solidFill>
                <a:srgbClr val="2227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4076700"/>
          <a:ext cx="109728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/>
                <a:gridCol w="7670800"/>
              </a:tblGrid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位置（相对 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cellchat10.20</a:t>
                      </a:r>
                      <a:r>
                        <a:rPr sz="1700" b="1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700" b="1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E9EEF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方法与研究定位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METHOD.md / RESEARCH_POSITIONING.md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性能与原始记录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results/benchmarks/REPORT.md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与各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summary.json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回归与教程核验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validation/combined_regression.xml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 </a:t>
                      </a:r>
                      <a:r>
                        <a:rPr sz="1700" b="0">
                          <a:solidFill>
                            <a:srgbClr val="2227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tutorial_*.json</a:t>
                      </a:r>
                      <a:endParaRPr sz="1700" b="0">
                        <a:solidFill>
                          <a:srgbClr val="2227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88900" marT="88900" marB="88900" anchor="ctr">
                    <a:lnL w="6350" cmpd="sng">
                      <a:solidFill>
                        <a:srgbClr val="CFD5DC"/>
                      </a:solidFill>
                    </a:lnL>
                    <a:lnR w="6350" cmpd="sng">
                      <a:solidFill>
                        <a:srgbClr val="CFD5DC"/>
                      </a:solidFill>
                    </a:lnR>
                    <a:lnT w="6350" cmpd="sng">
                      <a:solidFill>
                        <a:srgbClr val="CFD5DC"/>
                      </a:solidFill>
                    </a:lnT>
                    <a:lnB w="6350" cmpd="sng">
                      <a:solidFill>
                        <a:srgbClr val="CFD5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9715</Words>
  <Application>WPS 演示</Application>
  <PresentationFormat>Converted Presentation</PresentationFormat>
  <Paragraphs>1373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Arial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WPS_1658809986</cp:lastModifiedBy>
  <cp:revision>1</cp:revision>
  <dcterms:created xsi:type="dcterms:W3CDTF">2026-10-21T01:58:13Z</dcterms:created>
  <dcterms:modified xsi:type="dcterms:W3CDTF">2026-10-21T01:58:13Z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EFFCB4CC27164E6C816BE6689226A64E_12</vt:lpwstr>
  </property>
</Properties>
</file>